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p:scale>
          <a:sx n="80" d="100"/>
          <a:sy n="80" d="100"/>
        </p:scale>
        <p:origin x="616" y="1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ramanian, Sundar Ram - (sundarram1997)" userId="d563acc0-3444-4e30-adec-159beeced694" providerId="ADAL" clId="{1C86E0C3-723F-5BAB-AFA9-B4A84BC12389}"/>
    <pc:docChg chg="modSld">
      <pc:chgData name="Subramanian, Sundar Ram - (sundarram1997)" userId="d563acc0-3444-4e30-adec-159beeced694" providerId="ADAL" clId="{1C86E0C3-723F-5BAB-AFA9-B4A84BC12389}" dt="2026-05-17T04:42:55.358" v="9" actId="20577"/>
      <pc:docMkLst>
        <pc:docMk/>
      </pc:docMkLst>
      <pc:sldChg chg="modSp mod">
        <pc:chgData name="Subramanian, Sundar Ram - (sundarram1997)" userId="d563acc0-3444-4e30-adec-159beeced694" providerId="ADAL" clId="{1C86E0C3-723F-5BAB-AFA9-B4A84BC12389}" dt="2026-05-17T04:42:55.358" v="9" actId="20577"/>
        <pc:sldMkLst>
          <pc:docMk/>
          <pc:sldMk cId="0" sldId="282"/>
        </pc:sldMkLst>
        <pc:spChg chg="mod">
          <ac:chgData name="Subramanian, Sundar Ram - (sundarram1997)" userId="d563acc0-3444-4e30-adec-159beeced694" providerId="ADAL" clId="{1C86E0C3-723F-5BAB-AFA9-B4A84BC12389}" dt="2026-05-17T04:42:55.358" v="9" actId="20577"/>
          <ac:spMkLst>
            <pc:docMk/>
            <pc:sldMk cId="0" sldId="282"/>
            <ac:spMk id="5"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USD per turn</c:v>
                </c:pt>
              </c:strCache>
            </c:strRef>
          </c:tx>
          <c:spPr>
            <a:solidFill>
              <a:srgbClr val="0F766E"/>
            </a:solidFill>
            <a:effectLst/>
          </c:spPr>
          <c:invertIfNegative val="0"/>
          <c:dLbls>
            <c:numFmt formatCode="\$0.000" sourceLinked="0"/>
            <c:spPr>
              <a:noFill/>
              <a:ln>
                <a:noFill/>
              </a:ln>
              <a:effectLst/>
            </c:spPr>
            <c:txPr>
              <a:bodyPr/>
              <a:lstStyle/>
              <a:p>
                <a:pPr>
                  <a:defRPr sz="1400" b="0" i="0" u="none" strike="noStrike">
                    <a:solidFill>
                      <a:srgbClr val="0F172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clarify</c:v>
                </c:pt>
                <c:pt idx="1">
                  <c:v>direct</c:v>
                </c:pt>
                <c:pt idx="2">
                  <c:v>sql
happy</c:v>
                </c:pt>
                <c:pt idx="3">
                  <c:v>sql + 1
inner retry</c:v>
                </c:pt>
                <c:pt idx="4">
                  <c:v>sql + 1
outer retry</c:v>
                </c:pt>
                <c:pt idx="5">
                  <c:v>sql
worst-case</c:v>
                </c:pt>
              </c:strCache>
            </c:strRef>
          </c:cat>
          <c:val>
            <c:numRef>
              <c:f>Sheet1!$B$2:$B$7</c:f>
              <c:numCache>
                <c:formatCode>General</c:formatCode>
                <c:ptCount val="6"/>
                <c:pt idx="0">
                  <c:v>5.0000000000000001E-4</c:v>
                </c:pt>
                <c:pt idx="1">
                  <c:v>1E-3</c:v>
                </c:pt>
                <c:pt idx="2">
                  <c:v>0.02</c:v>
                </c:pt>
                <c:pt idx="3">
                  <c:v>0.04</c:v>
                </c:pt>
                <c:pt idx="4">
                  <c:v>0.05</c:v>
                </c:pt>
                <c:pt idx="5">
                  <c:v>0.15</c:v>
                </c:pt>
              </c:numCache>
            </c:numRef>
          </c:val>
          <c:extLst>
            <c:ext xmlns:c16="http://schemas.microsoft.com/office/drawing/2014/chart" uri="{C3380CC4-5D6E-409C-BE32-E72D297353CC}">
              <c16:uniqueId val="{00000000-18BF-A740-87EE-529DD75A278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155"/>
                </a:solidFill>
                <a:latin typeface="Calibri"/>
              </a:defRPr>
            </a:pPr>
            <a:endParaRPr lang="en-US"/>
          </a:p>
        </c:txPr>
        <c:crossAx val="2094734552"/>
        <c:crosses val="autoZero"/>
        <c:auto val="1"/>
        <c:lblAlgn val="ctr"/>
        <c:lblOffset val="100"/>
        <c:noMultiLvlLbl val="1"/>
      </c:catAx>
      <c:valAx>
        <c:axId val="2094734552"/>
        <c:scaling>
          <c:orientation val="minMax"/>
          <c:max val="0.1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137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chemeClr val="accent1"/>
          </a:solidFill>
          <a:ln w="12700">
            <a:solidFill>
              <a:schemeClr val="accent1"/>
            </a:solidFill>
            <a:prstDash val="solid"/>
          </a:ln>
        </p:spPr>
        <p:txBody>
          <a:bodyPr/>
          <a:lstStyle/>
          <a:p>
            <a:endParaRPr lang="en-US"/>
          </a:p>
        </p:txBody>
      </p:sp>
      <p:sp>
        <p:nvSpPr>
          <p:cNvPr id="3" name="Text 1"/>
          <p:cNvSpPr/>
          <p:nvPr/>
        </p:nvSpPr>
        <p:spPr>
          <a:xfrm>
            <a:off x="822960" y="1463040"/>
            <a:ext cx="10058400" cy="365760"/>
          </a:xfrm>
          <a:prstGeom prst="rect">
            <a:avLst/>
          </a:prstGeom>
          <a:noFill/>
          <a:ln/>
        </p:spPr>
        <p:txBody>
          <a:bodyPr wrap="square" lIns="0" tIns="0" rIns="0" bIns="0" rtlCol="0" anchor="ctr"/>
          <a:lstStyle/>
          <a:p>
            <a:pPr marL="0" indent="0">
              <a:buNone/>
            </a:pPr>
            <a:r>
              <a:rPr lang="en-US" sz="2000" b="1" kern="0" spc="600" dirty="0">
                <a:solidFill>
                  <a:srgbClr val="0F766E"/>
                </a:solidFill>
                <a:latin typeface="Calibri" pitchFamily="34" charset="0"/>
                <a:ea typeface="Calibri" pitchFamily="34" charset="-122"/>
                <a:cs typeface="Calibri" pitchFamily="34" charset="-120"/>
              </a:rPr>
              <a:t>AGENTIC AI</a:t>
            </a:r>
            <a:endParaRPr lang="en-US" sz="2000" dirty="0"/>
          </a:p>
        </p:txBody>
      </p:sp>
      <p:sp>
        <p:nvSpPr>
          <p:cNvPr id="4" name="Text 2"/>
          <p:cNvSpPr/>
          <p:nvPr/>
        </p:nvSpPr>
        <p:spPr>
          <a:xfrm>
            <a:off x="822960" y="1874520"/>
            <a:ext cx="10058400" cy="1005840"/>
          </a:xfrm>
          <a:prstGeom prst="rect">
            <a:avLst/>
          </a:prstGeom>
          <a:noFill/>
          <a:ln/>
        </p:spPr>
        <p:txBody>
          <a:bodyPr wrap="square" lIns="0" tIns="0" rIns="0" bIns="0" rtlCol="0" anchor="ctr"/>
          <a:lstStyle/>
          <a:p>
            <a:pPr marL="0" indent="0">
              <a:buNone/>
            </a:pPr>
            <a:r>
              <a:rPr lang="en-US" sz="5400" b="1" dirty="0">
                <a:solidFill>
                  <a:srgbClr val="0F172A"/>
                </a:solidFill>
                <a:latin typeface="Calibri" pitchFamily="34" charset="0"/>
                <a:ea typeface="Calibri" pitchFamily="34" charset="-122"/>
                <a:cs typeface="Calibri" pitchFamily="34" charset="-120"/>
              </a:rPr>
              <a:t>Merchandising AI</a:t>
            </a:r>
            <a:endParaRPr lang="en-US" sz="5400" dirty="0"/>
          </a:p>
        </p:txBody>
      </p:sp>
      <p:sp>
        <p:nvSpPr>
          <p:cNvPr id="5" name="Text 3"/>
          <p:cNvSpPr/>
          <p:nvPr/>
        </p:nvSpPr>
        <p:spPr>
          <a:xfrm>
            <a:off x="822960" y="2880360"/>
            <a:ext cx="10515600" cy="548640"/>
          </a:xfrm>
          <a:prstGeom prst="rect">
            <a:avLst/>
          </a:prstGeom>
          <a:noFill/>
          <a:ln/>
        </p:spPr>
        <p:txBody>
          <a:bodyPr wrap="square" lIns="0" tIns="0" rIns="0" bIns="0" rtlCol="0" anchor="ctr"/>
          <a:lstStyle/>
          <a:p>
            <a:pPr marL="0" indent="0">
              <a:buNone/>
            </a:pPr>
            <a:r>
              <a:rPr lang="en-US" sz="2200" dirty="0">
                <a:solidFill>
                  <a:srgbClr val="334155"/>
                </a:solidFill>
                <a:latin typeface="Calibri" pitchFamily="34" charset="0"/>
                <a:ea typeface="Calibri" pitchFamily="34" charset="-122"/>
                <a:cs typeface="Calibri" pitchFamily="34" charset="-120"/>
              </a:rPr>
              <a:t>A Multi-Agent System for Non-Purchaser Feedback Analytics</a:t>
            </a:r>
            <a:endParaRPr lang="en-US" sz="2200" dirty="0"/>
          </a:p>
        </p:txBody>
      </p:sp>
      <p:sp>
        <p:nvSpPr>
          <p:cNvPr id="6" name="Shape 4"/>
          <p:cNvSpPr/>
          <p:nvPr/>
        </p:nvSpPr>
        <p:spPr>
          <a:xfrm>
            <a:off x="822960" y="3657600"/>
            <a:ext cx="4114800" cy="10973"/>
          </a:xfrm>
          <a:prstGeom prst="rect">
            <a:avLst/>
          </a:prstGeom>
          <a:solidFill>
            <a:srgbClr val="E2E8F0"/>
          </a:solidFill>
          <a:ln w="12700">
            <a:solidFill>
              <a:srgbClr val="333333"/>
            </a:solidFill>
            <a:prstDash val="solid"/>
          </a:ln>
        </p:spPr>
        <p:txBody>
          <a:bodyPr/>
          <a:lstStyle/>
          <a:p>
            <a:endParaRPr lang="en-US"/>
          </a:p>
        </p:txBody>
      </p:sp>
      <p:sp>
        <p:nvSpPr>
          <p:cNvPr id="7" name="Text 5"/>
          <p:cNvSpPr/>
          <p:nvPr/>
        </p:nvSpPr>
        <p:spPr>
          <a:xfrm>
            <a:off x="833470" y="3749040"/>
            <a:ext cx="10058400" cy="365760"/>
          </a:xfrm>
          <a:prstGeom prst="rect">
            <a:avLst/>
          </a:prstGeom>
          <a:noFill/>
          <a:ln/>
        </p:spPr>
        <p:txBody>
          <a:bodyPr wrap="square" lIns="0" tIns="0" rIns="0" bIns="0" rtlCol="0" anchor="ctr"/>
          <a:lstStyle/>
          <a:p>
            <a:pPr marL="0" indent="0">
              <a:buNone/>
            </a:pPr>
            <a:r>
              <a:rPr lang="en-US" sz="1600" i="1" dirty="0">
                <a:solidFill>
                  <a:srgbClr val="64748B"/>
                </a:solidFill>
                <a:latin typeface="Calibri" pitchFamily="34" charset="0"/>
                <a:ea typeface="Calibri" pitchFamily="34" charset="-122"/>
                <a:cs typeface="Calibri" pitchFamily="34" charset="-120"/>
              </a:rPr>
              <a:t>Architecture · Topology · Agents · Tools · Evaluation · Observability</a:t>
            </a:r>
            <a:endParaRPr lang="en-US" sz="1600" dirty="0"/>
          </a:p>
        </p:txBody>
      </p:sp>
      <p:sp>
        <p:nvSpPr>
          <p:cNvPr id="8" name="Text 6"/>
          <p:cNvSpPr/>
          <p:nvPr/>
        </p:nvSpPr>
        <p:spPr>
          <a:xfrm>
            <a:off x="822960" y="5212080"/>
            <a:ext cx="5486400" cy="731520"/>
          </a:xfrm>
          <a:prstGeom prst="rect">
            <a:avLst/>
          </a:prstGeom>
          <a:noFill/>
          <a:ln/>
        </p:spPr>
        <p:txBody>
          <a:bodyPr wrap="square" lIns="0" tIns="0" rIns="0" bIns="0" rtlCol="0" anchor="ctr"/>
          <a:lstStyle/>
          <a:p>
            <a:pPr marL="0" indent="0">
              <a:buNone/>
            </a:pPr>
            <a:r>
              <a:rPr lang="en-US" sz="1000" b="1" kern="0" spc="300" dirty="0">
                <a:solidFill>
                  <a:srgbClr val="94A3B8"/>
                </a:solidFill>
                <a:latin typeface="Calibri" pitchFamily="34" charset="0"/>
                <a:ea typeface="Calibri" pitchFamily="34" charset="-122"/>
                <a:cs typeface="Calibri" pitchFamily="34" charset="-120"/>
              </a:rPr>
              <a:t>PRESENTED BY</a:t>
            </a:r>
            <a:endParaRPr lang="en-US" sz="1000" dirty="0"/>
          </a:p>
          <a:p>
            <a:pPr marL="0" indent="0">
              <a:buNone/>
            </a:pPr>
            <a:r>
              <a:rPr lang="en-US" sz="1600" b="1" dirty="0">
                <a:solidFill>
                  <a:srgbClr val="0F172A"/>
                </a:solidFill>
                <a:latin typeface="Calibri" pitchFamily="34" charset="0"/>
                <a:ea typeface="Calibri" pitchFamily="34" charset="-122"/>
                <a:cs typeface="Calibri" pitchFamily="34" charset="-120"/>
              </a:rPr>
              <a:t>Sundar Ram Subramanian</a:t>
            </a:r>
            <a:endParaRPr lang="en-US" sz="1000" dirty="0"/>
          </a:p>
        </p:txBody>
      </p:sp>
      <p:sp>
        <p:nvSpPr>
          <p:cNvPr id="9" name="Text 7"/>
          <p:cNvSpPr/>
          <p:nvPr/>
        </p:nvSpPr>
        <p:spPr>
          <a:xfrm>
            <a:off x="6858000" y="5212080"/>
            <a:ext cx="4572000" cy="731520"/>
          </a:xfrm>
          <a:prstGeom prst="rect">
            <a:avLst/>
          </a:prstGeom>
          <a:noFill/>
          <a:ln/>
        </p:spPr>
        <p:txBody>
          <a:bodyPr wrap="square" lIns="0" tIns="0" rIns="0" bIns="0" rtlCol="0" anchor="ctr"/>
          <a:lstStyle/>
          <a:p>
            <a:pPr marL="0" indent="0">
              <a:buNone/>
            </a:pPr>
            <a:r>
              <a:rPr lang="en-US" sz="1000" b="1" kern="0" spc="300" dirty="0">
                <a:solidFill>
                  <a:srgbClr val="94A3B8"/>
                </a:solidFill>
                <a:latin typeface="Calibri" pitchFamily="34" charset="0"/>
                <a:ea typeface="Calibri" pitchFamily="34" charset="-122"/>
                <a:cs typeface="Calibri" pitchFamily="34" charset="-120"/>
              </a:rPr>
              <a:t>DATE</a:t>
            </a:r>
            <a:endParaRPr lang="en-US" sz="1000" dirty="0"/>
          </a:p>
          <a:p>
            <a:pPr marL="0" indent="0">
              <a:buNone/>
            </a:pPr>
            <a:r>
              <a:rPr lang="en-US" sz="1600" b="1" dirty="0">
                <a:solidFill>
                  <a:srgbClr val="0F172A"/>
                </a:solidFill>
                <a:latin typeface="Calibri" pitchFamily="34" charset="0"/>
                <a:ea typeface="Calibri" pitchFamily="34" charset="-122"/>
                <a:cs typeface="Calibri" pitchFamily="34" charset="-120"/>
              </a:rPr>
              <a:t>May 16,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OVERVIEW</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Project at a Glance</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508760"/>
            <a:ext cx="5486400" cy="2194560"/>
          </a:xfrm>
          <a:prstGeom prst="rect">
            <a:avLst/>
          </a:prstGeom>
          <a:solidFill>
            <a:srgbClr val="F8FAFC"/>
          </a:solidFill>
          <a:ln w="9525">
            <a:solidFill>
              <a:srgbClr val="E2E8F0"/>
            </a:solidFill>
            <a:prstDash val="solid"/>
          </a:ln>
        </p:spPr>
        <p:txBody>
          <a:bodyPr/>
          <a:lstStyle/>
          <a:p>
            <a:endParaRPr lang="en-US"/>
          </a:p>
        </p:txBody>
      </p:sp>
      <p:sp>
        <p:nvSpPr>
          <p:cNvPr id="6" name="Shape 4"/>
          <p:cNvSpPr/>
          <p:nvPr/>
        </p:nvSpPr>
        <p:spPr>
          <a:xfrm>
            <a:off x="457200" y="1508760"/>
            <a:ext cx="73152" cy="2194560"/>
          </a:xfrm>
          <a:prstGeom prst="rect">
            <a:avLst/>
          </a:prstGeom>
          <a:solidFill>
            <a:srgbClr val="0F766E"/>
          </a:solidFill>
          <a:ln w="12700">
            <a:solidFill>
              <a:srgbClr val="0F766E"/>
            </a:solidFill>
            <a:prstDash val="solid"/>
          </a:ln>
        </p:spPr>
        <p:txBody>
          <a:bodyPr/>
          <a:lstStyle/>
          <a:p>
            <a:endParaRPr lang="en-US"/>
          </a:p>
        </p:txBody>
      </p:sp>
      <p:sp>
        <p:nvSpPr>
          <p:cNvPr id="7" name="Text 5"/>
          <p:cNvSpPr/>
          <p:nvPr/>
        </p:nvSpPr>
        <p:spPr>
          <a:xfrm>
            <a:off x="685800" y="1627632"/>
            <a:ext cx="5029200" cy="27432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THE BUSINESS PROBLEM</a:t>
            </a:r>
            <a:endParaRPr lang="en-US" sz="1400" dirty="0"/>
          </a:p>
        </p:txBody>
      </p:sp>
      <p:sp>
        <p:nvSpPr>
          <p:cNvPr id="8" name="Text 6"/>
          <p:cNvSpPr/>
          <p:nvPr/>
        </p:nvSpPr>
        <p:spPr>
          <a:xfrm>
            <a:off x="685800" y="1965960"/>
            <a:ext cx="5074920" cy="1645920"/>
          </a:xfrm>
          <a:prstGeom prst="rect">
            <a:avLst/>
          </a:prstGeom>
          <a:noFill/>
          <a:ln/>
        </p:spPr>
        <p:txBody>
          <a:bodyPr wrap="square" lIns="0" tIns="0" rIns="0" bIns="0" rtlCol="0" anchor="t"/>
          <a:lstStyle/>
          <a:p>
            <a:pPr marL="0" indent="0">
              <a:buNone/>
            </a:pPr>
            <a:r>
              <a:rPr lang="en-US" sz="1600" dirty="0">
                <a:solidFill>
                  <a:srgbClr val="334155"/>
                </a:solidFill>
                <a:latin typeface="Calibri" pitchFamily="34" charset="0"/>
                <a:ea typeface="Calibri" pitchFamily="34" charset="-122"/>
                <a:cs typeface="Calibri" pitchFamily="34" charset="-120"/>
              </a:rPr>
              <a:t>Six-store jewelry chain (X1–X6).  Salesmen capture free-text reasons when a customer leaves without buying.  ~1,200 records.</a:t>
            </a:r>
            <a:endParaRPr lang="en-US" sz="16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600" dirty="0">
                <a:solidFill>
                  <a:srgbClr val="334155"/>
                </a:solidFill>
                <a:latin typeface="Calibri" pitchFamily="34" charset="0"/>
                <a:ea typeface="Calibri" pitchFamily="34" charset="-122"/>
                <a:cs typeface="Calibri" pitchFamily="34" charset="-120"/>
              </a:rPr>
              <a:t>Merchandising team needs to know:  </a:t>
            </a:r>
            <a:endParaRPr lang="en-US" sz="1600" dirty="0"/>
          </a:p>
          <a:p>
            <a:pPr marL="0" indent="0">
              <a:buNone/>
            </a:pPr>
            <a:r>
              <a:rPr lang="en-US" sz="1400" i="1" dirty="0">
                <a:solidFill>
                  <a:srgbClr val="1E293B"/>
                </a:solidFill>
                <a:latin typeface="Calibri" pitchFamily="34" charset="0"/>
                <a:ea typeface="Calibri" pitchFamily="34" charset="-122"/>
                <a:cs typeface="Calibri" pitchFamily="34" charset="-120"/>
              </a:rPr>
              <a:t>“What should we stock more at X2?” ·  “Compare size issues across X1 and X4.” ·  “What’s the top reason at X3 yesterday?”</a:t>
            </a:r>
            <a:endParaRPr lang="en-US" sz="1400" dirty="0"/>
          </a:p>
        </p:txBody>
      </p:sp>
      <p:sp>
        <p:nvSpPr>
          <p:cNvPr id="9" name="Shape 7"/>
          <p:cNvSpPr/>
          <p:nvPr/>
        </p:nvSpPr>
        <p:spPr>
          <a:xfrm>
            <a:off x="6263640" y="1508760"/>
            <a:ext cx="5486400" cy="2194560"/>
          </a:xfrm>
          <a:prstGeom prst="rect">
            <a:avLst/>
          </a:prstGeom>
          <a:solidFill>
            <a:srgbClr val="F8FAFC"/>
          </a:solidFill>
          <a:ln w="9525">
            <a:solidFill>
              <a:srgbClr val="E2E8F0"/>
            </a:solidFill>
            <a:prstDash val="solid"/>
          </a:ln>
        </p:spPr>
        <p:txBody>
          <a:bodyPr/>
          <a:lstStyle/>
          <a:p>
            <a:endParaRPr lang="en-US"/>
          </a:p>
        </p:txBody>
      </p:sp>
      <p:sp>
        <p:nvSpPr>
          <p:cNvPr id="10" name="Shape 8"/>
          <p:cNvSpPr/>
          <p:nvPr/>
        </p:nvSpPr>
        <p:spPr>
          <a:xfrm>
            <a:off x="6263640" y="1508760"/>
            <a:ext cx="73152" cy="2194560"/>
          </a:xfrm>
          <a:prstGeom prst="rect">
            <a:avLst/>
          </a:prstGeom>
          <a:solidFill>
            <a:srgbClr val="1E293B"/>
          </a:solidFill>
          <a:ln w="12700">
            <a:solidFill>
              <a:srgbClr val="1E293B"/>
            </a:solidFill>
            <a:prstDash val="solid"/>
          </a:ln>
        </p:spPr>
        <p:txBody>
          <a:bodyPr/>
          <a:lstStyle/>
          <a:p>
            <a:endParaRPr lang="en-US"/>
          </a:p>
        </p:txBody>
      </p:sp>
      <p:sp>
        <p:nvSpPr>
          <p:cNvPr id="11" name="Text 9"/>
          <p:cNvSpPr/>
          <p:nvPr/>
        </p:nvSpPr>
        <p:spPr>
          <a:xfrm>
            <a:off x="6492240" y="1627632"/>
            <a:ext cx="502920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THE ARTIFACT</a:t>
            </a:r>
            <a:endParaRPr lang="en-US" sz="1400" dirty="0"/>
          </a:p>
        </p:txBody>
      </p:sp>
      <p:sp>
        <p:nvSpPr>
          <p:cNvPr id="12" name="Text 10"/>
          <p:cNvSpPr/>
          <p:nvPr/>
        </p:nvSpPr>
        <p:spPr>
          <a:xfrm>
            <a:off x="6492240" y="1965960"/>
            <a:ext cx="5074920" cy="1645920"/>
          </a:xfrm>
          <a:prstGeom prst="rect">
            <a:avLst/>
          </a:prstGeom>
          <a:noFill/>
          <a:ln/>
        </p:spPr>
        <p:txBody>
          <a:bodyPr wrap="square" lIns="0" tIns="0" rIns="0" bIns="0" rtlCol="0" anchor="t"/>
          <a:lstStyle/>
          <a:p>
            <a:pPr marL="0" indent="0">
              <a:buNone/>
            </a:pPr>
            <a:r>
              <a:rPr lang="en-US" sz="1600" dirty="0">
                <a:solidFill>
                  <a:srgbClr val="334155"/>
                </a:solidFill>
                <a:latin typeface="Calibri" pitchFamily="34" charset="0"/>
                <a:ea typeface="Calibri" pitchFamily="34" charset="-122"/>
                <a:cs typeface="Calibri" pitchFamily="34" charset="-120"/>
              </a:rPr>
              <a:t>Production-grade multi-agent chat assistant.  Natural-language questions in.  Grounded, source-cited, SQL-backed answers out.</a:t>
            </a:r>
            <a:endParaRPr lang="en-US" sz="16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600" dirty="0">
                <a:solidFill>
                  <a:srgbClr val="334155"/>
                </a:solidFill>
                <a:latin typeface="Calibri" pitchFamily="34" charset="0"/>
                <a:ea typeface="Calibri" pitchFamily="34" charset="-122"/>
                <a:cs typeface="Calibri" pitchFamily="34" charset="-120"/>
              </a:rPr>
              <a:t>9 specialised LLM agents · 11 deterministic tools · 1 rule-based Python orchestrator · 1 audit log.</a:t>
            </a:r>
            <a:endParaRPr lang="en-US" sz="1600" dirty="0"/>
          </a:p>
        </p:txBody>
      </p:sp>
      <p:sp>
        <p:nvSpPr>
          <p:cNvPr id="13" name="Shape 11"/>
          <p:cNvSpPr/>
          <p:nvPr/>
        </p:nvSpPr>
        <p:spPr>
          <a:xfrm>
            <a:off x="335128" y="4069080"/>
            <a:ext cx="2194560" cy="1691640"/>
          </a:xfrm>
          <a:prstGeom prst="rect">
            <a:avLst/>
          </a:prstGeom>
          <a:solidFill>
            <a:srgbClr val="FFFFFF"/>
          </a:solidFill>
          <a:ln w="12700">
            <a:solidFill>
              <a:srgbClr val="E2E8F0"/>
            </a:solidFill>
            <a:prstDash val="solid"/>
          </a:ln>
        </p:spPr>
        <p:txBody>
          <a:bodyPr/>
          <a:lstStyle/>
          <a:p>
            <a:endParaRPr lang="en-US"/>
          </a:p>
        </p:txBody>
      </p:sp>
      <p:sp>
        <p:nvSpPr>
          <p:cNvPr id="14" name="Text 12"/>
          <p:cNvSpPr/>
          <p:nvPr/>
        </p:nvSpPr>
        <p:spPr>
          <a:xfrm>
            <a:off x="335128" y="4297680"/>
            <a:ext cx="2194560" cy="731520"/>
          </a:xfrm>
          <a:prstGeom prst="rect">
            <a:avLst/>
          </a:prstGeom>
          <a:noFill/>
          <a:ln/>
        </p:spPr>
        <p:txBody>
          <a:bodyPr wrap="square" lIns="0" tIns="0" rIns="0" bIns="0" rtlCol="0" anchor="ctr"/>
          <a:lstStyle/>
          <a:p>
            <a:pPr marL="0" indent="0" algn="ctr">
              <a:buNone/>
            </a:pPr>
            <a:r>
              <a:rPr lang="en-US" sz="3400" b="1" dirty="0">
                <a:solidFill>
                  <a:srgbClr val="0F766E"/>
                </a:solidFill>
                <a:latin typeface="Calibri" pitchFamily="34" charset="0"/>
                <a:ea typeface="Calibri" pitchFamily="34" charset="-122"/>
                <a:cs typeface="Calibri" pitchFamily="34" charset="-120"/>
              </a:rPr>
              <a:t>9</a:t>
            </a:r>
            <a:endParaRPr lang="en-US" sz="3400" dirty="0"/>
          </a:p>
        </p:txBody>
      </p:sp>
      <p:sp>
        <p:nvSpPr>
          <p:cNvPr id="15" name="Text 13"/>
          <p:cNvSpPr/>
          <p:nvPr/>
        </p:nvSpPr>
        <p:spPr>
          <a:xfrm>
            <a:off x="426568" y="5074920"/>
            <a:ext cx="20116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LLM agents</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(5 reasoning + 4 reflection)</a:t>
            </a:r>
            <a:endParaRPr lang="en-US" sz="1400" dirty="0"/>
          </a:p>
        </p:txBody>
      </p:sp>
      <p:sp>
        <p:nvSpPr>
          <p:cNvPr id="16" name="Shape 14"/>
          <p:cNvSpPr/>
          <p:nvPr/>
        </p:nvSpPr>
        <p:spPr>
          <a:xfrm>
            <a:off x="2666848" y="4069080"/>
            <a:ext cx="2194560" cy="1691640"/>
          </a:xfrm>
          <a:prstGeom prst="rect">
            <a:avLst/>
          </a:prstGeom>
          <a:solidFill>
            <a:srgbClr val="FFFFFF"/>
          </a:solidFill>
          <a:ln w="12700">
            <a:solidFill>
              <a:srgbClr val="E2E8F0"/>
            </a:solidFill>
            <a:prstDash val="solid"/>
          </a:ln>
        </p:spPr>
        <p:txBody>
          <a:bodyPr/>
          <a:lstStyle/>
          <a:p>
            <a:endParaRPr lang="en-US"/>
          </a:p>
        </p:txBody>
      </p:sp>
      <p:sp>
        <p:nvSpPr>
          <p:cNvPr id="17" name="Text 15"/>
          <p:cNvSpPr/>
          <p:nvPr/>
        </p:nvSpPr>
        <p:spPr>
          <a:xfrm>
            <a:off x="2666848" y="4297680"/>
            <a:ext cx="2194560" cy="731520"/>
          </a:xfrm>
          <a:prstGeom prst="rect">
            <a:avLst/>
          </a:prstGeom>
          <a:noFill/>
          <a:ln/>
        </p:spPr>
        <p:txBody>
          <a:bodyPr wrap="square" lIns="0" tIns="0" rIns="0" bIns="0" rtlCol="0" anchor="ctr"/>
          <a:lstStyle/>
          <a:p>
            <a:pPr marL="0" indent="0" algn="ctr">
              <a:buNone/>
            </a:pPr>
            <a:r>
              <a:rPr lang="en-US" sz="3400" b="1" dirty="0">
                <a:solidFill>
                  <a:srgbClr val="0F766E"/>
                </a:solidFill>
                <a:latin typeface="Calibri" pitchFamily="34" charset="0"/>
                <a:ea typeface="Calibri" pitchFamily="34" charset="-122"/>
                <a:cs typeface="Calibri" pitchFamily="34" charset="-120"/>
              </a:rPr>
              <a:t>11</a:t>
            </a:r>
            <a:endParaRPr lang="en-US" sz="3400" dirty="0"/>
          </a:p>
        </p:txBody>
      </p:sp>
      <p:sp>
        <p:nvSpPr>
          <p:cNvPr id="18" name="Text 16"/>
          <p:cNvSpPr/>
          <p:nvPr/>
        </p:nvSpPr>
        <p:spPr>
          <a:xfrm>
            <a:off x="2758288" y="5074920"/>
            <a:ext cx="20116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deterministic</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tools</a:t>
            </a:r>
            <a:endParaRPr lang="en-US" sz="1400" dirty="0"/>
          </a:p>
        </p:txBody>
      </p:sp>
      <p:sp>
        <p:nvSpPr>
          <p:cNvPr id="19" name="Shape 17"/>
          <p:cNvSpPr/>
          <p:nvPr/>
        </p:nvSpPr>
        <p:spPr>
          <a:xfrm>
            <a:off x="4998568" y="4069080"/>
            <a:ext cx="2194560" cy="1691640"/>
          </a:xfrm>
          <a:prstGeom prst="rect">
            <a:avLst/>
          </a:prstGeom>
          <a:solidFill>
            <a:srgbClr val="FFFFFF"/>
          </a:solidFill>
          <a:ln w="12700">
            <a:solidFill>
              <a:srgbClr val="E2E8F0"/>
            </a:solidFill>
            <a:prstDash val="solid"/>
          </a:ln>
        </p:spPr>
        <p:txBody>
          <a:bodyPr/>
          <a:lstStyle/>
          <a:p>
            <a:endParaRPr lang="en-US"/>
          </a:p>
        </p:txBody>
      </p:sp>
      <p:sp>
        <p:nvSpPr>
          <p:cNvPr id="20" name="Text 18"/>
          <p:cNvSpPr/>
          <p:nvPr/>
        </p:nvSpPr>
        <p:spPr>
          <a:xfrm>
            <a:off x="4998568" y="4297680"/>
            <a:ext cx="2194560" cy="731520"/>
          </a:xfrm>
          <a:prstGeom prst="rect">
            <a:avLst/>
          </a:prstGeom>
          <a:noFill/>
          <a:ln/>
        </p:spPr>
        <p:txBody>
          <a:bodyPr wrap="square" lIns="0" tIns="0" rIns="0" bIns="0" rtlCol="0" anchor="ctr"/>
          <a:lstStyle/>
          <a:p>
            <a:pPr marL="0" indent="0" algn="ctr">
              <a:buNone/>
            </a:pPr>
            <a:r>
              <a:rPr lang="en-US" sz="3400" b="1" dirty="0">
                <a:solidFill>
                  <a:srgbClr val="0F766E"/>
                </a:solidFill>
                <a:latin typeface="Calibri" pitchFamily="34" charset="0"/>
                <a:ea typeface="Calibri" pitchFamily="34" charset="-122"/>
                <a:cs typeface="Calibri" pitchFamily="34" charset="-120"/>
              </a:rPr>
              <a:t>2</a:t>
            </a:r>
            <a:endParaRPr lang="en-US" sz="3400" dirty="0"/>
          </a:p>
        </p:txBody>
      </p:sp>
      <p:sp>
        <p:nvSpPr>
          <p:cNvPr id="21" name="Text 19"/>
          <p:cNvSpPr/>
          <p:nvPr/>
        </p:nvSpPr>
        <p:spPr>
          <a:xfrm>
            <a:off x="5090008" y="5074920"/>
            <a:ext cx="20116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model tiers</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(Sonnet 4.6 + Haiku 4.5)</a:t>
            </a:r>
            <a:endParaRPr lang="en-US" sz="1400" dirty="0"/>
          </a:p>
        </p:txBody>
      </p:sp>
      <p:sp>
        <p:nvSpPr>
          <p:cNvPr id="22" name="Shape 20"/>
          <p:cNvSpPr/>
          <p:nvPr/>
        </p:nvSpPr>
        <p:spPr>
          <a:xfrm>
            <a:off x="7330288" y="4069080"/>
            <a:ext cx="2194560" cy="1691640"/>
          </a:xfrm>
          <a:prstGeom prst="rect">
            <a:avLst/>
          </a:prstGeom>
          <a:solidFill>
            <a:srgbClr val="FFFFFF"/>
          </a:solidFill>
          <a:ln w="12700">
            <a:solidFill>
              <a:srgbClr val="E2E8F0"/>
            </a:solidFill>
            <a:prstDash val="solid"/>
          </a:ln>
        </p:spPr>
        <p:txBody>
          <a:bodyPr/>
          <a:lstStyle/>
          <a:p>
            <a:endParaRPr lang="en-US"/>
          </a:p>
        </p:txBody>
      </p:sp>
      <p:sp>
        <p:nvSpPr>
          <p:cNvPr id="23" name="Text 21"/>
          <p:cNvSpPr/>
          <p:nvPr/>
        </p:nvSpPr>
        <p:spPr>
          <a:xfrm>
            <a:off x="7330288" y="4297680"/>
            <a:ext cx="2194560" cy="731520"/>
          </a:xfrm>
          <a:prstGeom prst="rect">
            <a:avLst/>
          </a:prstGeom>
          <a:noFill/>
          <a:ln/>
        </p:spPr>
        <p:txBody>
          <a:bodyPr wrap="square" lIns="0" tIns="0" rIns="0" bIns="0" rtlCol="0" anchor="ctr"/>
          <a:lstStyle/>
          <a:p>
            <a:pPr marL="0" indent="0" algn="ctr">
              <a:buNone/>
            </a:pPr>
            <a:r>
              <a:rPr lang="en-US" sz="3400" b="1" dirty="0">
                <a:solidFill>
                  <a:srgbClr val="0F766E"/>
                </a:solidFill>
                <a:latin typeface="Calibri" pitchFamily="34" charset="0"/>
                <a:ea typeface="Calibri" pitchFamily="34" charset="-122"/>
                <a:cs typeface="Calibri" pitchFamily="34" charset="-120"/>
              </a:rPr>
              <a:t>0.0</a:t>
            </a:r>
            <a:endParaRPr lang="en-US" sz="3400" dirty="0"/>
          </a:p>
        </p:txBody>
      </p:sp>
      <p:sp>
        <p:nvSpPr>
          <p:cNvPr id="24" name="Text 22"/>
          <p:cNvSpPr/>
          <p:nvPr/>
        </p:nvSpPr>
        <p:spPr>
          <a:xfrm>
            <a:off x="7421728" y="5074920"/>
            <a:ext cx="20116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Temperature.</a:t>
            </a:r>
          </a:p>
          <a:p>
            <a:pPr marL="0" indent="0" algn="ctr">
              <a:buNone/>
            </a:pPr>
            <a:r>
              <a:rPr lang="en-US" sz="1400" dirty="0">
                <a:solidFill>
                  <a:srgbClr val="64748B"/>
                </a:solidFill>
                <a:latin typeface="Calibri" pitchFamily="34" charset="0"/>
                <a:ea typeface="Calibri" pitchFamily="34" charset="-122"/>
                <a:cs typeface="Calibri" pitchFamily="34" charset="-120"/>
              </a:rPr>
              <a:t>Highly deterministic agents</a:t>
            </a:r>
            <a:endParaRPr lang="en-US" sz="1400" dirty="0"/>
          </a:p>
        </p:txBody>
      </p:sp>
      <p:sp>
        <p:nvSpPr>
          <p:cNvPr id="25" name="Shape 23"/>
          <p:cNvSpPr/>
          <p:nvPr/>
        </p:nvSpPr>
        <p:spPr>
          <a:xfrm>
            <a:off x="9662008" y="4069080"/>
            <a:ext cx="2194560" cy="1691640"/>
          </a:xfrm>
          <a:prstGeom prst="rect">
            <a:avLst/>
          </a:prstGeom>
          <a:solidFill>
            <a:srgbClr val="FFFFFF"/>
          </a:solidFill>
          <a:ln w="12700">
            <a:solidFill>
              <a:srgbClr val="E2E8F0"/>
            </a:solidFill>
            <a:prstDash val="solid"/>
          </a:ln>
        </p:spPr>
        <p:txBody>
          <a:bodyPr/>
          <a:lstStyle/>
          <a:p>
            <a:endParaRPr lang="en-US"/>
          </a:p>
        </p:txBody>
      </p:sp>
      <p:sp>
        <p:nvSpPr>
          <p:cNvPr id="26" name="Text 24"/>
          <p:cNvSpPr/>
          <p:nvPr/>
        </p:nvSpPr>
        <p:spPr>
          <a:xfrm>
            <a:off x="9662008" y="4297680"/>
            <a:ext cx="2194560" cy="731520"/>
          </a:xfrm>
          <a:prstGeom prst="rect">
            <a:avLst/>
          </a:prstGeom>
          <a:noFill/>
          <a:ln/>
        </p:spPr>
        <p:txBody>
          <a:bodyPr wrap="square" lIns="0" tIns="0" rIns="0" bIns="0" rtlCol="0" anchor="ctr"/>
          <a:lstStyle/>
          <a:p>
            <a:pPr marL="0" indent="0" algn="ctr">
              <a:buNone/>
            </a:pPr>
            <a:r>
              <a:rPr lang="en-US" sz="3400" b="1" dirty="0">
                <a:solidFill>
                  <a:srgbClr val="0F766E"/>
                </a:solidFill>
                <a:latin typeface="Calibri" pitchFamily="34" charset="0"/>
                <a:ea typeface="Calibri" pitchFamily="34" charset="-122"/>
                <a:cs typeface="Calibri" pitchFamily="34" charset="-120"/>
              </a:rPr>
              <a:t>≈$0.02</a:t>
            </a:r>
            <a:endParaRPr lang="en-US" sz="3400" dirty="0"/>
          </a:p>
        </p:txBody>
      </p:sp>
      <p:sp>
        <p:nvSpPr>
          <p:cNvPr id="27" name="Text 25"/>
          <p:cNvSpPr/>
          <p:nvPr/>
        </p:nvSpPr>
        <p:spPr>
          <a:xfrm>
            <a:off x="9753448" y="5074920"/>
            <a:ext cx="20116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happy-case cost</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per SQL turn</a:t>
            </a:r>
            <a:endParaRPr lang="en-US" sz="1400" dirty="0"/>
          </a:p>
        </p:txBody>
      </p:sp>
      <p:sp>
        <p:nvSpPr>
          <p:cNvPr id="28" name="Text 26"/>
          <p:cNvSpPr/>
          <p:nvPr/>
        </p:nvSpPr>
        <p:spPr>
          <a:xfrm>
            <a:off x="457200" y="6051105"/>
            <a:ext cx="11247120" cy="45720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Two surfaces.  </a:t>
            </a:r>
          </a:p>
          <a:p>
            <a:pPr marL="0" indent="0">
              <a:buNone/>
            </a:pPr>
            <a:r>
              <a:rPr lang="en-US" sz="1600" b="1" dirty="0">
                <a:solidFill>
                  <a:srgbClr val="334155"/>
                </a:solidFill>
                <a:latin typeface="Calibri" pitchFamily="34" charset="0"/>
                <a:ea typeface="Calibri" pitchFamily="34" charset="-122"/>
                <a:cs typeface="Calibri" pitchFamily="34" charset="-120"/>
              </a:rPr>
              <a:t>Chat</a:t>
            </a:r>
            <a:r>
              <a:rPr lang="en-US" sz="1600" dirty="0">
                <a:solidFill>
                  <a:srgbClr val="334155"/>
                </a:solidFill>
                <a:latin typeface="Calibri" pitchFamily="34" charset="0"/>
                <a:ea typeface="Calibri" pitchFamily="34" charset="-122"/>
                <a:cs typeface="Calibri" pitchFamily="34" charset="-120"/>
              </a:rPr>
              <a:t> - free-form Q&amp;A driven by the agent pipeline.   </a:t>
            </a:r>
          </a:p>
          <a:p>
            <a:pPr marL="0" indent="0">
              <a:buNone/>
            </a:pPr>
            <a:r>
              <a:rPr lang="en-US" sz="1600" b="1" dirty="0">
                <a:solidFill>
                  <a:srgbClr val="334155"/>
                </a:solidFill>
                <a:latin typeface="Calibri" pitchFamily="34" charset="0"/>
                <a:ea typeface="Calibri" pitchFamily="34" charset="-122"/>
                <a:cs typeface="Calibri" pitchFamily="34" charset="-120"/>
              </a:rPr>
              <a:t>Recommendations</a:t>
            </a:r>
            <a:r>
              <a:rPr lang="en-US" sz="1600" dirty="0">
                <a:solidFill>
                  <a:srgbClr val="334155"/>
                </a:solidFill>
                <a:latin typeface="Calibri" pitchFamily="34" charset="0"/>
                <a:ea typeface="Calibri" pitchFamily="34" charset="-122"/>
                <a:cs typeface="Calibri" pitchFamily="34" charset="-120"/>
              </a:rPr>
              <a:t> - one-click deterministic report computed in pandas, identical every time.</a:t>
            </a:r>
            <a:endParaRPr lang="en-US" sz="1600" dirty="0"/>
          </a:p>
        </p:txBody>
      </p:sp>
      <p:sp>
        <p:nvSpPr>
          <p:cNvPr id="29" name="Text 27"/>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 / 27</a:t>
            </a:r>
            <a:endParaRPr lang="en-US" sz="900" dirty="0"/>
          </a:p>
        </p:txBody>
      </p:sp>
      <p:sp>
        <p:nvSpPr>
          <p:cNvPr id="30" name="Text 28"/>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DESIGN RATIONALE</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Why a Multi-Agent System is the Right Tool?</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502920"/>
          </a:xfrm>
          <a:prstGeom prst="rect">
            <a:avLst/>
          </a:prstGeom>
          <a:noFill/>
          <a:ln/>
        </p:spPr>
        <p:txBody>
          <a:bodyPr wrap="square" lIns="0" tIns="0" rIns="0" bIns="0" rtlCol="0" anchor="ctr"/>
          <a:lstStyle/>
          <a:p>
            <a:pPr marL="0" indent="0">
              <a:buNone/>
            </a:pPr>
            <a:r>
              <a:rPr lang="en-US" sz="1400" b="1" i="1" dirty="0">
                <a:solidFill>
                  <a:srgbClr val="1E293B"/>
                </a:solidFill>
                <a:latin typeface="Calibri" pitchFamily="34" charset="0"/>
                <a:ea typeface="Calibri" pitchFamily="34" charset="-122"/>
                <a:cs typeface="Calibri" pitchFamily="34" charset="-120"/>
              </a:rPr>
              <a:t>“What should we stock more at X1?” </a:t>
            </a:r>
            <a:r>
              <a:rPr lang="en-US" sz="1400" dirty="0">
                <a:solidFill>
                  <a:srgbClr val="334155"/>
                </a:solidFill>
                <a:latin typeface="Calibri" pitchFamily="34" charset="0"/>
                <a:ea typeface="Calibri" pitchFamily="34" charset="-122"/>
                <a:cs typeface="Calibri" pitchFamily="34" charset="-120"/>
              </a:rPr>
              <a:t>looks like one question.  It is actually six obligations a single LLM call cannot satisfy simultaneously:</a:t>
            </a:r>
            <a:endParaRPr lang="en-US" sz="1400" dirty="0"/>
          </a:p>
        </p:txBody>
      </p:sp>
      <p:sp>
        <p:nvSpPr>
          <p:cNvPr id="6" name="Shape 4"/>
          <p:cNvSpPr/>
          <p:nvPr/>
        </p:nvSpPr>
        <p:spPr>
          <a:xfrm>
            <a:off x="457200" y="2103120"/>
            <a:ext cx="3657600" cy="1417320"/>
          </a:xfrm>
          <a:prstGeom prst="rect">
            <a:avLst/>
          </a:prstGeom>
          <a:solidFill>
            <a:srgbClr val="F8FAFC"/>
          </a:solidFill>
          <a:ln w="9525">
            <a:solidFill>
              <a:srgbClr val="E2E8F0"/>
            </a:solidFill>
            <a:prstDash val="solid"/>
          </a:ln>
        </p:spPr>
        <p:txBody>
          <a:bodyPr/>
          <a:lstStyle/>
          <a:p>
            <a:endParaRPr lang="en-US" sz="2400"/>
          </a:p>
        </p:txBody>
      </p:sp>
      <p:sp>
        <p:nvSpPr>
          <p:cNvPr id="7" name="Shape 5"/>
          <p:cNvSpPr/>
          <p:nvPr/>
        </p:nvSpPr>
        <p:spPr>
          <a:xfrm>
            <a:off x="457200" y="2103120"/>
            <a:ext cx="73152" cy="1417320"/>
          </a:xfrm>
          <a:prstGeom prst="rect">
            <a:avLst/>
          </a:prstGeom>
          <a:solidFill>
            <a:srgbClr val="0F766E"/>
          </a:solidFill>
          <a:ln w="12700">
            <a:solidFill>
              <a:srgbClr val="0F766E"/>
            </a:solidFill>
            <a:prstDash val="solid"/>
          </a:ln>
        </p:spPr>
        <p:txBody>
          <a:bodyPr/>
          <a:lstStyle/>
          <a:p>
            <a:endParaRPr lang="en-US" sz="2400"/>
          </a:p>
        </p:txBody>
      </p:sp>
      <p:sp>
        <p:nvSpPr>
          <p:cNvPr id="8" name="Text 6"/>
          <p:cNvSpPr/>
          <p:nvPr/>
        </p:nvSpPr>
        <p:spPr>
          <a:xfrm>
            <a:off x="640080" y="2240280"/>
            <a:ext cx="365760" cy="320040"/>
          </a:xfrm>
          <a:prstGeom prst="rect">
            <a:avLst/>
          </a:prstGeom>
          <a:noFill/>
          <a:ln/>
        </p:spPr>
        <p:txBody>
          <a:bodyPr wrap="square" lIns="0" tIns="0" rIns="0" bIns="0" rtlCol="0" anchor="ctr"/>
          <a:lstStyle/>
          <a:p>
            <a:pPr marL="0" indent="0">
              <a:buNone/>
            </a:pPr>
            <a:r>
              <a:rPr lang="en-US" b="1" dirty="0">
                <a:solidFill>
                  <a:srgbClr val="0F766E"/>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051560" y="2240280"/>
            <a:ext cx="288036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Translate</a:t>
            </a:r>
            <a:endParaRPr lang="en-US" sz="1600" dirty="0"/>
          </a:p>
        </p:txBody>
      </p:sp>
      <p:sp>
        <p:nvSpPr>
          <p:cNvPr id="10" name="Text 8"/>
          <p:cNvSpPr/>
          <p:nvPr/>
        </p:nvSpPr>
        <p:spPr>
          <a:xfrm>
            <a:off x="685800" y="2606040"/>
            <a:ext cx="32918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Map colloquial business phrasing into a precise multi-dimensional SQL aggregation.</a:t>
            </a:r>
            <a:endParaRPr lang="en-US" sz="1400" dirty="0"/>
          </a:p>
        </p:txBody>
      </p:sp>
      <p:sp>
        <p:nvSpPr>
          <p:cNvPr id="11" name="Shape 9"/>
          <p:cNvSpPr/>
          <p:nvPr/>
        </p:nvSpPr>
        <p:spPr>
          <a:xfrm>
            <a:off x="4251960" y="2103120"/>
            <a:ext cx="3657600" cy="1417320"/>
          </a:xfrm>
          <a:prstGeom prst="rect">
            <a:avLst/>
          </a:prstGeom>
          <a:solidFill>
            <a:srgbClr val="F8FAFC"/>
          </a:solidFill>
          <a:ln w="9525">
            <a:solidFill>
              <a:srgbClr val="E2E8F0"/>
            </a:solidFill>
            <a:prstDash val="solid"/>
          </a:ln>
        </p:spPr>
        <p:txBody>
          <a:bodyPr/>
          <a:lstStyle/>
          <a:p>
            <a:endParaRPr lang="en-US" sz="2400"/>
          </a:p>
        </p:txBody>
      </p:sp>
      <p:sp>
        <p:nvSpPr>
          <p:cNvPr id="12" name="Shape 10"/>
          <p:cNvSpPr/>
          <p:nvPr/>
        </p:nvSpPr>
        <p:spPr>
          <a:xfrm>
            <a:off x="4251960" y="2103120"/>
            <a:ext cx="73152" cy="1417320"/>
          </a:xfrm>
          <a:prstGeom prst="rect">
            <a:avLst/>
          </a:prstGeom>
          <a:solidFill>
            <a:srgbClr val="0F766E"/>
          </a:solidFill>
          <a:ln w="12700">
            <a:solidFill>
              <a:srgbClr val="0F766E"/>
            </a:solidFill>
            <a:prstDash val="solid"/>
          </a:ln>
        </p:spPr>
        <p:txBody>
          <a:bodyPr/>
          <a:lstStyle/>
          <a:p>
            <a:endParaRPr lang="en-US" sz="2400"/>
          </a:p>
        </p:txBody>
      </p:sp>
      <p:sp>
        <p:nvSpPr>
          <p:cNvPr id="13" name="Text 11"/>
          <p:cNvSpPr/>
          <p:nvPr/>
        </p:nvSpPr>
        <p:spPr>
          <a:xfrm>
            <a:off x="4434840" y="2240280"/>
            <a:ext cx="365760" cy="320040"/>
          </a:xfrm>
          <a:prstGeom prst="rect">
            <a:avLst/>
          </a:prstGeom>
          <a:noFill/>
          <a:ln/>
        </p:spPr>
        <p:txBody>
          <a:bodyPr wrap="square" lIns="0" tIns="0" rIns="0" bIns="0" rtlCol="0" anchor="ctr"/>
          <a:lstStyle/>
          <a:p>
            <a:pPr marL="0" indent="0">
              <a:buNone/>
            </a:pPr>
            <a:r>
              <a:rPr lang="en-US" b="1" dirty="0">
                <a:solidFill>
                  <a:srgbClr val="0F766E"/>
                </a:solidFill>
                <a:latin typeface="Calibri" pitchFamily="34" charset="0"/>
                <a:ea typeface="Calibri" pitchFamily="34" charset="-122"/>
                <a:cs typeface="Calibri" pitchFamily="34" charset="-120"/>
              </a:rPr>
              <a:t>2</a:t>
            </a:r>
            <a:endParaRPr lang="en-US" dirty="0"/>
          </a:p>
        </p:txBody>
      </p:sp>
      <p:sp>
        <p:nvSpPr>
          <p:cNvPr id="14" name="Text 12"/>
          <p:cNvSpPr/>
          <p:nvPr/>
        </p:nvSpPr>
        <p:spPr>
          <a:xfrm>
            <a:off x="4846320" y="2240280"/>
            <a:ext cx="288036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Execute safely</a:t>
            </a:r>
            <a:endParaRPr lang="en-US" sz="1600" dirty="0"/>
          </a:p>
        </p:txBody>
      </p:sp>
      <p:sp>
        <p:nvSpPr>
          <p:cNvPr id="15" name="Text 13"/>
          <p:cNvSpPr/>
          <p:nvPr/>
        </p:nvSpPr>
        <p:spPr>
          <a:xfrm>
            <a:off x="4480560" y="2606040"/>
            <a:ext cx="32918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Run that SQL against production data with SELECT-only / banned-keyword guards.</a:t>
            </a:r>
            <a:endParaRPr lang="en-US" sz="1400" dirty="0"/>
          </a:p>
        </p:txBody>
      </p:sp>
      <p:sp>
        <p:nvSpPr>
          <p:cNvPr id="16" name="Shape 14"/>
          <p:cNvSpPr/>
          <p:nvPr/>
        </p:nvSpPr>
        <p:spPr>
          <a:xfrm>
            <a:off x="8046720" y="2103120"/>
            <a:ext cx="3657600" cy="1417320"/>
          </a:xfrm>
          <a:prstGeom prst="rect">
            <a:avLst/>
          </a:prstGeom>
          <a:solidFill>
            <a:srgbClr val="F8FAFC"/>
          </a:solidFill>
          <a:ln w="9525">
            <a:solidFill>
              <a:srgbClr val="E2E8F0"/>
            </a:solidFill>
            <a:prstDash val="solid"/>
          </a:ln>
        </p:spPr>
        <p:txBody>
          <a:bodyPr/>
          <a:lstStyle/>
          <a:p>
            <a:endParaRPr lang="en-US" sz="2400"/>
          </a:p>
        </p:txBody>
      </p:sp>
      <p:sp>
        <p:nvSpPr>
          <p:cNvPr id="17" name="Shape 15"/>
          <p:cNvSpPr/>
          <p:nvPr/>
        </p:nvSpPr>
        <p:spPr>
          <a:xfrm>
            <a:off x="8046720" y="2103120"/>
            <a:ext cx="73152" cy="1417320"/>
          </a:xfrm>
          <a:prstGeom prst="rect">
            <a:avLst/>
          </a:prstGeom>
          <a:solidFill>
            <a:srgbClr val="0F766E"/>
          </a:solidFill>
          <a:ln w="12700">
            <a:solidFill>
              <a:srgbClr val="0F766E"/>
            </a:solidFill>
            <a:prstDash val="solid"/>
          </a:ln>
        </p:spPr>
        <p:txBody>
          <a:bodyPr/>
          <a:lstStyle/>
          <a:p>
            <a:endParaRPr lang="en-US" sz="2400"/>
          </a:p>
        </p:txBody>
      </p:sp>
      <p:sp>
        <p:nvSpPr>
          <p:cNvPr id="18" name="Text 16"/>
          <p:cNvSpPr/>
          <p:nvPr/>
        </p:nvSpPr>
        <p:spPr>
          <a:xfrm>
            <a:off x="8229600" y="2240280"/>
            <a:ext cx="365760" cy="320040"/>
          </a:xfrm>
          <a:prstGeom prst="rect">
            <a:avLst/>
          </a:prstGeom>
          <a:noFill/>
          <a:ln/>
        </p:spPr>
        <p:txBody>
          <a:bodyPr wrap="square" lIns="0" tIns="0" rIns="0" bIns="0" rtlCol="0" anchor="ctr"/>
          <a:lstStyle/>
          <a:p>
            <a:pPr marL="0" indent="0">
              <a:buNone/>
            </a:pPr>
            <a:r>
              <a:rPr lang="en-US" b="1" dirty="0">
                <a:solidFill>
                  <a:srgbClr val="0F766E"/>
                </a:solidFill>
                <a:latin typeface="Calibri" pitchFamily="34" charset="0"/>
                <a:ea typeface="Calibri" pitchFamily="34" charset="-122"/>
                <a:cs typeface="Calibri" pitchFamily="34" charset="-120"/>
              </a:rPr>
              <a:t>3</a:t>
            </a:r>
            <a:endParaRPr lang="en-US" dirty="0"/>
          </a:p>
        </p:txBody>
      </p:sp>
      <p:sp>
        <p:nvSpPr>
          <p:cNvPr id="19" name="Text 17"/>
          <p:cNvSpPr/>
          <p:nvPr/>
        </p:nvSpPr>
        <p:spPr>
          <a:xfrm>
            <a:off x="8641080" y="2240280"/>
            <a:ext cx="288036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Verify semantics</a:t>
            </a:r>
            <a:endParaRPr lang="en-US" sz="1600" dirty="0"/>
          </a:p>
        </p:txBody>
      </p:sp>
      <p:sp>
        <p:nvSpPr>
          <p:cNvPr id="20" name="Text 18"/>
          <p:cNvSpPr/>
          <p:nvPr/>
        </p:nvSpPr>
        <p:spPr>
          <a:xfrm>
            <a:off x="8275320" y="2606040"/>
            <a:ext cx="32918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Check that the rows returned actually answer the question that was asked.</a:t>
            </a:r>
            <a:endParaRPr lang="en-US" sz="1400" dirty="0"/>
          </a:p>
        </p:txBody>
      </p:sp>
      <p:sp>
        <p:nvSpPr>
          <p:cNvPr id="21" name="Shape 19"/>
          <p:cNvSpPr/>
          <p:nvPr/>
        </p:nvSpPr>
        <p:spPr>
          <a:xfrm>
            <a:off x="457200" y="3703320"/>
            <a:ext cx="3657600" cy="1417320"/>
          </a:xfrm>
          <a:prstGeom prst="rect">
            <a:avLst/>
          </a:prstGeom>
          <a:solidFill>
            <a:srgbClr val="F8FAFC"/>
          </a:solidFill>
          <a:ln w="9525">
            <a:solidFill>
              <a:srgbClr val="E2E8F0"/>
            </a:solidFill>
            <a:prstDash val="solid"/>
          </a:ln>
        </p:spPr>
        <p:txBody>
          <a:bodyPr/>
          <a:lstStyle/>
          <a:p>
            <a:endParaRPr lang="en-US" sz="2400"/>
          </a:p>
        </p:txBody>
      </p:sp>
      <p:sp>
        <p:nvSpPr>
          <p:cNvPr id="22" name="Shape 20"/>
          <p:cNvSpPr/>
          <p:nvPr/>
        </p:nvSpPr>
        <p:spPr>
          <a:xfrm>
            <a:off x="457200" y="3703320"/>
            <a:ext cx="73152" cy="1417320"/>
          </a:xfrm>
          <a:prstGeom prst="rect">
            <a:avLst/>
          </a:prstGeom>
          <a:solidFill>
            <a:srgbClr val="0F766E"/>
          </a:solidFill>
          <a:ln w="12700">
            <a:solidFill>
              <a:srgbClr val="0F766E"/>
            </a:solidFill>
            <a:prstDash val="solid"/>
          </a:ln>
        </p:spPr>
        <p:txBody>
          <a:bodyPr/>
          <a:lstStyle/>
          <a:p>
            <a:endParaRPr lang="en-US" sz="2400"/>
          </a:p>
        </p:txBody>
      </p:sp>
      <p:sp>
        <p:nvSpPr>
          <p:cNvPr id="23" name="Text 21"/>
          <p:cNvSpPr/>
          <p:nvPr/>
        </p:nvSpPr>
        <p:spPr>
          <a:xfrm>
            <a:off x="640080" y="3840480"/>
            <a:ext cx="365760" cy="320040"/>
          </a:xfrm>
          <a:prstGeom prst="rect">
            <a:avLst/>
          </a:prstGeom>
          <a:noFill/>
          <a:ln/>
        </p:spPr>
        <p:txBody>
          <a:bodyPr wrap="square" lIns="0" tIns="0" rIns="0" bIns="0" rtlCol="0" anchor="ctr"/>
          <a:lstStyle/>
          <a:p>
            <a:pPr marL="0" indent="0">
              <a:buNone/>
            </a:pPr>
            <a:r>
              <a:rPr lang="en-US" b="1" dirty="0">
                <a:solidFill>
                  <a:srgbClr val="0F766E"/>
                </a:solidFill>
                <a:latin typeface="Calibri" pitchFamily="34" charset="0"/>
                <a:ea typeface="Calibri" pitchFamily="34" charset="-122"/>
                <a:cs typeface="Calibri" pitchFamily="34" charset="-120"/>
              </a:rPr>
              <a:t>4</a:t>
            </a:r>
            <a:endParaRPr lang="en-US" dirty="0"/>
          </a:p>
        </p:txBody>
      </p:sp>
      <p:sp>
        <p:nvSpPr>
          <p:cNvPr id="24" name="Text 22"/>
          <p:cNvSpPr/>
          <p:nvPr/>
        </p:nvSpPr>
        <p:spPr>
          <a:xfrm>
            <a:off x="1051560" y="3840480"/>
            <a:ext cx="288036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Compose prose</a:t>
            </a:r>
            <a:endParaRPr lang="en-US" sz="1600" dirty="0"/>
          </a:p>
        </p:txBody>
      </p:sp>
      <p:sp>
        <p:nvSpPr>
          <p:cNvPr id="25" name="Text 23"/>
          <p:cNvSpPr/>
          <p:nvPr/>
        </p:nvSpPr>
        <p:spPr>
          <a:xfrm>
            <a:off x="685800" y="4206240"/>
            <a:ext cx="32918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Write a markdown answer that cites only numbers verifiable against the data.</a:t>
            </a:r>
            <a:endParaRPr lang="en-US" sz="1400" dirty="0"/>
          </a:p>
        </p:txBody>
      </p:sp>
      <p:sp>
        <p:nvSpPr>
          <p:cNvPr id="26" name="Shape 24"/>
          <p:cNvSpPr/>
          <p:nvPr/>
        </p:nvSpPr>
        <p:spPr>
          <a:xfrm>
            <a:off x="4251960" y="3703320"/>
            <a:ext cx="3657600" cy="1417320"/>
          </a:xfrm>
          <a:prstGeom prst="rect">
            <a:avLst/>
          </a:prstGeom>
          <a:solidFill>
            <a:srgbClr val="F8FAFC"/>
          </a:solidFill>
          <a:ln w="9525">
            <a:solidFill>
              <a:srgbClr val="E2E8F0"/>
            </a:solidFill>
            <a:prstDash val="solid"/>
          </a:ln>
        </p:spPr>
        <p:txBody>
          <a:bodyPr/>
          <a:lstStyle/>
          <a:p>
            <a:endParaRPr lang="en-US" sz="2400"/>
          </a:p>
        </p:txBody>
      </p:sp>
      <p:sp>
        <p:nvSpPr>
          <p:cNvPr id="27" name="Shape 25"/>
          <p:cNvSpPr/>
          <p:nvPr/>
        </p:nvSpPr>
        <p:spPr>
          <a:xfrm>
            <a:off x="4251960" y="3703320"/>
            <a:ext cx="73152" cy="1417320"/>
          </a:xfrm>
          <a:prstGeom prst="rect">
            <a:avLst/>
          </a:prstGeom>
          <a:solidFill>
            <a:srgbClr val="0F766E"/>
          </a:solidFill>
          <a:ln w="12700">
            <a:solidFill>
              <a:srgbClr val="0F766E"/>
            </a:solidFill>
            <a:prstDash val="solid"/>
          </a:ln>
        </p:spPr>
        <p:txBody>
          <a:bodyPr/>
          <a:lstStyle/>
          <a:p>
            <a:endParaRPr lang="en-US" sz="2400"/>
          </a:p>
        </p:txBody>
      </p:sp>
      <p:sp>
        <p:nvSpPr>
          <p:cNvPr id="28" name="Text 26"/>
          <p:cNvSpPr/>
          <p:nvPr/>
        </p:nvSpPr>
        <p:spPr>
          <a:xfrm>
            <a:off x="4434840" y="3840480"/>
            <a:ext cx="365760" cy="320040"/>
          </a:xfrm>
          <a:prstGeom prst="rect">
            <a:avLst/>
          </a:prstGeom>
          <a:noFill/>
          <a:ln/>
        </p:spPr>
        <p:txBody>
          <a:bodyPr wrap="square" lIns="0" tIns="0" rIns="0" bIns="0" rtlCol="0" anchor="ctr"/>
          <a:lstStyle/>
          <a:p>
            <a:pPr marL="0" indent="0">
              <a:buNone/>
            </a:pPr>
            <a:r>
              <a:rPr lang="en-US" b="1" dirty="0">
                <a:solidFill>
                  <a:srgbClr val="0F766E"/>
                </a:solidFill>
                <a:latin typeface="Calibri" pitchFamily="34" charset="0"/>
                <a:ea typeface="Calibri" pitchFamily="34" charset="-122"/>
                <a:cs typeface="Calibri" pitchFamily="34" charset="-120"/>
              </a:rPr>
              <a:t>5</a:t>
            </a:r>
            <a:endParaRPr lang="en-US" dirty="0"/>
          </a:p>
        </p:txBody>
      </p:sp>
      <p:sp>
        <p:nvSpPr>
          <p:cNvPr id="29" name="Text 27"/>
          <p:cNvSpPr/>
          <p:nvPr/>
        </p:nvSpPr>
        <p:spPr>
          <a:xfrm>
            <a:off x="4846320" y="3840480"/>
            <a:ext cx="288036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Visualise (if it helps)</a:t>
            </a:r>
            <a:endParaRPr lang="en-US" sz="1600" dirty="0"/>
          </a:p>
        </p:txBody>
      </p:sp>
      <p:sp>
        <p:nvSpPr>
          <p:cNvPr id="30" name="Text 28"/>
          <p:cNvSpPr/>
          <p:nvPr/>
        </p:nvSpPr>
        <p:spPr>
          <a:xfrm>
            <a:off x="4480560" y="4206240"/>
            <a:ext cx="32918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Render an optional chart whose code and image both pass review.</a:t>
            </a:r>
            <a:endParaRPr lang="en-US" sz="1400" dirty="0"/>
          </a:p>
        </p:txBody>
      </p:sp>
      <p:sp>
        <p:nvSpPr>
          <p:cNvPr id="31" name="Shape 29"/>
          <p:cNvSpPr/>
          <p:nvPr/>
        </p:nvSpPr>
        <p:spPr>
          <a:xfrm>
            <a:off x="8046720" y="3703320"/>
            <a:ext cx="3657600" cy="1417320"/>
          </a:xfrm>
          <a:prstGeom prst="rect">
            <a:avLst/>
          </a:prstGeom>
          <a:solidFill>
            <a:srgbClr val="F8FAFC"/>
          </a:solidFill>
          <a:ln w="9525">
            <a:solidFill>
              <a:srgbClr val="E2E8F0"/>
            </a:solidFill>
            <a:prstDash val="solid"/>
          </a:ln>
        </p:spPr>
        <p:txBody>
          <a:bodyPr/>
          <a:lstStyle/>
          <a:p>
            <a:endParaRPr lang="en-US" sz="2400"/>
          </a:p>
        </p:txBody>
      </p:sp>
      <p:sp>
        <p:nvSpPr>
          <p:cNvPr id="32" name="Shape 30"/>
          <p:cNvSpPr/>
          <p:nvPr/>
        </p:nvSpPr>
        <p:spPr>
          <a:xfrm>
            <a:off x="8046720" y="3703320"/>
            <a:ext cx="73152" cy="1417320"/>
          </a:xfrm>
          <a:prstGeom prst="rect">
            <a:avLst/>
          </a:prstGeom>
          <a:solidFill>
            <a:srgbClr val="0F766E"/>
          </a:solidFill>
          <a:ln w="12700">
            <a:solidFill>
              <a:srgbClr val="0F766E"/>
            </a:solidFill>
            <a:prstDash val="solid"/>
          </a:ln>
        </p:spPr>
        <p:txBody>
          <a:bodyPr/>
          <a:lstStyle/>
          <a:p>
            <a:endParaRPr lang="en-US" sz="2400"/>
          </a:p>
        </p:txBody>
      </p:sp>
      <p:sp>
        <p:nvSpPr>
          <p:cNvPr id="33" name="Text 31"/>
          <p:cNvSpPr/>
          <p:nvPr/>
        </p:nvSpPr>
        <p:spPr>
          <a:xfrm>
            <a:off x="8229600" y="3840480"/>
            <a:ext cx="365760" cy="320040"/>
          </a:xfrm>
          <a:prstGeom prst="rect">
            <a:avLst/>
          </a:prstGeom>
          <a:noFill/>
          <a:ln/>
        </p:spPr>
        <p:txBody>
          <a:bodyPr wrap="square" lIns="0" tIns="0" rIns="0" bIns="0" rtlCol="0" anchor="ctr"/>
          <a:lstStyle/>
          <a:p>
            <a:pPr marL="0" indent="0">
              <a:buNone/>
            </a:pPr>
            <a:r>
              <a:rPr lang="en-US" b="1" dirty="0">
                <a:solidFill>
                  <a:srgbClr val="0F766E"/>
                </a:solidFill>
                <a:latin typeface="Calibri" pitchFamily="34" charset="0"/>
                <a:ea typeface="Calibri" pitchFamily="34" charset="-122"/>
                <a:cs typeface="Calibri" pitchFamily="34" charset="-120"/>
              </a:rPr>
              <a:t>6</a:t>
            </a:r>
            <a:endParaRPr lang="en-US" dirty="0"/>
          </a:p>
        </p:txBody>
      </p:sp>
      <p:sp>
        <p:nvSpPr>
          <p:cNvPr id="34" name="Text 32"/>
          <p:cNvSpPr/>
          <p:nvPr/>
        </p:nvSpPr>
        <p:spPr>
          <a:xfrm>
            <a:off x="8641080" y="3840480"/>
            <a:ext cx="288036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Surface reasoning</a:t>
            </a:r>
            <a:endParaRPr lang="en-US" sz="1600" dirty="0"/>
          </a:p>
        </p:txBody>
      </p:sp>
      <p:sp>
        <p:nvSpPr>
          <p:cNvPr id="35" name="Text 33"/>
          <p:cNvSpPr/>
          <p:nvPr/>
        </p:nvSpPr>
        <p:spPr>
          <a:xfrm>
            <a:off x="8275320" y="4206240"/>
            <a:ext cx="32918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Expose every step so a sceptical stakeholder can audit the answer end-to-end.</a:t>
            </a:r>
            <a:endParaRPr lang="en-US" sz="1400" dirty="0"/>
          </a:p>
        </p:txBody>
      </p:sp>
      <p:sp>
        <p:nvSpPr>
          <p:cNvPr id="36" name="Shape 34"/>
          <p:cNvSpPr/>
          <p:nvPr/>
        </p:nvSpPr>
        <p:spPr>
          <a:xfrm>
            <a:off x="457200" y="5486400"/>
            <a:ext cx="11247120" cy="777240"/>
          </a:xfrm>
          <a:prstGeom prst="rect">
            <a:avLst/>
          </a:prstGeom>
          <a:solidFill>
            <a:srgbClr val="CCFBF1"/>
          </a:solidFill>
          <a:ln w="6350">
            <a:solidFill>
              <a:srgbClr val="0F766E"/>
            </a:solidFill>
            <a:prstDash val="solid"/>
          </a:ln>
        </p:spPr>
        <p:txBody>
          <a:bodyPr/>
          <a:lstStyle/>
          <a:p>
            <a:endParaRPr lang="en-US" sz="2400"/>
          </a:p>
        </p:txBody>
      </p:sp>
      <p:sp>
        <p:nvSpPr>
          <p:cNvPr id="37" name="Text 35"/>
          <p:cNvSpPr/>
          <p:nvPr/>
        </p:nvSpPr>
        <p:spPr>
          <a:xfrm>
            <a:off x="685800" y="5623560"/>
            <a:ext cx="10789920" cy="548640"/>
          </a:xfrm>
          <a:prstGeom prst="rect">
            <a:avLst/>
          </a:prstGeom>
          <a:noFill/>
          <a:ln/>
        </p:spPr>
        <p:txBody>
          <a:bodyPr wrap="square" lIns="0" tIns="0" rIns="0" bIns="0" rtlCol="0" anchor="ctr"/>
          <a:lstStyle/>
          <a:p>
            <a:pPr marL="0" indent="0">
              <a:buNone/>
            </a:pPr>
            <a:r>
              <a:rPr lang="en-US" sz="1600" b="1" dirty="0">
                <a:solidFill>
                  <a:srgbClr val="0F766E"/>
                </a:solidFill>
                <a:latin typeface="Calibri" pitchFamily="34" charset="0"/>
                <a:ea typeface="Calibri" pitchFamily="34" charset="-122"/>
                <a:cs typeface="Calibri" pitchFamily="34" charset="-120"/>
              </a:rPr>
              <a:t>Takeaway. </a:t>
            </a:r>
            <a:r>
              <a:rPr lang="en-US" sz="1600" dirty="0">
                <a:solidFill>
                  <a:srgbClr val="334155"/>
                </a:solidFill>
                <a:latin typeface="Calibri" pitchFamily="34" charset="0"/>
                <a:ea typeface="Calibri" pitchFamily="34" charset="-122"/>
                <a:cs typeface="Calibri" pitchFamily="34" charset="-120"/>
              </a:rPr>
              <a:t>Task decomposition and splitting of works across specialised agents whose outputs are </a:t>
            </a:r>
            <a:r>
              <a:rPr lang="en-US" sz="1600" b="1" dirty="0">
                <a:solidFill>
                  <a:srgbClr val="0F172A"/>
                </a:solidFill>
                <a:latin typeface="Calibri" pitchFamily="34" charset="0"/>
                <a:ea typeface="Calibri" pitchFamily="34" charset="-122"/>
                <a:cs typeface="Calibri" pitchFamily="34" charset="-120"/>
              </a:rPr>
              <a:t>independently reviewed </a:t>
            </a:r>
            <a:r>
              <a:rPr lang="en-US" sz="1600" dirty="0">
                <a:solidFill>
                  <a:srgbClr val="334155"/>
                </a:solidFill>
                <a:latin typeface="Calibri" pitchFamily="34" charset="0"/>
                <a:ea typeface="Calibri" pitchFamily="34" charset="-122"/>
                <a:cs typeface="Calibri" pitchFamily="34" charset="-120"/>
              </a:rPr>
              <a:t>is the smallest design that satisfies all six obligations.  A single prompt or a plain RAG retrieval cannot.</a:t>
            </a:r>
            <a:endParaRPr lang="en-US" sz="1600" dirty="0"/>
          </a:p>
        </p:txBody>
      </p:sp>
      <p:sp>
        <p:nvSpPr>
          <p:cNvPr id="38" name="Text 36"/>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27</a:t>
            </a:r>
            <a:endParaRPr lang="en-US" sz="900" dirty="0"/>
          </a:p>
        </p:txBody>
      </p:sp>
      <p:sp>
        <p:nvSpPr>
          <p:cNvPr id="39" name="Text 37"/>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CROSS-CUTTING PRINCIPLES</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Five Foundational Design Choices</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These five choices touch every layer of the system.  They are the doctrines the rest of the architecture flows from.</a:t>
            </a:r>
            <a:endParaRPr lang="en-US" sz="1400" dirty="0"/>
          </a:p>
        </p:txBody>
      </p:sp>
      <p:sp>
        <p:nvSpPr>
          <p:cNvPr id="6" name="Shape 4"/>
          <p:cNvSpPr/>
          <p:nvPr/>
        </p:nvSpPr>
        <p:spPr>
          <a:xfrm>
            <a:off x="502920" y="2066544"/>
            <a:ext cx="502920" cy="502920"/>
          </a:xfrm>
          <a:prstGeom prst="ellipse">
            <a:avLst/>
          </a:prstGeom>
          <a:solidFill>
            <a:srgbClr val="1E293B"/>
          </a:solidFill>
          <a:ln w="12700">
            <a:solidFill>
              <a:srgbClr val="1E293B"/>
            </a:solidFill>
            <a:prstDash val="solid"/>
          </a:ln>
        </p:spPr>
        <p:txBody>
          <a:bodyPr/>
          <a:lstStyle/>
          <a:p>
            <a:endParaRPr lang="en-US"/>
          </a:p>
        </p:txBody>
      </p:sp>
      <p:sp>
        <p:nvSpPr>
          <p:cNvPr id="7" name="Text 5"/>
          <p:cNvSpPr/>
          <p:nvPr/>
        </p:nvSpPr>
        <p:spPr>
          <a:xfrm>
            <a:off x="502920" y="206654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188720" y="1965960"/>
            <a:ext cx="105156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Determinism over creativity</a:t>
            </a:r>
            <a:endParaRPr lang="en-US" sz="1600" dirty="0"/>
          </a:p>
        </p:txBody>
      </p:sp>
      <p:sp>
        <p:nvSpPr>
          <p:cNvPr id="9" name="Text 7"/>
          <p:cNvSpPr/>
          <p:nvPr/>
        </p:nvSpPr>
        <p:spPr>
          <a:xfrm>
            <a:off x="1188720" y="2304288"/>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All 9 agents run at temperature 0.0.  Writer was dropped from 0.2 → 0.0 after the same SQL value of 41 yielded “approximately 40,” “exactly 41,” and fabricated subset sums on different retries.</a:t>
            </a:r>
            <a:endParaRPr lang="en-US" sz="1400" dirty="0"/>
          </a:p>
        </p:txBody>
      </p:sp>
      <p:sp>
        <p:nvSpPr>
          <p:cNvPr id="10" name="Shape 8"/>
          <p:cNvSpPr/>
          <p:nvPr/>
        </p:nvSpPr>
        <p:spPr>
          <a:xfrm>
            <a:off x="1188720" y="2743200"/>
            <a:ext cx="10515600" cy="7315"/>
          </a:xfrm>
          <a:prstGeom prst="rect">
            <a:avLst/>
          </a:prstGeom>
          <a:solidFill>
            <a:srgbClr val="E2E8F0"/>
          </a:solidFill>
          <a:ln w="12700">
            <a:solidFill>
              <a:srgbClr val="333333"/>
            </a:solidFill>
            <a:prstDash val="solid"/>
          </a:ln>
        </p:spPr>
        <p:txBody>
          <a:bodyPr/>
          <a:lstStyle/>
          <a:p>
            <a:endParaRPr lang="en-US"/>
          </a:p>
        </p:txBody>
      </p:sp>
      <p:sp>
        <p:nvSpPr>
          <p:cNvPr id="11" name="Shape 9"/>
          <p:cNvSpPr/>
          <p:nvPr/>
        </p:nvSpPr>
        <p:spPr>
          <a:xfrm>
            <a:off x="502920" y="2907792"/>
            <a:ext cx="502920" cy="502920"/>
          </a:xfrm>
          <a:prstGeom prst="ellipse">
            <a:avLst/>
          </a:prstGeom>
          <a:solidFill>
            <a:srgbClr val="1E293B"/>
          </a:solidFill>
          <a:ln w="12700">
            <a:solidFill>
              <a:srgbClr val="1E293B"/>
            </a:solidFill>
            <a:prstDash val="solid"/>
          </a:ln>
        </p:spPr>
        <p:txBody>
          <a:bodyPr/>
          <a:lstStyle/>
          <a:p>
            <a:endParaRPr lang="en-US"/>
          </a:p>
        </p:txBody>
      </p:sp>
      <p:sp>
        <p:nvSpPr>
          <p:cNvPr id="12" name="Text 10"/>
          <p:cNvSpPr/>
          <p:nvPr/>
        </p:nvSpPr>
        <p:spPr>
          <a:xfrm>
            <a:off x="502920" y="29077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188720" y="2807208"/>
            <a:ext cx="105156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Rule-based Orchestrator, not an autonomous loop</a:t>
            </a:r>
            <a:endParaRPr lang="en-US" sz="1600" dirty="0"/>
          </a:p>
        </p:txBody>
      </p:sp>
      <p:sp>
        <p:nvSpPr>
          <p:cNvPr id="14" name="Text 12"/>
          <p:cNvSpPr/>
          <p:nvPr/>
        </p:nvSpPr>
        <p:spPr>
          <a:xfrm>
            <a:off x="1188720" y="3145536"/>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Control plane is pure Python.  Agents emit structured text in XML tags or JSON; the Orchestrator parses and routes.  No LLM ever decides what runs next.</a:t>
            </a:r>
            <a:endParaRPr lang="en-US" sz="1400" dirty="0"/>
          </a:p>
        </p:txBody>
      </p:sp>
      <p:sp>
        <p:nvSpPr>
          <p:cNvPr id="15" name="Shape 13"/>
          <p:cNvSpPr/>
          <p:nvPr/>
        </p:nvSpPr>
        <p:spPr>
          <a:xfrm>
            <a:off x="1188720" y="3584448"/>
            <a:ext cx="10515600" cy="7315"/>
          </a:xfrm>
          <a:prstGeom prst="rect">
            <a:avLst/>
          </a:prstGeom>
          <a:solidFill>
            <a:srgbClr val="E2E8F0"/>
          </a:solidFill>
          <a:ln w="12700">
            <a:solidFill>
              <a:srgbClr val="333333"/>
            </a:solidFill>
            <a:prstDash val="solid"/>
          </a:ln>
        </p:spPr>
        <p:txBody>
          <a:bodyPr/>
          <a:lstStyle/>
          <a:p>
            <a:endParaRPr lang="en-US"/>
          </a:p>
        </p:txBody>
      </p:sp>
      <p:sp>
        <p:nvSpPr>
          <p:cNvPr id="16" name="Shape 14"/>
          <p:cNvSpPr/>
          <p:nvPr/>
        </p:nvSpPr>
        <p:spPr>
          <a:xfrm>
            <a:off x="502920" y="3749040"/>
            <a:ext cx="502920" cy="502920"/>
          </a:xfrm>
          <a:prstGeom prst="ellipse">
            <a:avLst/>
          </a:prstGeom>
          <a:solidFill>
            <a:srgbClr val="1E293B"/>
          </a:solidFill>
          <a:ln w="12700">
            <a:solidFill>
              <a:srgbClr val="1E293B"/>
            </a:solidFill>
            <a:prstDash val="solid"/>
          </a:ln>
        </p:spPr>
        <p:txBody>
          <a:bodyPr/>
          <a:lstStyle/>
          <a:p>
            <a:endParaRPr lang="en-US"/>
          </a:p>
        </p:txBody>
      </p:sp>
      <p:sp>
        <p:nvSpPr>
          <p:cNvPr id="17" name="Text 15"/>
          <p:cNvSpPr/>
          <p:nvPr/>
        </p:nvSpPr>
        <p:spPr>
          <a:xfrm>
            <a:off x="502920" y="3749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188720" y="3648456"/>
            <a:ext cx="105156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Closed enums everywhere</a:t>
            </a:r>
            <a:endParaRPr lang="en-US" sz="1600" dirty="0"/>
          </a:p>
        </p:txBody>
      </p:sp>
      <p:sp>
        <p:nvSpPr>
          <p:cNvPr id="19" name="Text 17"/>
          <p:cNvSpPr/>
          <p:nvPr/>
        </p:nvSpPr>
        <p:spPr>
          <a:xfrm>
            <a:off x="1188720" y="3986784"/>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Reviewer verdicts, Planner path, Supervisor action, Topic Classifier output - all enum-checked in both prompt and Python.  Out-of-enum output counts against the retry budget.</a:t>
            </a:r>
            <a:endParaRPr lang="en-US" sz="1400" dirty="0"/>
          </a:p>
        </p:txBody>
      </p:sp>
      <p:sp>
        <p:nvSpPr>
          <p:cNvPr id="20" name="Shape 18"/>
          <p:cNvSpPr/>
          <p:nvPr/>
        </p:nvSpPr>
        <p:spPr>
          <a:xfrm>
            <a:off x="1188720" y="4425696"/>
            <a:ext cx="10515600" cy="7315"/>
          </a:xfrm>
          <a:prstGeom prst="rect">
            <a:avLst/>
          </a:prstGeom>
          <a:solidFill>
            <a:srgbClr val="E2E8F0"/>
          </a:solidFill>
          <a:ln w="12700">
            <a:solidFill>
              <a:srgbClr val="333333"/>
            </a:solidFill>
            <a:prstDash val="solid"/>
          </a:ln>
        </p:spPr>
        <p:txBody>
          <a:bodyPr/>
          <a:lstStyle/>
          <a:p>
            <a:endParaRPr lang="en-US"/>
          </a:p>
        </p:txBody>
      </p:sp>
      <p:sp>
        <p:nvSpPr>
          <p:cNvPr id="21" name="Shape 19"/>
          <p:cNvSpPr/>
          <p:nvPr/>
        </p:nvSpPr>
        <p:spPr>
          <a:xfrm>
            <a:off x="502920" y="4590288"/>
            <a:ext cx="502920" cy="502920"/>
          </a:xfrm>
          <a:prstGeom prst="ellipse">
            <a:avLst/>
          </a:prstGeom>
          <a:solidFill>
            <a:srgbClr val="1E293B"/>
          </a:solidFill>
          <a:ln w="12700">
            <a:solidFill>
              <a:srgbClr val="1E293B"/>
            </a:solidFill>
            <a:prstDash val="solid"/>
          </a:ln>
        </p:spPr>
        <p:txBody>
          <a:bodyPr/>
          <a:lstStyle/>
          <a:p>
            <a:endParaRPr lang="en-US"/>
          </a:p>
        </p:txBody>
      </p:sp>
      <p:sp>
        <p:nvSpPr>
          <p:cNvPr id="22" name="Text 20"/>
          <p:cNvSpPr/>
          <p:nvPr/>
        </p:nvSpPr>
        <p:spPr>
          <a:xfrm>
            <a:off x="502920" y="45902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188720" y="4489704"/>
            <a:ext cx="105156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Hard-block over soft-block on numeric grounding</a:t>
            </a:r>
            <a:endParaRPr lang="en-US" sz="1600" dirty="0"/>
          </a:p>
        </p:txBody>
      </p:sp>
      <p:sp>
        <p:nvSpPr>
          <p:cNvPr id="24" name="Text 22"/>
          <p:cNvSpPr/>
          <p:nvPr/>
        </p:nvSpPr>
        <p:spPr>
          <a:xfrm>
            <a:off x="1188720" y="4828032"/>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If the Writer cannot ground every number in two attempts, the system ships an explicit refusal, not unverified prose with the wrong subtotal.</a:t>
            </a:r>
            <a:endParaRPr lang="en-US" sz="1400" dirty="0"/>
          </a:p>
        </p:txBody>
      </p:sp>
      <p:sp>
        <p:nvSpPr>
          <p:cNvPr id="25" name="Shape 23"/>
          <p:cNvSpPr/>
          <p:nvPr/>
        </p:nvSpPr>
        <p:spPr>
          <a:xfrm>
            <a:off x="1188720" y="5266944"/>
            <a:ext cx="10515600" cy="7315"/>
          </a:xfrm>
          <a:prstGeom prst="rect">
            <a:avLst/>
          </a:prstGeom>
          <a:solidFill>
            <a:srgbClr val="E2E8F0"/>
          </a:solidFill>
          <a:ln w="12700">
            <a:solidFill>
              <a:srgbClr val="333333"/>
            </a:solidFill>
            <a:prstDash val="solid"/>
          </a:ln>
        </p:spPr>
        <p:txBody>
          <a:bodyPr/>
          <a:lstStyle/>
          <a:p>
            <a:endParaRPr lang="en-US"/>
          </a:p>
        </p:txBody>
      </p:sp>
      <p:sp>
        <p:nvSpPr>
          <p:cNvPr id="26" name="Shape 24"/>
          <p:cNvSpPr/>
          <p:nvPr/>
        </p:nvSpPr>
        <p:spPr>
          <a:xfrm>
            <a:off x="502920" y="5431536"/>
            <a:ext cx="502920" cy="502920"/>
          </a:xfrm>
          <a:prstGeom prst="ellipse">
            <a:avLst/>
          </a:prstGeom>
          <a:solidFill>
            <a:srgbClr val="1E293B"/>
          </a:solidFill>
          <a:ln w="12700">
            <a:solidFill>
              <a:srgbClr val="1E293B"/>
            </a:solidFill>
            <a:prstDash val="solid"/>
          </a:ln>
        </p:spPr>
        <p:txBody>
          <a:bodyPr/>
          <a:lstStyle/>
          <a:p>
            <a:endParaRPr lang="en-US"/>
          </a:p>
        </p:txBody>
      </p:sp>
      <p:sp>
        <p:nvSpPr>
          <p:cNvPr id="27" name="Text 25"/>
          <p:cNvSpPr/>
          <p:nvPr/>
        </p:nvSpPr>
        <p:spPr>
          <a:xfrm>
            <a:off x="502920" y="543153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188720" y="5330952"/>
            <a:ext cx="105156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Schema vocabulary discipline</a:t>
            </a:r>
            <a:endParaRPr lang="en-US" sz="1600" dirty="0"/>
          </a:p>
        </p:txBody>
      </p:sp>
      <p:sp>
        <p:nvSpPr>
          <p:cNvPr id="29" name="Text 27"/>
          <p:cNvSpPr/>
          <p:nvPr/>
        </p:nvSpPr>
        <p:spPr>
          <a:xfrm>
            <a:off x="1188720" y="5669280"/>
            <a:ext cx="1051560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Renamed attribute_type → non_purchase_type because the word “attributes” collided with another column and caused the LLM to disambiguate incorrectly.  Schema-level naming clarity beats prompt-level scaffolding.</a:t>
            </a:r>
            <a:endParaRPr lang="en-US" sz="1400" dirty="0"/>
          </a:p>
        </p:txBody>
      </p:sp>
      <p:sp>
        <p:nvSpPr>
          <p:cNvPr id="30" name="Text 28"/>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27</a:t>
            </a:r>
            <a:endParaRPr lang="en-US" sz="900" dirty="0"/>
          </a:p>
        </p:txBody>
      </p:sp>
      <p:sp>
        <p:nvSpPr>
          <p:cNvPr id="31" name="Text 29"/>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HIGH-LEVEL ARCHITECTURE</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The Eight-Layer Stack</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41148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Each layer has a single concern.  Each layer talks only to its neighbours.  The Orchestrator is the only component permitted to call agents or tools.</a:t>
            </a:r>
            <a:endParaRPr lang="en-US" sz="1400" dirty="0"/>
          </a:p>
        </p:txBody>
      </p:sp>
      <p:sp>
        <p:nvSpPr>
          <p:cNvPr id="6" name="Shape 4"/>
          <p:cNvSpPr/>
          <p:nvPr/>
        </p:nvSpPr>
        <p:spPr>
          <a:xfrm>
            <a:off x="457200" y="1920240"/>
            <a:ext cx="685800" cy="402336"/>
          </a:xfrm>
          <a:prstGeom prst="rect">
            <a:avLst/>
          </a:prstGeom>
          <a:solidFill>
            <a:srgbClr val="1E293B"/>
          </a:solidFill>
          <a:ln w="12700">
            <a:solidFill>
              <a:srgbClr val="1E293B"/>
            </a:solidFill>
            <a:prstDash val="solid"/>
          </a:ln>
        </p:spPr>
        <p:txBody>
          <a:bodyPr/>
          <a:lstStyle/>
          <a:p>
            <a:endParaRPr lang="en-US"/>
          </a:p>
        </p:txBody>
      </p:sp>
      <p:sp>
        <p:nvSpPr>
          <p:cNvPr id="7" name="Text 5"/>
          <p:cNvSpPr/>
          <p:nvPr/>
        </p:nvSpPr>
        <p:spPr>
          <a:xfrm>
            <a:off x="457200" y="1920240"/>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8" name="Shape 6"/>
          <p:cNvSpPr/>
          <p:nvPr/>
        </p:nvSpPr>
        <p:spPr>
          <a:xfrm>
            <a:off x="1207008" y="1920240"/>
            <a:ext cx="10515600" cy="402336"/>
          </a:xfrm>
          <a:prstGeom prst="rect">
            <a:avLst/>
          </a:prstGeom>
          <a:solidFill>
            <a:srgbClr val="F8FAFC"/>
          </a:solidFill>
          <a:ln w="9525">
            <a:solidFill>
              <a:srgbClr val="E2E8F0"/>
            </a:solidFill>
            <a:prstDash val="solid"/>
          </a:ln>
        </p:spPr>
        <p:txBody>
          <a:bodyPr/>
          <a:lstStyle/>
          <a:p>
            <a:endParaRPr lang="en-US"/>
          </a:p>
        </p:txBody>
      </p:sp>
      <p:sp>
        <p:nvSpPr>
          <p:cNvPr id="9" name="Text 7"/>
          <p:cNvSpPr/>
          <p:nvPr/>
        </p:nvSpPr>
        <p:spPr>
          <a:xfrm>
            <a:off x="1371600" y="1920240"/>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Observability &amp; Interface</a:t>
            </a:r>
            <a:endParaRPr lang="en-US" sz="1600" dirty="0"/>
          </a:p>
        </p:txBody>
      </p:sp>
      <p:sp>
        <p:nvSpPr>
          <p:cNvPr id="10" name="Text 8"/>
          <p:cNvSpPr/>
          <p:nvPr/>
        </p:nvSpPr>
        <p:spPr>
          <a:xfrm>
            <a:off x="5486400" y="1920240"/>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Streamlit UI · StepEvent · chat_trace surfacing</a:t>
            </a:r>
            <a:endParaRPr lang="en-US" sz="1400" dirty="0"/>
          </a:p>
        </p:txBody>
      </p:sp>
      <p:sp>
        <p:nvSpPr>
          <p:cNvPr id="11" name="Shape 9"/>
          <p:cNvSpPr/>
          <p:nvPr/>
        </p:nvSpPr>
        <p:spPr>
          <a:xfrm>
            <a:off x="457200" y="2395728"/>
            <a:ext cx="685800" cy="402336"/>
          </a:xfrm>
          <a:prstGeom prst="rect">
            <a:avLst/>
          </a:prstGeom>
          <a:solidFill>
            <a:srgbClr val="0F766E"/>
          </a:solidFill>
          <a:ln w="12700">
            <a:solidFill>
              <a:srgbClr val="0F766E"/>
            </a:solidFill>
            <a:prstDash val="solid"/>
          </a:ln>
        </p:spPr>
        <p:txBody>
          <a:bodyPr/>
          <a:lstStyle/>
          <a:p>
            <a:endParaRPr lang="en-US"/>
          </a:p>
        </p:txBody>
      </p:sp>
      <p:sp>
        <p:nvSpPr>
          <p:cNvPr id="12" name="Text 10"/>
          <p:cNvSpPr/>
          <p:nvPr/>
        </p:nvSpPr>
        <p:spPr>
          <a:xfrm>
            <a:off x="457200" y="2395728"/>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13" name="Shape 11"/>
          <p:cNvSpPr/>
          <p:nvPr/>
        </p:nvSpPr>
        <p:spPr>
          <a:xfrm>
            <a:off x="1207008" y="2395728"/>
            <a:ext cx="10515600" cy="402336"/>
          </a:xfrm>
          <a:prstGeom prst="rect">
            <a:avLst/>
          </a:prstGeom>
          <a:solidFill>
            <a:srgbClr val="F8FAFC"/>
          </a:solidFill>
          <a:ln w="9525">
            <a:solidFill>
              <a:srgbClr val="E2E8F0"/>
            </a:solidFill>
            <a:prstDash val="solid"/>
          </a:ln>
        </p:spPr>
        <p:txBody>
          <a:bodyPr/>
          <a:lstStyle/>
          <a:p>
            <a:endParaRPr lang="en-US"/>
          </a:p>
        </p:txBody>
      </p:sp>
      <p:sp>
        <p:nvSpPr>
          <p:cNvPr id="14" name="Text 12"/>
          <p:cNvSpPr/>
          <p:nvPr/>
        </p:nvSpPr>
        <p:spPr>
          <a:xfrm>
            <a:off x="1371600" y="2395728"/>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Tooling &amp; Validation</a:t>
            </a:r>
            <a:endParaRPr lang="en-US" sz="1600" dirty="0"/>
          </a:p>
        </p:txBody>
      </p:sp>
      <p:sp>
        <p:nvSpPr>
          <p:cNvPr id="15" name="Text 13"/>
          <p:cNvSpPr/>
          <p:nvPr/>
        </p:nvSpPr>
        <p:spPr>
          <a:xfrm>
            <a:off x="5486400" y="2395728"/>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sql_parser · sql_safety_guard · sql_executor · viz tools · groundedness · log_turn</a:t>
            </a:r>
            <a:endParaRPr lang="en-US" sz="1400" dirty="0"/>
          </a:p>
        </p:txBody>
      </p:sp>
      <p:sp>
        <p:nvSpPr>
          <p:cNvPr id="16" name="Shape 14"/>
          <p:cNvSpPr/>
          <p:nvPr/>
        </p:nvSpPr>
        <p:spPr>
          <a:xfrm>
            <a:off x="457200" y="2871216"/>
            <a:ext cx="685800" cy="402336"/>
          </a:xfrm>
          <a:prstGeom prst="rect">
            <a:avLst/>
          </a:prstGeom>
          <a:solidFill>
            <a:srgbClr val="0F766E"/>
          </a:solidFill>
          <a:ln w="12700">
            <a:solidFill>
              <a:srgbClr val="0F766E"/>
            </a:solidFill>
            <a:prstDash val="solid"/>
          </a:ln>
        </p:spPr>
        <p:txBody>
          <a:bodyPr/>
          <a:lstStyle/>
          <a:p>
            <a:endParaRPr lang="en-US"/>
          </a:p>
        </p:txBody>
      </p:sp>
      <p:sp>
        <p:nvSpPr>
          <p:cNvPr id="17" name="Text 15"/>
          <p:cNvSpPr/>
          <p:nvPr/>
        </p:nvSpPr>
        <p:spPr>
          <a:xfrm>
            <a:off x="457200" y="2871216"/>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18" name="Shape 16"/>
          <p:cNvSpPr/>
          <p:nvPr/>
        </p:nvSpPr>
        <p:spPr>
          <a:xfrm>
            <a:off x="1207008" y="2871216"/>
            <a:ext cx="10515600" cy="402336"/>
          </a:xfrm>
          <a:prstGeom prst="rect">
            <a:avLst/>
          </a:prstGeom>
          <a:solidFill>
            <a:srgbClr val="F8FAFC"/>
          </a:solidFill>
          <a:ln w="9525">
            <a:solidFill>
              <a:srgbClr val="E2E8F0"/>
            </a:solidFill>
            <a:prstDash val="solid"/>
          </a:ln>
        </p:spPr>
        <p:txBody>
          <a:bodyPr/>
          <a:lstStyle/>
          <a:p>
            <a:endParaRPr lang="en-US"/>
          </a:p>
        </p:txBody>
      </p:sp>
      <p:sp>
        <p:nvSpPr>
          <p:cNvPr id="19" name="Text 17"/>
          <p:cNvSpPr/>
          <p:nvPr/>
        </p:nvSpPr>
        <p:spPr>
          <a:xfrm>
            <a:off x="1371600" y="2871216"/>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Orchestration &amp; Recovery</a:t>
            </a:r>
            <a:endParaRPr lang="en-US" sz="1600" dirty="0"/>
          </a:p>
        </p:txBody>
      </p:sp>
      <p:sp>
        <p:nvSpPr>
          <p:cNvPr id="20" name="Text 18"/>
          <p:cNvSpPr/>
          <p:nvPr/>
        </p:nvSpPr>
        <p:spPr>
          <a:xfrm>
            <a:off x="5486400" y="2871216"/>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Rule-based control plane · retry budgets · Supervisor escape hatch</a:t>
            </a:r>
            <a:endParaRPr lang="en-US" sz="1400" dirty="0"/>
          </a:p>
        </p:txBody>
      </p:sp>
      <p:sp>
        <p:nvSpPr>
          <p:cNvPr id="21" name="Shape 19"/>
          <p:cNvSpPr/>
          <p:nvPr/>
        </p:nvSpPr>
        <p:spPr>
          <a:xfrm>
            <a:off x="457200" y="3346704"/>
            <a:ext cx="685800" cy="402336"/>
          </a:xfrm>
          <a:prstGeom prst="rect">
            <a:avLst/>
          </a:prstGeom>
          <a:solidFill>
            <a:srgbClr val="B45309"/>
          </a:solidFill>
          <a:ln w="12700">
            <a:solidFill>
              <a:srgbClr val="B45309"/>
            </a:solidFill>
            <a:prstDash val="solid"/>
          </a:ln>
        </p:spPr>
        <p:txBody>
          <a:bodyPr/>
          <a:lstStyle/>
          <a:p>
            <a:endParaRPr lang="en-US"/>
          </a:p>
        </p:txBody>
      </p:sp>
      <p:sp>
        <p:nvSpPr>
          <p:cNvPr id="22" name="Text 20"/>
          <p:cNvSpPr/>
          <p:nvPr/>
        </p:nvSpPr>
        <p:spPr>
          <a:xfrm>
            <a:off x="457200" y="3346704"/>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Shape 21"/>
          <p:cNvSpPr/>
          <p:nvPr/>
        </p:nvSpPr>
        <p:spPr>
          <a:xfrm>
            <a:off x="1207008" y="3346704"/>
            <a:ext cx="10515600" cy="402336"/>
          </a:xfrm>
          <a:prstGeom prst="rect">
            <a:avLst/>
          </a:prstGeom>
          <a:solidFill>
            <a:srgbClr val="F8FAFC"/>
          </a:solidFill>
          <a:ln w="9525">
            <a:solidFill>
              <a:srgbClr val="E2E8F0"/>
            </a:solidFill>
            <a:prstDash val="solid"/>
          </a:ln>
        </p:spPr>
        <p:txBody>
          <a:bodyPr/>
          <a:lstStyle/>
          <a:p>
            <a:endParaRPr lang="en-US"/>
          </a:p>
        </p:txBody>
      </p:sp>
      <p:sp>
        <p:nvSpPr>
          <p:cNvPr id="24" name="Text 22"/>
          <p:cNvSpPr/>
          <p:nvPr/>
        </p:nvSpPr>
        <p:spPr>
          <a:xfrm>
            <a:off x="1371600" y="3346704"/>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Reflection</a:t>
            </a:r>
            <a:endParaRPr lang="en-US" sz="1600" dirty="0"/>
          </a:p>
        </p:txBody>
      </p:sp>
      <p:sp>
        <p:nvSpPr>
          <p:cNvPr id="25" name="Text 23"/>
          <p:cNvSpPr/>
          <p:nvPr/>
        </p:nvSpPr>
        <p:spPr>
          <a:xfrm>
            <a:off x="5486400" y="3346704"/>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Code Reviewer · Output Reviewer · Viz Code Reviewer · Viz Reviewer (multimodal)</a:t>
            </a:r>
            <a:endParaRPr lang="en-US" sz="1400" dirty="0"/>
          </a:p>
        </p:txBody>
      </p:sp>
      <p:sp>
        <p:nvSpPr>
          <p:cNvPr id="26" name="Shape 24"/>
          <p:cNvSpPr/>
          <p:nvPr/>
        </p:nvSpPr>
        <p:spPr>
          <a:xfrm>
            <a:off x="457200" y="3822192"/>
            <a:ext cx="685800" cy="402336"/>
          </a:xfrm>
          <a:prstGeom prst="rect">
            <a:avLst/>
          </a:prstGeom>
          <a:solidFill>
            <a:srgbClr val="B45309"/>
          </a:solidFill>
          <a:ln w="12700">
            <a:solidFill>
              <a:srgbClr val="B45309"/>
            </a:solidFill>
            <a:prstDash val="solid"/>
          </a:ln>
        </p:spPr>
        <p:txBody>
          <a:bodyPr/>
          <a:lstStyle/>
          <a:p>
            <a:endParaRPr lang="en-US"/>
          </a:p>
        </p:txBody>
      </p:sp>
      <p:sp>
        <p:nvSpPr>
          <p:cNvPr id="27" name="Text 25"/>
          <p:cNvSpPr/>
          <p:nvPr/>
        </p:nvSpPr>
        <p:spPr>
          <a:xfrm>
            <a:off x="457200" y="3822192"/>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Shape 26"/>
          <p:cNvSpPr/>
          <p:nvPr/>
        </p:nvSpPr>
        <p:spPr>
          <a:xfrm>
            <a:off x="1207008" y="3822192"/>
            <a:ext cx="10515600" cy="402336"/>
          </a:xfrm>
          <a:prstGeom prst="rect">
            <a:avLst/>
          </a:prstGeom>
          <a:solidFill>
            <a:srgbClr val="F8FAFC"/>
          </a:solidFill>
          <a:ln w="9525">
            <a:solidFill>
              <a:srgbClr val="E2E8F0"/>
            </a:solidFill>
            <a:prstDash val="solid"/>
          </a:ln>
        </p:spPr>
        <p:txBody>
          <a:bodyPr/>
          <a:lstStyle/>
          <a:p>
            <a:endParaRPr lang="en-US"/>
          </a:p>
        </p:txBody>
      </p:sp>
      <p:sp>
        <p:nvSpPr>
          <p:cNvPr id="29" name="Text 27"/>
          <p:cNvSpPr/>
          <p:nvPr/>
        </p:nvSpPr>
        <p:spPr>
          <a:xfrm>
            <a:off x="1371600" y="3822192"/>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Reasoning</a:t>
            </a:r>
            <a:endParaRPr lang="en-US" sz="1600" dirty="0"/>
          </a:p>
        </p:txBody>
      </p:sp>
      <p:sp>
        <p:nvSpPr>
          <p:cNvPr id="30" name="Text 28"/>
          <p:cNvSpPr/>
          <p:nvPr/>
        </p:nvSpPr>
        <p:spPr>
          <a:xfrm>
            <a:off x="5486400" y="3822192"/>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Planner · Coder · Writer · Viz Coder · Supervisor</a:t>
            </a:r>
            <a:endParaRPr lang="en-US" sz="1400" dirty="0"/>
          </a:p>
        </p:txBody>
      </p:sp>
      <p:sp>
        <p:nvSpPr>
          <p:cNvPr id="31" name="Shape 29"/>
          <p:cNvSpPr/>
          <p:nvPr/>
        </p:nvSpPr>
        <p:spPr>
          <a:xfrm>
            <a:off x="457200" y="4297680"/>
            <a:ext cx="685800" cy="402336"/>
          </a:xfrm>
          <a:prstGeom prst="rect">
            <a:avLst/>
          </a:prstGeom>
          <a:solidFill>
            <a:srgbClr val="334155"/>
          </a:solidFill>
          <a:ln w="12700">
            <a:solidFill>
              <a:srgbClr val="334155"/>
            </a:solidFill>
            <a:prstDash val="solid"/>
          </a:ln>
        </p:spPr>
        <p:txBody>
          <a:bodyPr/>
          <a:lstStyle/>
          <a:p>
            <a:endParaRPr lang="en-US"/>
          </a:p>
        </p:txBody>
      </p:sp>
      <p:sp>
        <p:nvSpPr>
          <p:cNvPr id="32" name="Text 30"/>
          <p:cNvSpPr/>
          <p:nvPr/>
        </p:nvSpPr>
        <p:spPr>
          <a:xfrm>
            <a:off x="457200" y="4297680"/>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3" name="Shape 31"/>
          <p:cNvSpPr/>
          <p:nvPr/>
        </p:nvSpPr>
        <p:spPr>
          <a:xfrm>
            <a:off x="1207008" y="4297680"/>
            <a:ext cx="10515600" cy="402336"/>
          </a:xfrm>
          <a:prstGeom prst="rect">
            <a:avLst/>
          </a:prstGeom>
          <a:solidFill>
            <a:srgbClr val="F8FAFC"/>
          </a:solidFill>
          <a:ln w="9525">
            <a:solidFill>
              <a:srgbClr val="E2E8F0"/>
            </a:solidFill>
            <a:prstDash val="solid"/>
          </a:ln>
        </p:spPr>
        <p:txBody>
          <a:bodyPr/>
          <a:lstStyle/>
          <a:p>
            <a:endParaRPr lang="en-US"/>
          </a:p>
        </p:txBody>
      </p:sp>
      <p:sp>
        <p:nvSpPr>
          <p:cNvPr id="34" name="Text 32"/>
          <p:cNvSpPr/>
          <p:nvPr/>
        </p:nvSpPr>
        <p:spPr>
          <a:xfrm>
            <a:off x="1371600" y="4297680"/>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Memory</a:t>
            </a:r>
            <a:endParaRPr lang="en-US" sz="1600" dirty="0"/>
          </a:p>
        </p:txBody>
      </p:sp>
      <p:sp>
        <p:nvSpPr>
          <p:cNvPr id="35" name="Text 33"/>
          <p:cNvSpPr/>
          <p:nvPr/>
        </p:nvSpPr>
        <p:spPr>
          <a:xfrm>
            <a:off x="5486400" y="4297680"/>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Streamlit session state · 8-message look-back · resolved_question mechanism</a:t>
            </a:r>
            <a:endParaRPr lang="en-US" sz="1400" dirty="0"/>
          </a:p>
        </p:txBody>
      </p:sp>
      <p:sp>
        <p:nvSpPr>
          <p:cNvPr id="36" name="Shape 34"/>
          <p:cNvSpPr/>
          <p:nvPr/>
        </p:nvSpPr>
        <p:spPr>
          <a:xfrm>
            <a:off x="457200" y="4773168"/>
            <a:ext cx="685800" cy="402336"/>
          </a:xfrm>
          <a:prstGeom prst="rect">
            <a:avLst/>
          </a:prstGeom>
          <a:solidFill>
            <a:srgbClr val="334155"/>
          </a:solidFill>
          <a:ln w="12700">
            <a:solidFill>
              <a:srgbClr val="334155"/>
            </a:solidFill>
            <a:prstDash val="solid"/>
          </a:ln>
        </p:spPr>
        <p:txBody>
          <a:bodyPr/>
          <a:lstStyle/>
          <a:p>
            <a:endParaRPr lang="en-US"/>
          </a:p>
        </p:txBody>
      </p:sp>
      <p:sp>
        <p:nvSpPr>
          <p:cNvPr id="37" name="Text 35"/>
          <p:cNvSpPr/>
          <p:nvPr/>
        </p:nvSpPr>
        <p:spPr>
          <a:xfrm>
            <a:off x="457200" y="4773168"/>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8" name="Shape 36"/>
          <p:cNvSpPr/>
          <p:nvPr/>
        </p:nvSpPr>
        <p:spPr>
          <a:xfrm>
            <a:off x="1207008" y="4773168"/>
            <a:ext cx="10515600" cy="402336"/>
          </a:xfrm>
          <a:prstGeom prst="rect">
            <a:avLst/>
          </a:prstGeom>
          <a:solidFill>
            <a:srgbClr val="F8FAFC"/>
          </a:solidFill>
          <a:ln w="9525">
            <a:solidFill>
              <a:srgbClr val="E2E8F0"/>
            </a:solidFill>
            <a:prstDash val="solid"/>
          </a:ln>
        </p:spPr>
        <p:txBody>
          <a:bodyPr/>
          <a:lstStyle/>
          <a:p>
            <a:endParaRPr lang="en-US"/>
          </a:p>
        </p:txBody>
      </p:sp>
      <p:sp>
        <p:nvSpPr>
          <p:cNvPr id="39" name="Text 37"/>
          <p:cNvSpPr/>
          <p:nvPr/>
        </p:nvSpPr>
        <p:spPr>
          <a:xfrm>
            <a:off x="1371600" y="4773168"/>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Knowledge</a:t>
            </a:r>
            <a:endParaRPr lang="en-US" sz="1600" dirty="0"/>
          </a:p>
        </p:txBody>
      </p:sp>
      <p:sp>
        <p:nvSpPr>
          <p:cNvPr id="40" name="Text 38"/>
          <p:cNvSpPr/>
          <p:nvPr/>
        </p:nvSpPr>
        <p:spPr>
          <a:xfrm>
            <a:off x="5486400" y="4773168"/>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Offline topic-enrichment pipeline · SCHEMA_TEXT constant</a:t>
            </a:r>
            <a:endParaRPr lang="en-US" sz="1400" dirty="0"/>
          </a:p>
        </p:txBody>
      </p:sp>
      <p:sp>
        <p:nvSpPr>
          <p:cNvPr id="41" name="Shape 39"/>
          <p:cNvSpPr/>
          <p:nvPr/>
        </p:nvSpPr>
        <p:spPr>
          <a:xfrm>
            <a:off x="457200" y="5248656"/>
            <a:ext cx="685800" cy="402336"/>
          </a:xfrm>
          <a:prstGeom prst="rect">
            <a:avLst/>
          </a:prstGeom>
          <a:solidFill>
            <a:srgbClr val="64748B"/>
          </a:solidFill>
          <a:ln w="12700">
            <a:solidFill>
              <a:srgbClr val="64748B"/>
            </a:solidFill>
            <a:prstDash val="solid"/>
          </a:ln>
        </p:spPr>
        <p:txBody>
          <a:bodyPr/>
          <a:lstStyle/>
          <a:p>
            <a:endParaRPr lang="en-US"/>
          </a:p>
        </p:txBody>
      </p:sp>
      <p:sp>
        <p:nvSpPr>
          <p:cNvPr id="42" name="Text 40"/>
          <p:cNvSpPr/>
          <p:nvPr/>
        </p:nvSpPr>
        <p:spPr>
          <a:xfrm>
            <a:off x="457200" y="5248656"/>
            <a:ext cx="685800"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43" name="Shape 41"/>
          <p:cNvSpPr/>
          <p:nvPr/>
        </p:nvSpPr>
        <p:spPr>
          <a:xfrm>
            <a:off x="1207008" y="5248656"/>
            <a:ext cx="10515600" cy="402336"/>
          </a:xfrm>
          <a:prstGeom prst="rect">
            <a:avLst/>
          </a:prstGeom>
          <a:solidFill>
            <a:srgbClr val="F8FAFC"/>
          </a:solidFill>
          <a:ln w="9525">
            <a:solidFill>
              <a:srgbClr val="E2E8F0"/>
            </a:solidFill>
            <a:prstDash val="solid"/>
          </a:ln>
        </p:spPr>
        <p:txBody>
          <a:bodyPr/>
          <a:lstStyle/>
          <a:p>
            <a:endParaRPr lang="en-US"/>
          </a:p>
        </p:txBody>
      </p:sp>
      <p:sp>
        <p:nvSpPr>
          <p:cNvPr id="44" name="Text 42"/>
          <p:cNvSpPr/>
          <p:nvPr/>
        </p:nvSpPr>
        <p:spPr>
          <a:xfrm>
            <a:off x="1371600" y="5248656"/>
            <a:ext cx="4114800" cy="402336"/>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Data</a:t>
            </a:r>
            <a:endParaRPr lang="en-US" sz="1600" dirty="0"/>
          </a:p>
        </p:txBody>
      </p:sp>
      <p:sp>
        <p:nvSpPr>
          <p:cNvPr id="45" name="Text 43"/>
          <p:cNvSpPr/>
          <p:nvPr/>
        </p:nvSpPr>
        <p:spPr>
          <a:xfrm>
            <a:off x="5486400" y="5248656"/>
            <a:ext cx="6126480" cy="402336"/>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MySQL · non_purchasers_feedback (~1,200 rows) · chat_trace audit table</a:t>
            </a:r>
            <a:endParaRPr lang="en-US" sz="1400" dirty="0"/>
          </a:p>
        </p:txBody>
      </p:sp>
      <p:sp>
        <p:nvSpPr>
          <p:cNvPr id="46" name="Text 44"/>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27</a:t>
            </a:r>
            <a:endParaRPr lang="en-US" sz="900" dirty="0"/>
          </a:p>
        </p:txBody>
      </p:sp>
      <p:sp>
        <p:nvSpPr>
          <p:cNvPr id="47" name="Text 45"/>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COMPONENT CALL GRAPH</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r>
              <a:rPr lang="en-US" sz="2600" b="1" dirty="0">
                <a:solidFill>
                  <a:srgbClr val="0F172A"/>
                </a:solidFill>
                <a:latin typeface="Calibri" pitchFamily="34" charset="0"/>
                <a:ea typeface="Calibri" pitchFamily="34" charset="-122"/>
                <a:cs typeface="Calibri" pitchFamily="34" charset="-120"/>
              </a:rPr>
              <a:t>A Single Hub Topology </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pic>
        <p:nvPicPr>
          <p:cNvPr id="5" name="Image 0" descr="/home/claude/deck/topology_diagram.png"/>
          <p:cNvPicPr>
            <a:picLocks noChangeAspect="1"/>
          </p:cNvPicPr>
          <p:nvPr/>
        </p:nvPicPr>
        <p:blipFill>
          <a:blip r:embed="rId3"/>
          <a:stretch>
            <a:fillRect/>
          </a:stretch>
        </p:blipFill>
        <p:spPr>
          <a:xfrm>
            <a:off x="98854" y="1325880"/>
            <a:ext cx="6535296" cy="5148008"/>
          </a:xfrm>
          <a:prstGeom prst="rect">
            <a:avLst/>
          </a:prstGeom>
        </p:spPr>
      </p:pic>
      <p:sp>
        <p:nvSpPr>
          <p:cNvPr id="6" name="Shape 3"/>
          <p:cNvSpPr/>
          <p:nvPr/>
        </p:nvSpPr>
        <p:spPr>
          <a:xfrm>
            <a:off x="6543347" y="1325880"/>
            <a:ext cx="2194560" cy="4937760"/>
          </a:xfrm>
          <a:prstGeom prst="rect">
            <a:avLst/>
          </a:prstGeom>
          <a:solidFill>
            <a:srgbClr val="F8FAFC"/>
          </a:solidFill>
          <a:ln w="9525">
            <a:solidFill>
              <a:srgbClr val="E2E8F0"/>
            </a:solidFill>
            <a:prstDash val="solid"/>
          </a:ln>
        </p:spPr>
        <p:txBody>
          <a:bodyPr/>
          <a:lstStyle/>
          <a:p>
            <a:endParaRPr lang="en-US"/>
          </a:p>
        </p:txBody>
      </p:sp>
      <p:sp>
        <p:nvSpPr>
          <p:cNvPr id="7" name="Shape 4"/>
          <p:cNvSpPr/>
          <p:nvPr/>
        </p:nvSpPr>
        <p:spPr>
          <a:xfrm>
            <a:off x="6543347" y="1325880"/>
            <a:ext cx="73152" cy="493776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670868" y="1524004"/>
            <a:ext cx="1920240" cy="274320"/>
          </a:xfrm>
          <a:prstGeom prst="rect">
            <a:avLst/>
          </a:prstGeom>
          <a:noFill/>
          <a:ln/>
        </p:spPr>
        <p:txBody>
          <a:bodyPr wrap="square" lIns="0" tIns="0" rIns="0" bIns="0" rtlCol="0" anchor="ctr"/>
          <a:lstStyle/>
          <a:p>
            <a:pPr marL="0" indent="0">
              <a:buNone/>
            </a:pPr>
            <a:r>
              <a:rPr lang="en-US" sz="1600" b="1" kern="0" spc="300" dirty="0">
                <a:solidFill>
                  <a:srgbClr val="1E293B"/>
                </a:solidFill>
                <a:latin typeface="Calibri" pitchFamily="34" charset="0"/>
                <a:ea typeface="Calibri" pitchFamily="34" charset="-122"/>
                <a:cs typeface="Calibri" pitchFamily="34" charset="-120"/>
              </a:rPr>
              <a:t>WHY THIS SHAPE</a:t>
            </a:r>
            <a:endParaRPr lang="en-US" sz="1600" dirty="0"/>
          </a:p>
        </p:txBody>
      </p:sp>
      <p:sp>
        <p:nvSpPr>
          <p:cNvPr id="9" name="Text 6"/>
          <p:cNvSpPr/>
          <p:nvPr/>
        </p:nvSpPr>
        <p:spPr>
          <a:xfrm>
            <a:off x="6707939" y="2221991"/>
            <a:ext cx="1920240" cy="44348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Every agent is connected only to the Orchestrator. </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0F172A"/>
                </a:solidFill>
                <a:latin typeface="Calibri" pitchFamily="34" charset="0"/>
                <a:ea typeface="Calibri" pitchFamily="34" charset="-122"/>
                <a:cs typeface="Calibri" pitchFamily="34" charset="-120"/>
              </a:rPr>
              <a:t>Every tool is connected only to the Orchestrator. </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i="1" dirty="0">
                <a:solidFill>
                  <a:srgbClr val="0F766E"/>
                </a:solidFill>
                <a:latin typeface="Calibri" pitchFamily="34" charset="0"/>
                <a:ea typeface="Calibri" pitchFamily="34" charset="-122"/>
                <a:cs typeface="Calibri" pitchFamily="34" charset="-120"/>
              </a:rPr>
              <a:t>No agent ever calls another agent. No agent ever calls a tool. </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dirty="0">
                <a:solidFill>
                  <a:srgbClr val="334155"/>
                </a:solidFill>
                <a:latin typeface="Calibri" pitchFamily="34" charset="0"/>
                <a:ea typeface="Calibri" pitchFamily="34" charset="-122"/>
                <a:cs typeface="Calibri" pitchFamily="34" charset="-120"/>
              </a:rPr>
              <a:t>The hub-and-spoke shape is the design statement.</a:t>
            </a:r>
            <a:endParaRPr lang="en-US" sz="1400" dirty="0"/>
          </a:p>
        </p:txBody>
      </p:sp>
      <p:sp>
        <p:nvSpPr>
          <p:cNvPr id="10" name="Shape 7"/>
          <p:cNvSpPr/>
          <p:nvPr/>
        </p:nvSpPr>
        <p:spPr>
          <a:xfrm>
            <a:off x="9131986" y="1325881"/>
            <a:ext cx="2194560" cy="4937760"/>
          </a:xfrm>
          <a:prstGeom prst="rect">
            <a:avLst/>
          </a:prstGeom>
          <a:solidFill>
            <a:srgbClr val="CCFBF1"/>
          </a:solidFill>
          <a:ln w="6350">
            <a:solidFill>
              <a:srgbClr val="0F766E"/>
            </a:solidFill>
            <a:prstDash val="solid"/>
          </a:ln>
        </p:spPr>
        <p:txBody>
          <a:bodyPr/>
          <a:lstStyle/>
          <a:p>
            <a:endParaRPr lang="en-US"/>
          </a:p>
        </p:txBody>
      </p:sp>
      <p:sp>
        <p:nvSpPr>
          <p:cNvPr id="11" name="Text 8"/>
          <p:cNvSpPr/>
          <p:nvPr/>
        </p:nvSpPr>
        <p:spPr>
          <a:xfrm>
            <a:off x="9269146" y="2744674"/>
            <a:ext cx="2057400" cy="1311634"/>
          </a:xfrm>
          <a:prstGeom prst="rect">
            <a:avLst/>
          </a:prstGeom>
          <a:noFill/>
          <a:ln/>
        </p:spPr>
        <p:txBody>
          <a:bodyPr wrap="square" lIns="0" tIns="0" rIns="0" bIns="0" rtlCol="0" anchor="ctr"/>
          <a:lstStyle/>
          <a:p>
            <a:r>
              <a:rPr lang="en-US" sz="1400" dirty="0">
                <a:solidFill>
                  <a:srgbClr val="334155"/>
                </a:solidFill>
                <a:latin typeface="Calibri" pitchFamily="34" charset="0"/>
                <a:ea typeface="Calibri" pitchFamily="34" charset="-122"/>
                <a:cs typeface="Calibri" pitchFamily="34" charset="-120"/>
              </a:rPr>
              <a:t>single place to set retry budgets  </a:t>
            </a:r>
          </a:p>
          <a:p>
            <a:pPr marL="0" indent="0">
              <a:buNone/>
            </a:pPr>
            <a:endParaRPr lang="en-US" sz="1400" dirty="0">
              <a:solidFill>
                <a:srgbClr val="334155"/>
              </a:solidFill>
              <a:latin typeface="Calibri" pitchFamily="34" charset="0"/>
              <a:ea typeface="Calibri" pitchFamily="34" charset="-122"/>
              <a:cs typeface="Calibri" pitchFamily="34" charset="-120"/>
            </a:endParaRPr>
          </a:p>
          <a:p>
            <a:pPr marL="0" indent="0">
              <a:buNone/>
            </a:pPr>
            <a:r>
              <a:rPr lang="en-US" sz="1400" dirty="0">
                <a:solidFill>
                  <a:srgbClr val="334155"/>
                </a:solidFill>
                <a:latin typeface="Calibri" pitchFamily="34" charset="0"/>
                <a:ea typeface="Calibri" pitchFamily="34" charset="-122"/>
                <a:cs typeface="Calibri" pitchFamily="34" charset="-120"/>
              </a:rPr>
              <a:t>log every step  </a:t>
            </a:r>
          </a:p>
          <a:p>
            <a:pPr marL="0" indent="0">
              <a:buNone/>
            </a:pPr>
            <a:endParaRPr lang="en-US" sz="1400" dirty="0">
              <a:solidFill>
                <a:srgbClr val="334155"/>
              </a:solidFill>
              <a:latin typeface="Calibri" pitchFamily="34" charset="0"/>
              <a:ea typeface="Calibri" pitchFamily="34" charset="-122"/>
              <a:cs typeface="Calibri" pitchFamily="34" charset="-120"/>
            </a:endParaRPr>
          </a:p>
          <a:p>
            <a:pPr marL="0" indent="0">
              <a:buNone/>
            </a:pPr>
            <a:r>
              <a:rPr lang="en-US" sz="1400" dirty="0">
                <a:solidFill>
                  <a:srgbClr val="334155"/>
                </a:solidFill>
                <a:latin typeface="Calibri" pitchFamily="34" charset="0"/>
                <a:ea typeface="Calibri" pitchFamily="34" charset="-122"/>
                <a:cs typeface="Calibri" pitchFamily="34" charset="-120"/>
              </a:rPr>
              <a:t>apply safety guards  </a:t>
            </a:r>
          </a:p>
          <a:p>
            <a:pPr marL="0" indent="0">
              <a:buNone/>
            </a:pPr>
            <a:endParaRPr lang="en-US" sz="1400" dirty="0">
              <a:solidFill>
                <a:srgbClr val="334155"/>
              </a:solidFill>
              <a:latin typeface="Calibri" pitchFamily="34" charset="0"/>
              <a:ea typeface="Calibri" pitchFamily="34" charset="-122"/>
              <a:cs typeface="Calibri" pitchFamily="34" charset="-120"/>
            </a:endParaRPr>
          </a:p>
          <a:p>
            <a:pPr marL="0" indent="0">
              <a:buNone/>
            </a:pPr>
            <a:r>
              <a:rPr lang="en-US" sz="1400" dirty="0">
                <a:solidFill>
                  <a:srgbClr val="334155"/>
                </a:solidFill>
                <a:latin typeface="Calibri" pitchFamily="34" charset="0"/>
                <a:ea typeface="Calibri" pitchFamily="34" charset="-122"/>
                <a:cs typeface="Calibri" pitchFamily="34" charset="-120"/>
              </a:rPr>
              <a:t>audit every tool call  </a:t>
            </a:r>
          </a:p>
          <a:p>
            <a:pPr marL="0" indent="0">
              <a:buNone/>
            </a:pPr>
            <a:endParaRPr lang="en-US" sz="1400" dirty="0">
              <a:solidFill>
                <a:srgbClr val="334155"/>
              </a:solidFill>
              <a:latin typeface="Calibri" pitchFamily="34" charset="0"/>
              <a:ea typeface="Calibri" pitchFamily="34" charset="-122"/>
              <a:cs typeface="Calibri" pitchFamily="34" charset="-120"/>
            </a:endParaRPr>
          </a:p>
          <a:p>
            <a:pPr marL="0" indent="0">
              <a:buNone/>
            </a:pPr>
            <a:r>
              <a:rPr lang="en-US" sz="1400" dirty="0">
                <a:solidFill>
                  <a:srgbClr val="334155"/>
                </a:solidFill>
                <a:latin typeface="Calibri" pitchFamily="34" charset="0"/>
                <a:ea typeface="Calibri" pitchFamily="34" charset="-122"/>
                <a:cs typeface="Calibri" pitchFamily="34" charset="-120"/>
              </a:rPr>
              <a:t>read control flow top-to-bottom in one Python file</a:t>
            </a:r>
            <a:endParaRPr lang="en-US" sz="1400" dirty="0"/>
          </a:p>
        </p:txBody>
      </p:sp>
      <p:sp>
        <p:nvSpPr>
          <p:cNvPr id="12" name="Text 9"/>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27</a:t>
            </a:r>
            <a:endParaRPr lang="en-US" sz="900" dirty="0"/>
          </a:p>
        </p:txBody>
      </p:sp>
      <p:sp>
        <p:nvSpPr>
          <p:cNvPr id="13" name="Text 10"/>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
        <p:nvSpPr>
          <p:cNvPr id="14" name="Text 5">
            <a:extLst>
              <a:ext uri="{FF2B5EF4-FFF2-40B4-BE49-F238E27FC236}">
                <a16:creationId xmlns:a16="http://schemas.microsoft.com/office/drawing/2014/main" id="{C1546BB4-74DA-7B25-E40E-BC9F00D313A9}"/>
              </a:ext>
            </a:extLst>
          </p:cNvPr>
          <p:cNvSpPr/>
          <p:nvPr/>
        </p:nvSpPr>
        <p:spPr>
          <a:xfrm>
            <a:off x="9256789" y="1524004"/>
            <a:ext cx="1920240" cy="274320"/>
          </a:xfrm>
          <a:prstGeom prst="rect">
            <a:avLst/>
          </a:prstGeom>
          <a:noFill/>
          <a:ln/>
        </p:spPr>
        <p:txBody>
          <a:bodyPr wrap="square" lIns="0" tIns="0" rIns="0" bIns="0" rtlCol="0" anchor="ctr"/>
          <a:lstStyle/>
          <a:p>
            <a:pPr marL="0" indent="0">
              <a:buNone/>
            </a:pPr>
            <a:r>
              <a:rPr lang="en-US" sz="1600" b="1" kern="0" spc="300" dirty="0">
                <a:solidFill>
                  <a:srgbClr val="00B050"/>
                </a:solidFill>
                <a:latin typeface="Calibri" pitchFamily="34" charset="0"/>
                <a:ea typeface="Calibri" pitchFamily="34" charset="-122"/>
                <a:cs typeface="Calibri" pitchFamily="34" charset="-120"/>
              </a:rPr>
              <a:t>FIVE CONCRETE BENEFITS</a:t>
            </a:r>
            <a:endParaRPr lang="en-US" sz="1600" dirty="0">
              <a:solidFill>
                <a:srgbClr val="00B050"/>
              </a:solidFill>
            </a:endParaRPr>
          </a:p>
        </p:txBody>
      </p:sp>
      <p:sp>
        <p:nvSpPr>
          <p:cNvPr id="15" name="Shape 4">
            <a:extLst>
              <a:ext uri="{FF2B5EF4-FFF2-40B4-BE49-F238E27FC236}">
                <a16:creationId xmlns:a16="http://schemas.microsoft.com/office/drawing/2014/main" id="{C18BBB12-C829-B77D-DD0E-5C931D358877}"/>
              </a:ext>
            </a:extLst>
          </p:cNvPr>
          <p:cNvSpPr/>
          <p:nvPr/>
        </p:nvSpPr>
        <p:spPr>
          <a:xfrm>
            <a:off x="9132986" y="1317812"/>
            <a:ext cx="73152" cy="4937760"/>
          </a:xfrm>
          <a:prstGeom prst="rect">
            <a:avLst/>
          </a:prstGeom>
          <a:solidFill>
            <a:srgbClr val="00B050"/>
          </a:solidFill>
          <a:ln w="12700">
            <a:no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THE MOST CONSEQUENTIAL CHOICE</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Single-Hub Orchestrator  vs  MCP / Tool-Use Loop</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508760"/>
            <a:ext cx="5440680" cy="4023360"/>
          </a:xfrm>
          <a:prstGeom prst="rect">
            <a:avLst/>
          </a:prstGeom>
          <a:solidFill>
            <a:srgbClr val="F8FAFC"/>
          </a:solidFill>
          <a:ln w="9525">
            <a:solidFill>
              <a:srgbClr val="E2E8F0"/>
            </a:solidFill>
            <a:prstDash val="solid"/>
          </a:ln>
        </p:spPr>
        <p:txBody>
          <a:bodyPr/>
          <a:lstStyle/>
          <a:p>
            <a:endParaRPr lang="en-US"/>
          </a:p>
        </p:txBody>
      </p:sp>
      <p:sp>
        <p:nvSpPr>
          <p:cNvPr id="6" name="Text 4"/>
          <p:cNvSpPr/>
          <p:nvPr/>
        </p:nvSpPr>
        <p:spPr>
          <a:xfrm>
            <a:off x="640080" y="1645920"/>
            <a:ext cx="5166360" cy="274320"/>
          </a:xfrm>
          <a:prstGeom prst="rect">
            <a:avLst/>
          </a:prstGeom>
          <a:noFill/>
          <a:ln/>
        </p:spPr>
        <p:txBody>
          <a:bodyPr wrap="square" lIns="0" tIns="0" rIns="0" bIns="0" rtlCol="0" anchor="ctr"/>
          <a:lstStyle/>
          <a:p>
            <a:pPr marL="0" indent="0">
              <a:buNone/>
            </a:pPr>
            <a:r>
              <a:rPr lang="en-US" sz="1400" b="1" kern="0" spc="300" dirty="0">
                <a:solidFill>
                  <a:srgbClr val="B91C1C"/>
                </a:solidFill>
                <a:latin typeface="Calibri" pitchFamily="34" charset="0"/>
                <a:ea typeface="Calibri" pitchFamily="34" charset="-122"/>
                <a:cs typeface="Calibri" pitchFamily="34" charset="-120"/>
              </a:rPr>
              <a:t>AUTONOMOUS AGENT LOOP-REJECTED</a:t>
            </a:r>
            <a:endParaRPr lang="en-US" sz="1400" dirty="0"/>
          </a:p>
        </p:txBody>
      </p:sp>
      <p:sp>
        <p:nvSpPr>
          <p:cNvPr id="7" name="Text 5"/>
          <p:cNvSpPr/>
          <p:nvPr/>
        </p:nvSpPr>
        <p:spPr>
          <a:xfrm>
            <a:off x="640080" y="1920240"/>
            <a:ext cx="5166360" cy="2743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MCP servers · LangGraph · AutoGen · Anthropic tool_use</a:t>
            </a:r>
            <a:endParaRPr lang="en-US" sz="1400" dirty="0"/>
          </a:p>
        </p:txBody>
      </p:sp>
      <p:sp>
        <p:nvSpPr>
          <p:cNvPr id="8" name="Text 6"/>
          <p:cNvSpPr/>
          <p:nvPr/>
        </p:nvSpPr>
        <p:spPr>
          <a:xfrm>
            <a:off x="640080" y="2286000"/>
            <a:ext cx="5166360" cy="41148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Single LLM decides at each step which tool to invoke next.</a:t>
            </a:r>
            <a:endParaRPr lang="en-US" sz="1400" dirty="0"/>
          </a:p>
        </p:txBody>
      </p:sp>
      <p:sp>
        <p:nvSpPr>
          <p:cNvPr id="9" name="Shape 7"/>
          <p:cNvSpPr/>
          <p:nvPr/>
        </p:nvSpPr>
        <p:spPr>
          <a:xfrm>
            <a:off x="685800" y="2834640"/>
            <a:ext cx="109728" cy="109728"/>
          </a:xfrm>
          <a:prstGeom prst="ellipse">
            <a:avLst/>
          </a:prstGeom>
          <a:solidFill>
            <a:srgbClr val="15803D"/>
          </a:solidFill>
          <a:ln w="12700">
            <a:solidFill>
              <a:srgbClr val="333333"/>
            </a:solidFill>
            <a:prstDash val="solid"/>
          </a:ln>
        </p:spPr>
        <p:txBody>
          <a:bodyPr/>
          <a:lstStyle/>
          <a:p>
            <a:endParaRPr lang="en-US"/>
          </a:p>
        </p:txBody>
      </p:sp>
      <p:sp>
        <p:nvSpPr>
          <p:cNvPr id="10" name="Text 8"/>
          <p:cNvSpPr/>
          <p:nvPr/>
        </p:nvSpPr>
        <p:spPr>
          <a:xfrm>
            <a:off x="914400" y="275234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Flexible - agent navigates problems it was not programmed for</a:t>
            </a:r>
            <a:endParaRPr lang="en-US" sz="1400" dirty="0"/>
          </a:p>
        </p:txBody>
      </p:sp>
      <p:sp>
        <p:nvSpPr>
          <p:cNvPr id="11" name="Shape 9"/>
          <p:cNvSpPr/>
          <p:nvPr/>
        </p:nvSpPr>
        <p:spPr>
          <a:xfrm>
            <a:off x="685800" y="3337560"/>
            <a:ext cx="109728" cy="109728"/>
          </a:xfrm>
          <a:prstGeom prst="ellipse">
            <a:avLst/>
          </a:prstGeom>
          <a:solidFill>
            <a:srgbClr val="B91C1C"/>
          </a:solidFill>
          <a:ln w="12700">
            <a:solidFill>
              <a:srgbClr val="333333"/>
            </a:solidFill>
            <a:prstDash val="solid"/>
          </a:ln>
        </p:spPr>
        <p:txBody>
          <a:bodyPr/>
          <a:lstStyle/>
          <a:p>
            <a:endParaRPr lang="en-US"/>
          </a:p>
        </p:txBody>
      </p:sp>
      <p:sp>
        <p:nvSpPr>
          <p:cNvPr id="12" name="Text 10"/>
          <p:cNvSpPr/>
          <p:nvPr/>
        </p:nvSpPr>
        <p:spPr>
          <a:xfrm>
            <a:off x="914400" y="325526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Worst-case cost is unbounded</a:t>
            </a:r>
            <a:endParaRPr lang="en-US" sz="1400" dirty="0"/>
          </a:p>
        </p:txBody>
      </p:sp>
      <p:sp>
        <p:nvSpPr>
          <p:cNvPr id="13" name="Shape 11"/>
          <p:cNvSpPr/>
          <p:nvPr/>
        </p:nvSpPr>
        <p:spPr>
          <a:xfrm>
            <a:off x="685800" y="3840480"/>
            <a:ext cx="109728" cy="109728"/>
          </a:xfrm>
          <a:prstGeom prst="ellipse">
            <a:avLst/>
          </a:prstGeom>
          <a:solidFill>
            <a:srgbClr val="B91C1C"/>
          </a:solidFill>
          <a:ln w="12700">
            <a:solidFill>
              <a:srgbClr val="333333"/>
            </a:solidFill>
            <a:prstDash val="solid"/>
          </a:ln>
        </p:spPr>
        <p:txBody>
          <a:bodyPr/>
          <a:lstStyle/>
          <a:p>
            <a:endParaRPr lang="en-US"/>
          </a:p>
        </p:txBody>
      </p:sp>
      <p:sp>
        <p:nvSpPr>
          <p:cNvPr id="14" name="Text 12"/>
          <p:cNvSpPr/>
          <p:nvPr/>
        </p:nvSpPr>
        <p:spPr>
          <a:xfrm>
            <a:off x="914400" y="375818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Retry budgets are hard to enforce</a:t>
            </a:r>
            <a:endParaRPr lang="en-US" sz="1400" dirty="0"/>
          </a:p>
        </p:txBody>
      </p:sp>
      <p:sp>
        <p:nvSpPr>
          <p:cNvPr id="15" name="Shape 13"/>
          <p:cNvSpPr/>
          <p:nvPr/>
        </p:nvSpPr>
        <p:spPr>
          <a:xfrm>
            <a:off x="685800" y="4343400"/>
            <a:ext cx="109728" cy="109728"/>
          </a:xfrm>
          <a:prstGeom prst="ellipse">
            <a:avLst/>
          </a:prstGeom>
          <a:solidFill>
            <a:srgbClr val="B91C1C"/>
          </a:solidFill>
          <a:ln w="12700">
            <a:solidFill>
              <a:srgbClr val="333333"/>
            </a:solidFill>
            <a:prstDash val="solid"/>
          </a:ln>
        </p:spPr>
        <p:txBody>
          <a:bodyPr/>
          <a:lstStyle/>
          <a:p>
            <a:endParaRPr lang="en-US"/>
          </a:p>
        </p:txBody>
      </p:sp>
      <p:sp>
        <p:nvSpPr>
          <p:cNvPr id="16" name="Text 14"/>
          <p:cNvSpPr/>
          <p:nvPr/>
        </p:nvSpPr>
        <p:spPr>
          <a:xfrm>
            <a:off x="914400" y="426110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Tracing requires decoding the LLM's tool-use rationale</a:t>
            </a:r>
            <a:endParaRPr lang="en-US" sz="1400" dirty="0"/>
          </a:p>
        </p:txBody>
      </p:sp>
      <p:sp>
        <p:nvSpPr>
          <p:cNvPr id="17" name="Shape 15"/>
          <p:cNvSpPr/>
          <p:nvPr/>
        </p:nvSpPr>
        <p:spPr>
          <a:xfrm>
            <a:off x="685800" y="4846320"/>
            <a:ext cx="109728" cy="109728"/>
          </a:xfrm>
          <a:prstGeom prst="ellipse">
            <a:avLst/>
          </a:prstGeom>
          <a:solidFill>
            <a:srgbClr val="B91C1C"/>
          </a:solidFill>
          <a:ln w="12700">
            <a:solidFill>
              <a:srgbClr val="333333"/>
            </a:solidFill>
            <a:prstDash val="solid"/>
          </a:ln>
        </p:spPr>
        <p:txBody>
          <a:bodyPr/>
          <a:lstStyle/>
          <a:p>
            <a:endParaRPr lang="en-US"/>
          </a:p>
        </p:txBody>
      </p:sp>
      <p:sp>
        <p:nvSpPr>
          <p:cNvPr id="18" name="Text 16"/>
          <p:cNvSpPr/>
          <p:nvPr/>
        </p:nvSpPr>
        <p:spPr>
          <a:xfrm>
            <a:off x="914400" y="476402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Cost ceilings drift as the model decides its own loop length</a:t>
            </a:r>
            <a:endParaRPr lang="en-US" sz="1400" dirty="0"/>
          </a:p>
        </p:txBody>
      </p:sp>
      <p:sp>
        <p:nvSpPr>
          <p:cNvPr id="19" name="Shape 17"/>
          <p:cNvSpPr/>
          <p:nvPr/>
        </p:nvSpPr>
        <p:spPr>
          <a:xfrm>
            <a:off x="6263640" y="1508760"/>
            <a:ext cx="5440680" cy="4023360"/>
          </a:xfrm>
          <a:prstGeom prst="rect">
            <a:avLst/>
          </a:prstGeom>
          <a:solidFill>
            <a:srgbClr val="F0FDF4"/>
          </a:solidFill>
          <a:ln w="7620">
            <a:solidFill>
              <a:srgbClr val="15803D"/>
            </a:solidFill>
            <a:prstDash val="solid"/>
          </a:ln>
        </p:spPr>
        <p:txBody>
          <a:bodyPr/>
          <a:lstStyle/>
          <a:p>
            <a:endParaRPr lang="en-US"/>
          </a:p>
        </p:txBody>
      </p:sp>
      <p:sp>
        <p:nvSpPr>
          <p:cNvPr id="20" name="Text 18"/>
          <p:cNvSpPr/>
          <p:nvPr/>
        </p:nvSpPr>
        <p:spPr>
          <a:xfrm>
            <a:off x="6446520" y="1645920"/>
            <a:ext cx="5166360" cy="274320"/>
          </a:xfrm>
          <a:prstGeom prst="rect">
            <a:avLst/>
          </a:prstGeom>
          <a:noFill/>
          <a:ln/>
        </p:spPr>
        <p:txBody>
          <a:bodyPr wrap="square" lIns="0" tIns="0" rIns="0" bIns="0" rtlCol="0" anchor="ctr"/>
          <a:lstStyle/>
          <a:p>
            <a:pPr marL="0" indent="0">
              <a:buNone/>
            </a:pPr>
            <a:r>
              <a:rPr lang="en-US" sz="1400" b="1" kern="0" spc="300" dirty="0">
                <a:solidFill>
                  <a:srgbClr val="15803D"/>
                </a:solidFill>
                <a:latin typeface="Calibri" pitchFamily="34" charset="0"/>
                <a:ea typeface="Calibri" pitchFamily="34" charset="-122"/>
                <a:cs typeface="Calibri" pitchFamily="34" charset="-120"/>
              </a:rPr>
              <a:t>RULE-BASED PYTHON ORCHESTRATOR-CHOSEN</a:t>
            </a:r>
            <a:endParaRPr lang="en-US" sz="1400" dirty="0"/>
          </a:p>
        </p:txBody>
      </p:sp>
      <p:sp>
        <p:nvSpPr>
          <p:cNvPr id="21" name="Text 19"/>
          <p:cNvSpPr/>
          <p:nvPr/>
        </p:nvSpPr>
        <p:spPr>
          <a:xfrm>
            <a:off x="6446520" y="1920240"/>
            <a:ext cx="5166360" cy="2743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agents/orchestrator.py · ~679 lines · zero LLM in routing logic</a:t>
            </a:r>
            <a:endParaRPr lang="en-US" sz="1400" dirty="0"/>
          </a:p>
        </p:txBody>
      </p:sp>
      <p:sp>
        <p:nvSpPr>
          <p:cNvPr id="22" name="Text 20"/>
          <p:cNvSpPr/>
          <p:nvPr/>
        </p:nvSpPr>
        <p:spPr>
          <a:xfrm>
            <a:off x="6446520" y="2286000"/>
            <a:ext cx="5166360" cy="41148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LLMs emit structured text. Python parses and dispatches.</a:t>
            </a:r>
            <a:endParaRPr lang="en-US" sz="1400" dirty="0"/>
          </a:p>
        </p:txBody>
      </p:sp>
      <p:sp>
        <p:nvSpPr>
          <p:cNvPr id="23" name="Shape 21"/>
          <p:cNvSpPr/>
          <p:nvPr/>
        </p:nvSpPr>
        <p:spPr>
          <a:xfrm>
            <a:off x="6492240" y="2834640"/>
            <a:ext cx="109728" cy="109728"/>
          </a:xfrm>
          <a:prstGeom prst="ellipse">
            <a:avLst/>
          </a:prstGeom>
          <a:solidFill>
            <a:srgbClr val="15803D"/>
          </a:solidFill>
          <a:ln w="12700">
            <a:solidFill>
              <a:srgbClr val="333333"/>
            </a:solidFill>
            <a:prstDash val="solid"/>
          </a:ln>
        </p:spPr>
        <p:txBody>
          <a:bodyPr/>
          <a:lstStyle/>
          <a:p>
            <a:endParaRPr lang="en-US"/>
          </a:p>
        </p:txBody>
      </p:sp>
      <p:sp>
        <p:nvSpPr>
          <p:cNvPr id="24" name="Text 22"/>
          <p:cNvSpPr/>
          <p:nvPr/>
        </p:nvSpPr>
        <p:spPr>
          <a:xfrm>
            <a:off x="6720840" y="275234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Worst-case cost is bounded by retry budgets</a:t>
            </a:r>
            <a:endParaRPr lang="en-US" sz="1400" dirty="0"/>
          </a:p>
        </p:txBody>
      </p:sp>
      <p:sp>
        <p:nvSpPr>
          <p:cNvPr id="25" name="Shape 23"/>
          <p:cNvSpPr/>
          <p:nvPr/>
        </p:nvSpPr>
        <p:spPr>
          <a:xfrm>
            <a:off x="6492240" y="3337560"/>
            <a:ext cx="109728" cy="109728"/>
          </a:xfrm>
          <a:prstGeom prst="ellipse">
            <a:avLst/>
          </a:prstGeom>
          <a:solidFill>
            <a:srgbClr val="15803D"/>
          </a:solidFill>
          <a:ln w="12700">
            <a:solidFill>
              <a:srgbClr val="333333"/>
            </a:solidFill>
            <a:prstDash val="solid"/>
          </a:ln>
        </p:spPr>
        <p:txBody>
          <a:bodyPr/>
          <a:lstStyle/>
          <a:p>
            <a:endParaRPr lang="en-US"/>
          </a:p>
        </p:txBody>
      </p:sp>
      <p:sp>
        <p:nvSpPr>
          <p:cNvPr id="26" name="Text 24"/>
          <p:cNvSpPr/>
          <p:nvPr/>
        </p:nvSpPr>
        <p:spPr>
          <a:xfrm>
            <a:off x="6720840" y="325526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Retry budgets enforced by Python, not by the LLM</a:t>
            </a:r>
            <a:endParaRPr lang="en-US" sz="1400" dirty="0"/>
          </a:p>
        </p:txBody>
      </p:sp>
      <p:sp>
        <p:nvSpPr>
          <p:cNvPr id="27" name="Shape 25"/>
          <p:cNvSpPr/>
          <p:nvPr/>
        </p:nvSpPr>
        <p:spPr>
          <a:xfrm>
            <a:off x="6492240" y="3840480"/>
            <a:ext cx="109728" cy="109728"/>
          </a:xfrm>
          <a:prstGeom prst="ellipse">
            <a:avLst/>
          </a:prstGeom>
          <a:solidFill>
            <a:srgbClr val="15803D"/>
          </a:solidFill>
          <a:ln w="12700">
            <a:solidFill>
              <a:srgbClr val="333333"/>
            </a:solidFill>
            <a:prstDash val="solid"/>
          </a:ln>
        </p:spPr>
        <p:txBody>
          <a:bodyPr/>
          <a:lstStyle/>
          <a:p>
            <a:endParaRPr lang="en-US"/>
          </a:p>
        </p:txBody>
      </p:sp>
      <p:sp>
        <p:nvSpPr>
          <p:cNvPr id="28" name="Text 26"/>
          <p:cNvSpPr/>
          <p:nvPr/>
        </p:nvSpPr>
        <p:spPr>
          <a:xfrm>
            <a:off x="6720840" y="375818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Every tool call goes through one auditable control-flow point</a:t>
            </a:r>
            <a:endParaRPr lang="en-US" sz="1400" dirty="0"/>
          </a:p>
        </p:txBody>
      </p:sp>
      <p:sp>
        <p:nvSpPr>
          <p:cNvPr id="29" name="Shape 27"/>
          <p:cNvSpPr/>
          <p:nvPr/>
        </p:nvSpPr>
        <p:spPr>
          <a:xfrm>
            <a:off x="6492240" y="4343400"/>
            <a:ext cx="109728" cy="109728"/>
          </a:xfrm>
          <a:prstGeom prst="ellipse">
            <a:avLst/>
          </a:prstGeom>
          <a:solidFill>
            <a:srgbClr val="15803D"/>
          </a:solidFill>
          <a:ln w="12700">
            <a:solidFill>
              <a:srgbClr val="333333"/>
            </a:solidFill>
            <a:prstDash val="solid"/>
          </a:ln>
        </p:spPr>
        <p:txBody>
          <a:bodyPr/>
          <a:lstStyle/>
          <a:p>
            <a:endParaRPr lang="en-US"/>
          </a:p>
        </p:txBody>
      </p:sp>
      <p:sp>
        <p:nvSpPr>
          <p:cNvPr id="30" name="Text 28"/>
          <p:cNvSpPr/>
          <p:nvPr/>
        </p:nvSpPr>
        <p:spPr>
          <a:xfrm>
            <a:off x="6720840" y="426110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No tool-use round trips inflate cost</a:t>
            </a:r>
            <a:endParaRPr lang="en-US" sz="1400" dirty="0"/>
          </a:p>
        </p:txBody>
      </p:sp>
      <p:sp>
        <p:nvSpPr>
          <p:cNvPr id="31" name="Shape 29"/>
          <p:cNvSpPr/>
          <p:nvPr/>
        </p:nvSpPr>
        <p:spPr>
          <a:xfrm>
            <a:off x="6492240" y="4846320"/>
            <a:ext cx="109728" cy="109728"/>
          </a:xfrm>
          <a:prstGeom prst="ellipse">
            <a:avLst/>
          </a:prstGeom>
          <a:solidFill>
            <a:srgbClr val="15803D"/>
          </a:solidFill>
          <a:ln w="12700">
            <a:solidFill>
              <a:srgbClr val="333333"/>
            </a:solidFill>
            <a:prstDash val="solid"/>
          </a:ln>
        </p:spPr>
        <p:txBody>
          <a:bodyPr/>
          <a:lstStyle/>
          <a:p>
            <a:endParaRPr lang="en-US"/>
          </a:p>
        </p:txBody>
      </p:sp>
      <p:sp>
        <p:nvSpPr>
          <p:cNvPr id="32" name="Text 30"/>
          <p:cNvSpPr/>
          <p:nvPr/>
        </p:nvSpPr>
        <p:spPr>
          <a:xfrm>
            <a:off x="6720840" y="4764024"/>
            <a:ext cx="489204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Debugging is reading Python, not decoding LLM rationale</a:t>
            </a:r>
            <a:endParaRPr lang="en-US" sz="1400" dirty="0"/>
          </a:p>
        </p:txBody>
      </p:sp>
      <p:sp>
        <p:nvSpPr>
          <p:cNvPr id="33" name="Shape 31"/>
          <p:cNvSpPr/>
          <p:nvPr/>
        </p:nvSpPr>
        <p:spPr>
          <a:xfrm>
            <a:off x="457200" y="5760720"/>
            <a:ext cx="11247120" cy="685800"/>
          </a:xfrm>
          <a:prstGeom prst="rect">
            <a:avLst/>
          </a:prstGeom>
          <a:solidFill>
            <a:srgbClr val="F8FAFC"/>
          </a:solidFill>
          <a:ln w="9525">
            <a:solidFill>
              <a:srgbClr val="E2E8F0"/>
            </a:solidFill>
            <a:prstDash val="solid"/>
          </a:ln>
        </p:spPr>
        <p:txBody>
          <a:bodyPr/>
          <a:lstStyle/>
          <a:p>
            <a:endParaRPr lang="en-US"/>
          </a:p>
        </p:txBody>
      </p:sp>
      <p:sp>
        <p:nvSpPr>
          <p:cNvPr id="34" name="Text 32"/>
          <p:cNvSpPr/>
          <p:nvPr/>
        </p:nvSpPr>
        <p:spPr>
          <a:xfrm>
            <a:off x="685800" y="5852160"/>
            <a:ext cx="10789920" cy="502920"/>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Trade-off accepted:  </a:t>
            </a:r>
            <a:r>
              <a:rPr lang="en-US" sz="1400" dirty="0">
                <a:solidFill>
                  <a:srgbClr val="334155"/>
                </a:solidFill>
                <a:latin typeface="Calibri" pitchFamily="34" charset="0"/>
                <a:ea typeface="Calibri" pitchFamily="34" charset="-122"/>
                <a:cs typeface="Calibri" pitchFamily="34" charset="-120"/>
              </a:rPr>
              <a:t>less flexibility on never-seen problems.  </a:t>
            </a:r>
            <a:r>
              <a:rPr lang="en-US" sz="1400" b="1" dirty="0">
                <a:solidFill>
                  <a:srgbClr val="B45309"/>
                </a:solidFill>
                <a:latin typeface="Calibri" pitchFamily="34" charset="0"/>
                <a:ea typeface="Calibri" pitchFamily="34" charset="-122"/>
                <a:cs typeface="Calibri" pitchFamily="34" charset="-120"/>
              </a:rPr>
              <a:t>Trade-off rejected:  </a:t>
            </a:r>
            <a:r>
              <a:rPr lang="en-US" sz="1400" dirty="0">
                <a:solidFill>
                  <a:srgbClr val="334155"/>
                </a:solidFill>
                <a:latin typeface="Calibri" pitchFamily="34" charset="0"/>
                <a:ea typeface="Calibri" pitchFamily="34" charset="-122"/>
                <a:cs typeface="Calibri" pitchFamily="34" charset="-120"/>
              </a:rPr>
              <a:t>unbounded cost, opaque control flow, and unreliable retry enforcement.  For a focused merchandising chat where the same control flow applies to every turn, autonomy is the wrong trade.</a:t>
            </a:r>
            <a:endParaRPr lang="en-US" sz="1400" dirty="0"/>
          </a:p>
        </p:txBody>
      </p:sp>
      <p:sp>
        <p:nvSpPr>
          <p:cNvPr id="35" name="Text 33"/>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 / 27</a:t>
            </a:r>
            <a:endParaRPr lang="en-US" sz="900" dirty="0"/>
          </a:p>
        </p:txBody>
      </p:sp>
      <p:sp>
        <p:nvSpPr>
          <p:cNvPr id="36" name="Text 34"/>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WHAT THIS SYSTEM DOES NOT USE</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Two Deliberate Non-Choices</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463040"/>
            <a:ext cx="5486400" cy="4663440"/>
          </a:xfrm>
          <a:prstGeom prst="rect">
            <a:avLst/>
          </a:prstGeom>
          <a:solidFill>
            <a:srgbClr val="F8FAFC"/>
          </a:solidFill>
          <a:ln w="9525">
            <a:solidFill>
              <a:srgbClr val="E2E8F0"/>
            </a:solidFill>
            <a:prstDash val="solid"/>
          </a:ln>
        </p:spPr>
        <p:txBody>
          <a:bodyPr/>
          <a:lstStyle/>
          <a:p>
            <a:endParaRPr lang="en-US"/>
          </a:p>
        </p:txBody>
      </p:sp>
      <p:sp>
        <p:nvSpPr>
          <p:cNvPr id="6" name="Shape 4"/>
          <p:cNvSpPr/>
          <p:nvPr/>
        </p:nvSpPr>
        <p:spPr>
          <a:xfrm>
            <a:off x="457200" y="1463040"/>
            <a:ext cx="73152" cy="4663440"/>
          </a:xfrm>
          <a:prstGeom prst="rect">
            <a:avLst/>
          </a:prstGeom>
          <a:solidFill>
            <a:srgbClr val="1E293B"/>
          </a:solidFill>
          <a:ln w="12700">
            <a:solidFill>
              <a:srgbClr val="1E293B"/>
            </a:solidFill>
            <a:prstDash val="solid"/>
          </a:ln>
        </p:spPr>
        <p:txBody>
          <a:bodyPr/>
          <a:lstStyle/>
          <a:p>
            <a:endParaRPr lang="en-US"/>
          </a:p>
        </p:txBody>
      </p:sp>
      <p:sp>
        <p:nvSpPr>
          <p:cNvPr id="7" name="Text 5"/>
          <p:cNvSpPr/>
          <p:nvPr/>
        </p:nvSpPr>
        <p:spPr>
          <a:xfrm>
            <a:off x="685800" y="1600200"/>
            <a:ext cx="521208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NO VECTOR DATABASE · NO RAG</a:t>
            </a:r>
            <a:endParaRPr lang="en-US" sz="1400" dirty="0"/>
          </a:p>
        </p:txBody>
      </p:sp>
      <p:sp>
        <p:nvSpPr>
          <p:cNvPr id="8" name="Text 6"/>
          <p:cNvSpPr/>
          <p:nvPr/>
        </p:nvSpPr>
        <p:spPr>
          <a:xfrm>
            <a:off x="685800" y="1920240"/>
            <a:ext cx="5212080" cy="45720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No embedding model.  No similarity index.  No retrieval-augmented generation.</a:t>
            </a:r>
            <a:endParaRPr lang="en-US" sz="1400" dirty="0"/>
          </a:p>
        </p:txBody>
      </p:sp>
      <p:sp>
        <p:nvSpPr>
          <p:cNvPr id="9" name="Text 7"/>
          <p:cNvSpPr/>
          <p:nvPr/>
        </p:nvSpPr>
        <p:spPr>
          <a:xfrm>
            <a:off x="685800" y="2514600"/>
            <a:ext cx="5212080" cy="320040"/>
          </a:xfrm>
          <a:prstGeom prst="rect">
            <a:avLst/>
          </a:prstGeom>
          <a:noFill/>
          <a:ln/>
        </p:spPr>
        <p:txBody>
          <a:bodyPr wrap="square" lIns="0" tIns="0" rIns="0" bIns="0"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Why?</a:t>
            </a:r>
            <a:endParaRPr lang="en-US" sz="1400" dirty="0"/>
          </a:p>
        </p:txBody>
      </p:sp>
      <p:sp>
        <p:nvSpPr>
          <p:cNvPr id="10" name="Text 8"/>
          <p:cNvSpPr/>
          <p:nvPr/>
        </p:nvSpPr>
        <p:spPr>
          <a:xfrm>
            <a:off x="685800" y="2880360"/>
            <a:ext cx="5212080" cy="3108960"/>
          </a:xfrm>
          <a:prstGeom prst="rect">
            <a:avLst/>
          </a:prstGeom>
          <a:noFill/>
          <a:ln/>
        </p:spPr>
        <p:txBody>
          <a:bodyPr wrap="square" lIns="0" tIns="0" rIns="0" bIns="0" rtlCol="0" anchor="t"/>
          <a:lstStyle/>
          <a:p>
            <a:pPr marL="0" indent="0">
              <a:buNone/>
            </a:pPr>
            <a:r>
              <a:rPr lang="en-US" sz="1400" b="1" dirty="0">
                <a:solidFill>
                  <a:srgbClr val="0F766E"/>
                </a:solidFill>
                <a:latin typeface="Calibri" pitchFamily="34" charset="0"/>
                <a:ea typeface="Calibri" pitchFamily="34" charset="-122"/>
                <a:cs typeface="Calibri" pitchFamily="34" charset="-120"/>
              </a:rPr>
              <a:t>•  </a:t>
            </a:r>
            <a:r>
              <a:rPr lang="en-US" sz="1400" dirty="0">
                <a:solidFill>
                  <a:srgbClr val="334155"/>
                </a:solidFill>
                <a:latin typeface="Calibri" pitchFamily="34" charset="0"/>
                <a:ea typeface="Calibri" pitchFamily="34" charset="-122"/>
                <a:cs typeface="Calibri" pitchFamily="34" charset="-120"/>
              </a:rPr>
              <a:t>Data is small: ~1,200 rows of structured feedback</a:t>
            </a:r>
            <a:endParaRPr lang="en-US" sz="1400" dirty="0"/>
          </a:p>
          <a:p>
            <a:pPr marL="0" indent="0">
              <a:buNone/>
            </a:pPr>
            <a:r>
              <a:rPr lang="en-US" sz="1400" b="1" dirty="0">
                <a:solidFill>
                  <a:srgbClr val="0F766E"/>
                </a:solidFill>
                <a:latin typeface="Calibri" pitchFamily="34" charset="0"/>
                <a:ea typeface="Calibri" pitchFamily="34" charset="-122"/>
                <a:cs typeface="Calibri" pitchFamily="34" charset="-120"/>
              </a:rPr>
              <a:t>•  </a:t>
            </a:r>
            <a:r>
              <a:rPr lang="en-US" sz="1400" dirty="0">
                <a:solidFill>
                  <a:srgbClr val="334155"/>
                </a:solidFill>
                <a:latin typeface="Calibri" pitchFamily="34" charset="0"/>
                <a:ea typeface="Calibri" pitchFamily="34" charset="-122"/>
                <a:cs typeface="Calibri" pitchFamily="34" charset="-120"/>
              </a:rPr>
              <a:t>Schema is fixed: known columns, known types</a:t>
            </a:r>
            <a:endParaRPr lang="en-US" sz="1400" dirty="0"/>
          </a:p>
          <a:p>
            <a:pPr marL="0" indent="0">
              <a:buNone/>
            </a:pPr>
            <a:r>
              <a:rPr lang="en-US" sz="1400" b="1" dirty="0">
                <a:solidFill>
                  <a:srgbClr val="0F766E"/>
                </a:solidFill>
                <a:latin typeface="Calibri" pitchFamily="34" charset="0"/>
                <a:ea typeface="Calibri" pitchFamily="34" charset="-122"/>
                <a:cs typeface="Calibri" pitchFamily="34" charset="-120"/>
              </a:rPr>
              <a:t>•  </a:t>
            </a:r>
            <a:r>
              <a:rPr lang="en-US" sz="1400" dirty="0">
                <a:solidFill>
                  <a:srgbClr val="334155"/>
                </a:solidFill>
                <a:latin typeface="Calibri" pitchFamily="34" charset="0"/>
                <a:ea typeface="Calibri" pitchFamily="34" charset="-122"/>
                <a:cs typeface="Calibri" pitchFamily="34" charset="-120"/>
              </a:rPr>
              <a:t>Questions are quantitative aggregations, not semantic search</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i="1" dirty="0">
                <a:solidFill>
                  <a:srgbClr val="334155"/>
                </a:solidFill>
                <a:latin typeface="Calibri" pitchFamily="34" charset="0"/>
                <a:ea typeface="Calibri" pitchFamily="34" charset="-122"/>
                <a:cs typeface="Calibri" pitchFamily="34" charset="-120"/>
              </a:rPr>
              <a:t>Right primitive: </a:t>
            </a:r>
            <a:r>
              <a:rPr lang="en-US" sz="1400" b="1" dirty="0">
                <a:solidFill>
                  <a:srgbClr val="0F172A"/>
                </a:solidFill>
                <a:latin typeface="Calibri" pitchFamily="34" charset="0"/>
                <a:ea typeface="Calibri" pitchFamily="34" charset="-122"/>
                <a:cs typeface="Calibri" pitchFamily="34" charset="-120"/>
              </a:rPr>
              <a:t>SQL with a strongly-typed schema.  </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i="1" dirty="0">
                <a:solidFill>
                  <a:srgbClr val="B45309"/>
                </a:solidFill>
                <a:latin typeface="Calibri" pitchFamily="34" charset="0"/>
                <a:ea typeface="Calibri" pitchFamily="34" charset="-122"/>
                <a:cs typeface="Calibri" pitchFamily="34" charset="-120"/>
              </a:rPr>
              <a:t>When to reconsider: </a:t>
            </a:r>
            <a:r>
              <a:rPr lang="en-US" sz="1400" dirty="0">
                <a:solidFill>
                  <a:srgbClr val="334155"/>
                </a:solidFill>
                <a:latin typeface="Calibri" pitchFamily="34" charset="0"/>
                <a:ea typeface="Calibri" pitchFamily="34" charset="-122"/>
                <a:cs typeface="Calibri" pitchFamily="34" charset="-120"/>
              </a:rPr>
              <a:t>scope widening to free-text Q&amp;A over policy documents or product PDFs.</a:t>
            </a:r>
            <a:endParaRPr lang="en-US" sz="1400" dirty="0"/>
          </a:p>
        </p:txBody>
      </p:sp>
      <p:sp>
        <p:nvSpPr>
          <p:cNvPr id="11" name="Shape 9"/>
          <p:cNvSpPr/>
          <p:nvPr/>
        </p:nvSpPr>
        <p:spPr>
          <a:xfrm>
            <a:off x="6263640" y="1463040"/>
            <a:ext cx="5486400" cy="4663440"/>
          </a:xfrm>
          <a:prstGeom prst="rect">
            <a:avLst/>
          </a:prstGeom>
          <a:solidFill>
            <a:srgbClr val="F8FAFC"/>
          </a:solidFill>
          <a:ln w="9525">
            <a:solidFill>
              <a:srgbClr val="E2E8F0"/>
            </a:solidFill>
            <a:prstDash val="solid"/>
          </a:ln>
        </p:spPr>
        <p:txBody>
          <a:bodyPr/>
          <a:lstStyle/>
          <a:p>
            <a:endParaRPr lang="en-US"/>
          </a:p>
        </p:txBody>
      </p:sp>
      <p:sp>
        <p:nvSpPr>
          <p:cNvPr id="12" name="Shape 10"/>
          <p:cNvSpPr/>
          <p:nvPr/>
        </p:nvSpPr>
        <p:spPr>
          <a:xfrm>
            <a:off x="6263640" y="1463040"/>
            <a:ext cx="73152" cy="4663440"/>
          </a:xfrm>
          <a:prstGeom prst="rect">
            <a:avLst/>
          </a:prstGeom>
          <a:solidFill>
            <a:srgbClr val="1E293B"/>
          </a:solidFill>
          <a:ln w="12700">
            <a:solidFill>
              <a:srgbClr val="1E293B"/>
            </a:solidFill>
            <a:prstDash val="solid"/>
          </a:ln>
        </p:spPr>
        <p:txBody>
          <a:bodyPr/>
          <a:lstStyle/>
          <a:p>
            <a:endParaRPr lang="en-US"/>
          </a:p>
        </p:txBody>
      </p:sp>
      <p:sp>
        <p:nvSpPr>
          <p:cNvPr id="13" name="Text 11"/>
          <p:cNvSpPr/>
          <p:nvPr/>
        </p:nvSpPr>
        <p:spPr>
          <a:xfrm>
            <a:off x="6492240" y="1600200"/>
            <a:ext cx="521208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NO LANGCHAIN · NO LANGGRAPH</a:t>
            </a:r>
            <a:endParaRPr lang="en-US" sz="1400" dirty="0"/>
          </a:p>
        </p:txBody>
      </p:sp>
      <p:sp>
        <p:nvSpPr>
          <p:cNvPr id="14" name="Text 12"/>
          <p:cNvSpPr/>
          <p:nvPr/>
        </p:nvSpPr>
        <p:spPr>
          <a:xfrm>
            <a:off x="6492240" y="1920240"/>
            <a:ext cx="5212080" cy="64008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Neither LangChain nor LangGraph is a dependency.  orchestrator.py is ~679 lines of plain Python.</a:t>
            </a:r>
            <a:endParaRPr lang="en-US" sz="1400" dirty="0"/>
          </a:p>
        </p:txBody>
      </p:sp>
      <p:sp>
        <p:nvSpPr>
          <p:cNvPr id="15" name="Text 13"/>
          <p:cNvSpPr/>
          <p:nvPr/>
        </p:nvSpPr>
        <p:spPr>
          <a:xfrm>
            <a:off x="6492240" y="2697480"/>
            <a:ext cx="5212080" cy="320040"/>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Trade-off accepted:</a:t>
            </a:r>
            <a:endParaRPr lang="en-US" sz="1400" dirty="0"/>
          </a:p>
        </p:txBody>
      </p:sp>
      <p:sp>
        <p:nvSpPr>
          <p:cNvPr id="16" name="Text 14"/>
          <p:cNvSpPr/>
          <p:nvPr/>
        </p:nvSpPr>
        <p:spPr>
          <a:xfrm>
            <a:off x="6492240" y="3017520"/>
            <a:ext cx="5212080" cy="64008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Adding a new agent requires editing the orchestrator file rather than declaring a node in a graph.</a:t>
            </a:r>
            <a:endParaRPr lang="en-US" sz="1400" dirty="0"/>
          </a:p>
        </p:txBody>
      </p:sp>
      <p:sp>
        <p:nvSpPr>
          <p:cNvPr id="17" name="Text 15"/>
          <p:cNvSpPr/>
          <p:nvPr/>
        </p:nvSpPr>
        <p:spPr>
          <a:xfrm>
            <a:off x="6492240" y="3794760"/>
            <a:ext cx="5212080" cy="320040"/>
          </a:xfrm>
          <a:prstGeom prst="rect">
            <a:avLst/>
          </a:prstGeom>
          <a:noFill/>
          <a:ln/>
        </p:spPr>
        <p:txBody>
          <a:bodyPr wrap="square" lIns="0" tIns="0" rIns="0" bIns="0"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Benefits gained:</a:t>
            </a:r>
            <a:endParaRPr lang="en-US" sz="1400" dirty="0"/>
          </a:p>
        </p:txBody>
      </p:sp>
      <p:sp>
        <p:nvSpPr>
          <p:cNvPr id="18" name="Text 16"/>
          <p:cNvSpPr/>
          <p:nvPr/>
        </p:nvSpPr>
        <p:spPr>
          <a:xfrm>
            <a:off x="6492240" y="4160520"/>
            <a:ext cx="5212080" cy="1920240"/>
          </a:xfrm>
          <a:prstGeom prst="rect">
            <a:avLst/>
          </a:prstGeom>
          <a:noFill/>
          <a:ln/>
        </p:spPr>
        <p:txBody>
          <a:bodyPr wrap="square" lIns="0" tIns="0" rIns="0" bIns="0" rtlCol="0" anchor="t"/>
          <a:lstStyle/>
          <a:p>
            <a:pPr marL="0" indent="0">
              <a:buNone/>
            </a:pPr>
            <a:r>
              <a:rPr lang="en-US" sz="1400" b="1" dirty="0">
                <a:solidFill>
                  <a:srgbClr val="0F766E"/>
                </a:solidFill>
                <a:latin typeface="Calibri" pitchFamily="34" charset="0"/>
                <a:ea typeface="Calibri" pitchFamily="34" charset="-122"/>
                <a:cs typeface="Calibri" pitchFamily="34" charset="-120"/>
              </a:rPr>
              <a:t>•  </a:t>
            </a:r>
            <a:r>
              <a:rPr lang="en-US" sz="1400" dirty="0">
                <a:solidFill>
                  <a:srgbClr val="334155"/>
                </a:solidFill>
                <a:latin typeface="Calibri" pitchFamily="34" charset="0"/>
                <a:ea typeface="Calibri" pitchFamily="34" charset="-122"/>
                <a:cs typeface="Calibri" pitchFamily="34" charset="-120"/>
              </a:rPr>
              <a:t>Total visibility into control flow: every retry, every escape hatch, every step event visible inline</a:t>
            </a:r>
            <a:endParaRPr lang="en-US" sz="1400" dirty="0"/>
          </a:p>
          <a:p>
            <a:pPr marL="0" indent="0">
              <a:buNone/>
            </a:pPr>
            <a:r>
              <a:rPr lang="en-US" sz="1400" b="1" dirty="0">
                <a:solidFill>
                  <a:srgbClr val="0F766E"/>
                </a:solidFill>
                <a:latin typeface="Calibri" pitchFamily="34" charset="0"/>
                <a:ea typeface="Calibri" pitchFamily="34" charset="-122"/>
                <a:cs typeface="Calibri" pitchFamily="34" charset="-120"/>
              </a:rPr>
              <a:t>•  </a:t>
            </a:r>
            <a:r>
              <a:rPr lang="en-US" sz="1400" dirty="0">
                <a:solidFill>
                  <a:srgbClr val="334155"/>
                </a:solidFill>
                <a:latin typeface="Calibri" pitchFamily="34" charset="0"/>
                <a:ea typeface="Calibri" pitchFamily="34" charset="-122"/>
                <a:cs typeface="Calibri" pitchFamily="34" charset="-120"/>
              </a:rPr>
              <a:t>Zero exposure to framework breakage when an upstream library tweaks its public interface</a:t>
            </a:r>
            <a:endParaRPr lang="en-US" sz="1400" dirty="0"/>
          </a:p>
          <a:p>
            <a:pPr marL="0" indent="0">
              <a:buNone/>
            </a:pPr>
            <a:r>
              <a:rPr lang="en-US" sz="1400" b="1" dirty="0">
                <a:solidFill>
                  <a:srgbClr val="0F766E"/>
                </a:solidFill>
                <a:latin typeface="Calibri" pitchFamily="34" charset="0"/>
                <a:ea typeface="Calibri" pitchFamily="34" charset="-122"/>
                <a:cs typeface="Calibri" pitchFamily="34" charset="-120"/>
              </a:rPr>
              <a:t>•  </a:t>
            </a:r>
            <a:r>
              <a:rPr lang="en-US" sz="1400" dirty="0">
                <a:solidFill>
                  <a:srgbClr val="334155"/>
                </a:solidFill>
                <a:latin typeface="Calibri" pitchFamily="34" charset="0"/>
                <a:ea typeface="Calibri" pitchFamily="34" charset="-122"/>
                <a:cs typeface="Calibri" pitchFamily="34" charset="-120"/>
              </a:rPr>
              <a:t>Lower cognitive load for the next engineer to read the codebase</a:t>
            </a:r>
            <a:endParaRPr lang="en-US" sz="1400" dirty="0"/>
          </a:p>
        </p:txBody>
      </p:sp>
      <p:sp>
        <p:nvSpPr>
          <p:cNvPr id="19" name="Text 17"/>
          <p:cNvSpPr/>
          <p:nvPr/>
        </p:nvSpPr>
        <p:spPr>
          <a:xfrm>
            <a:off x="457200" y="6263640"/>
            <a:ext cx="11247120" cy="320040"/>
          </a:xfrm>
          <a:prstGeom prst="rect">
            <a:avLst/>
          </a:prstGeom>
          <a:noFill/>
          <a:ln/>
        </p:spPr>
        <p:txBody>
          <a:bodyPr wrap="square" lIns="0" tIns="0" rIns="0" bIns="0" rtlCol="0" anchor="ctr"/>
          <a:lstStyle/>
          <a:p>
            <a:pPr marL="0" indent="0" algn="ctr">
              <a:buNone/>
            </a:pPr>
            <a:r>
              <a:rPr lang="en-US" sz="1150" i="1" dirty="0">
                <a:solidFill>
                  <a:srgbClr val="64748B"/>
                </a:solidFill>
                <a:latin typeface="Calibri" pitchFamily="34" charset="0"/>
                <a:ea typeface="Calibri" pitchFamily="34" charset="-122"/>
                <a:cs typeface="Calibri" pitchFamily="34" charset="-120"/>
              </a:rPr>
              <a:t>Both </a:t>
            </a:r>
            <a:r>
              <a:rPr lang="en-US" sz="1400" i="1" dirty="0">
                <a:solidFill>
                  <a:srgbClr val="64748B"/>
                </a:solidFill>
                <a:latin typeface="Calibri" pitchFamily="34" charset="0"/>
                <a:ea typeface="Calibri" pitchFamily="34" charset="-122"/>
                <a:cs typeface="Calibri" pitchFamily="34" charset="-120"/>
              </a:rPr>
              <a:t>non-choices</a:t>
            </a:r>
            <a:r>
              <a:rPr lang="en-US" sz="1150" i="1" dirty="0">
                <a:solidFill>
                  <a:srgbClr val="64748B"/>
                </a:solidFill>
                <a:latin typeface="Calibri" pitchFamily="34" charset="0"/>
                <a:ea typeface="Calibri" pitchFamily="34" charset="-122"/>
                <a:cs typeface="Calibri" pitchFamily="34" charset="-120"/>
              </a:rPr>
              <a:t> are reversible: the system would absorb a vector store or a framework if the problem shape changed.  This problem shape does not require them.</a:t>
            </a:r>
            <a:endParaRPr lang="en-US" sz="1150" dirty="0"/>
          </a:p>
        </p:txBody>
      </p:sp>
      <p:sp>
        <p:nvSpPr>
          <p:cNvPr id="20" name="Text 18"/>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27</a:t>
            </a:r>
            <a:endParaRPr lang="en-US" sz="900" dirty="0"/>
          </a:p>
        </p:txBody>
      </p:sp>
      <p:sp>
        <p:nvSpPr>
          <p:cNvPr id="21" name="Text 19"/>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ANTHROPIC CLAUDE · SONNET 4.6 + HAIKU 4.5</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Model Strategy — A Deliberate Two-Tier Allocation</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676888" cy="5029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Sonnet 4.6 is used only where it is structurally required.  Haiku 4.5 is roughly 3–5× cheaper and used everywhere else, where it delivers Sonnet-acceptable quality.</a:t>
            </a:r>
            <a:endParaRPr lang="en-US" sz="1400" dirty="0"/>
          </a:p>
        </p:txBody>
      </p:sp>
      <p:sp>
        <p:nvSpPr>
          <p:cNvPr id="6" name="Shape 4"/>
          <p:cNvSpPr/>
          <p:nvPr/>
        </p:nvSpPr>
        <p:spPr>
          <a:xfrm>
            <a:off x="457200" y="2057400"/>
            <a:ext cx="11265408" cy="411480"/>
          </a:xfrm>
          <a:prstGeom prst="rect">
            <a:avLst/>
          </a:prstGeom>
          <a:solidFill>
            <a:srgbClr val="1E293B"/>
          </a:solidFill>
          <a:ln w="12700">
            <a:solidFill>
              <a:srgbClr val="1E293B"/>
            </a:solidFill>
            <a:prstDash val="solid"/>
          </a:ln>
        </p:spPr>
        <p:txBody>
          <a:bodyPr/>
          <a:lstStyle/>
          <a:p>
            <a:endParaRPr lang="en-US"/>
          </a:p>
        </p:txBody>
      </p:sp>
      <p:sp>
        <p:nvSpPr>
          <p:cNvPr id="7" name="Text 5"/>
          <p:cNvSpPr/>
          <p:nvPr/>
        </p:nvSpPr>
        <p:spPr>
          <a:xfrm>
            <a:off x="566928" y="2057400"/>
            <a:ext cx="256032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Agent</a:t>
            </a:r>
            <a:endParaRPr lang="en-US" sz="1600" dirty="0"/>
          </a:p>
        </p:txBody>
      </p:sp>
      <p:sp>
        <p:nvSpPr>
          <p:cNvPr id="8" name="Text 6"/>
          <p:cNvSpPr/>
          <p:nvPr/>
        </p:nvSpPr>
        <p:spPr>
          <a:xfrm>
            <a:off x="3310128" y="2057400"/>
            <a:ext cx="20116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Model</a:t>
            </a:r>
            <a:endParaRPr lang="en-US" sz="1600" dirty="0"/>
          </a:p>
        </p:txBody>
      </p:sp>
      <p:sp>
        <p:nvSpPr>
          <p:cNvPr id="9" name="Text 7"/>
          <p:cNvSpPr/>
          <p:nvPr/>
        </p:nvSpPr>
        <p:spPr>
          <a:xfrm>
            <a:off x="5504688" y="2057400"/>
            <a:ext cx="822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Temp</a:t>
            </a:r>
            <a:endParaRPr lang="en-US" sz="1600" dirty="0"/>
          </a:p>
        </p:txBody>
      </p:sp>
      <p:sp>
        <p:nvSpPr>
          <p:cNvPr id="10" name="Text 8"/>
          <p:cNvSpPr/>
          <p:nvPr/>
        </p:nvSpPr>
        <p:spPr>
          <a:xfrm>
            <a:off x="6510528" y="2057400"/>
            <a:ext cx="5193792"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Why this model</a:t>
            </a:r>
            <a:endParaRPr lang="en-US" sz="1600" dirty="0"/>
          </a:p>
        </p:txBody>
      </p:sp>
      <p:sp>
        <p:nvSpPr>
          <p:cNvPr id="11" name="Shape 9"/>
          <p:cNvSpPr/>
          <p:nvPr/>
        </p:nvSpPr>
        <p:spPr>
          <a:xfrm>
            <a:off x="457200" y="2468880"/>
            <a:ext cx="11265408" cy="393192"/>
          </a:xfrm>
          <a:prstGeom prst="rect">
            <a:avLst/>
          </a:prstGeom>
          <a:solidFill>
            <a:srgbClr val="F8FAFC"/>
          </a:solidFill>
          <a:ln w="6350">
            <a:solidFill>
              <a:srgbClr val="E2E8F0"/>
            </a:solidFill>
            <a:prstDash val="solid"/>
          </a:ln>
        </p:spPr>
        <p:txBody>
          <a:bodyPr/>
          <a:lstStyle/>
          <a:p>
            <a:endParaRPr lang="en-US"/>
          </a:p>
        </p:txBody>
      </p:sp>
      <p:sp>
        <p:nvSpPr>
          <p:cNvPr id="12" name="Text 10"/>
          <p:cNvSpPr/>
          <p:nvPr/>
        </p:nvSpPr>
        <p:spPr>
          <a:xfrm>
            <a:off x="594360" y="2468880"/>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Coder</a:t>
            </a:r>
            <a:endParaRPr lang="en-US" sz="1200" dirty="0"/>
          </a:p>
        </p:txBody>
      </p:sp>
      <p:sp>
        <p:nvSpPr>
          <p:cNvPr id="13" name="Shape 11"/>
          <p:cNvSpPr/>
          <p:nvPr/>
        </p:nvSpPr>
        <p:spPr>
          <a:xfrm>
            <a:off x="3291840" y="2560320"/>
            <a:ext cx="2011680" cy="210312"/>
          </a:xfrm>
          <a:prstGeom prst="roundRect">
            <a:avLst>
              <a:gd name="adj" fmla="val 26087"/>
            </a:avLst>
          </a:prstGeom>
          <a:solidFill>
            <a:srgbClr val="FEF3C7"/>
          </a:solidFill>
          <a:ln w="6350">
            <a:solidFill>
              <a:srgbClr val="B45309"/>
            </a:solidFill>
            <a:prstDash val="solid"/>
          </a:ln>
        </p:spPr>
        <p:txBody>
          <a:bodyPr/>
          <a:lstStyle/>
          <a:p>
            <a:endParaRPr lang="en-US" sz="2000"/>
          </a:p>
        </p:txBody>
      </p:sp>
      <p:sp>
        <p:nvSpPr>
          <p:cNvPr id="14" name="Text 12"/>
          <p:cNvSpPr/>
          <p:nvPr/>
        </p:nvSpPr>
        <p:spPr>
          <a:xfrm>
            <a:off x="3291840" y="2560320"/>
            <a:ext cx="2011680" cy="210312"/>
          </a:xfrm>
          <a:prstGeom prst="rect">
            <a:avLst/>
          </a:prstGeom>
          <a:noFill/>
          <a:ln/>
        </p:spPr>
        <p:txBody>
          <a:bodyPr wrap="square" lIns="0" tIns="0" rIns="0" bIns="0" rtlCol="0" anchor="ctr"/>
          <a:lstStyle/>
          <a:p>
            <a:pPr marL="0" indent="0" algn="ctr">
              <a:buNone/>
            </a:pPr>
            <a:r>
              <a:rPr lang="en-US" sz="1000" b="1" dirty="0">
                <a:solidFill>
                  <a:srgbClr val="B45309"/>
                </a:solidFill>
                <a:latin typeface="Calibri" pitchFamily="34" charset="0"/>
                <a:ea typeface="Calibri" pitchFamily="34" charset="-122"/>
                <a:cs typeface="Calibri" pitchFamily="34" charset="-120"/>
              </a:rPr>
              <a:t>Sonnet 4.6</a:t>
            </a:r>
            <a:endParaRPr lang="en-US" sz="1000" dirty="0"/>
          </a:p>
        </p:txBody>
      </p:sp>
      <p:sp>
        <p:nvSpPr>
          <p:cNvPr id="15" name="Text 13"/>
          <p:cNvSpPr/>
          <p:nvPr/>
        </p:nvSpPr>
        <p:spPr>
          <a:xfrm>
            <a:off x="5486400" y="2468880"/>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16" name="Text 14"/>
          <p:cNvSpPr/>
          <p:nvPr/>
        </p:nvSpPr>
        <p:spPr>
          <a:xfrm>
            <a:off x="6537960" y="2468880"/>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Hardest task. Haiku failed on MySQL window-functions and on the non_purchase_type vs attribute_value disambiguation.</a:t>
            </a:r>
            <a:endParaRPr lang="en-US" sz="1100" dirty="0"/>
          </a:p>
        </p:txBody>
      </p:sp>
      <p:sp>
        <p:nvSpPr>
          <p:cNvPr id="17" name="Shape 15"/>
          <p:cNvSpPr/>
          <p:nvPr/>
        </p:nvSpPr>
        <p:spPr>
          <a:xfrm>
            <a:off x="457200" y="2862072"/>
            <a:ext cx="11265408" cy="393192"/>
          </a:xfrm>
          <a:prstGeom prst="rect">
            <a:avLst/>
          </a:prstGeom>
          <a:solidFill>
            <a:srgbClr val="FFFFFF"/>
          </a:solidFill>
          <a:ln w="6350">
            <a:solidFill>
              <a:srgbClr val="E2E8F0"/>
            </a:solidFill>
            <a:prstDash val="solid"/>
          </a:ln>
        </p:spPr>
        <p:txBody>
          <a:bodyPr/>
          <a:lstStyle/>
          <a:p>
            <a:endParaRPr lang="en-US"/>
          </a:p>
        </p:txBody>
      </p:sp>
      <p:sp>
        <p:nvSpPr>
          <p:cNvPr id="18" name="Text 16"/>
          <p:cNvSpPr/>
          <p:nvPr/>
        </p:nvSpPr>
        <p:spPr>
          <a:xfrm>
            <a:off x="594360" y="2862072"/>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Code Reviewer</a:t>
            </a:r>
            <a:endParaRPr lang="en-US" sz="1200" dirty="0"/>
          </a:p>
        </p:txBody>
      </p:sp>
      <p:sp>
        <p:nvSpPr>
          <p:cNvPr id="19" name="Shape 17"/>
          <p:cNvSpPr/>
          <p:nvPr/>
        </p:nvSpPr>
        <p:spPr>
          <a:xfrm>
            <a:off x="3291840" y="2953512"/>
            <a:ext cx="2011680" cy="210312"/>
          </a:xfrm>
          <a:prstGeom prst="roundRect">
            <a:avLst>
              <a:gd name="adj" fmla="val 26087"/>
            </a:avLst>
          </a:prstGeom>
          <a:solidFill>
            <a:srgbClr val="FEF3C7"/>
          </a:solidFill>
          <a:ln w="6350">
            <a:solidFill>
              <a:srgbClr val="B45309"/>
            </a:solidFill>
            <a:prstDash val="solid"/>
          </a:ln>
        </p:spPr>
        <p:txBody>
          <a:bodyPr/>
          <a:lstStyle/>
          <a:p>
            <a:endParaRPr lang="en-US"/>
          </a:p>
        </p:txBody>
      </p:sp>
      <p:sp>
        <p:nvSpPr>
          <p:cNvPr id="20" name="Text 18"/>
          <p:cNvSpPr/>
          <p:nvPr/>
        </p:nvSpPr>
        <p:spPr>
          <a:xfrm>
            <a:off x="3291840" y="2953512"/>
            <a:ext cx="2011680" cy="210312"/>
          </a:xfrm>
          <a:prstGeom prst="rect">
            <a:avLst/>
          </a:prstGeom>
          <a:noFill/>
          <a:ln/>
        </p:spPr>
        <p:txBody>
          <a:bodyPr wrap="square" lIns="0" tIns="0" rIns="0" bIns="0" rtlCol="0" anchor="ctr"/>
          <a:lstStyle/>
          <a:p>
            <a:pPr marL="0" indent="0" algn="ctr">
              <a:buNone/>
            </a:pPr>
            <a:r>
              <a:rPr lang="en-US" sz="1050" b="1" dirty="0">
                <a:solidFill>
                  <a:srgbClr val="B45309"/>
                </a:solidFill>
                <a:latin typeface="Calibri" pitchFamily="34" charset="0"/>
                <a:ea typeface="Calibri" pitchFamily="34" charset="-122"/>
                <a:cs typeface="Calibri" pitchFamily="34" charset="-120"/>
              </a:rPr>
              <a:t>Sonnet 4.6</a:t>
            </a:r>
            <a:endParaRPr lang="en-US" sz="1050" dirty="0"/>
          </a:p>
        </p:txBody>
      </p:sp>
      <p:sp>
        <p:nvSpPr>
          <p:cNvPr id="21" name="Text 19"/>
          <p:cNvSpPr/>
          <p:nvPr/>
        </p:nvSpPr>
        <p:spPr>
          <a:xfrm>
            <a:off x="5486400" y="2862072"/>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22" name="Text 20"/>
          <p:cNvSpPr/>
          <p:nvPr/>
        </p:nvSpPr>
        <p:spPr>
          <a:xfrm>
            <a:off x="6537960" y="2862072"/>
            <a:ext cx="5166360"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Must match the Coder's tier or it rubber-stamps subtle errors.  Tier-matching is what makes reasoning-vs-SQL verification work.</a:t>
            </a:r>
            <a:endParaRPr lang="en-US" sz="1100" dirty="0"/>
          </a:p>
        </p:txBody>
      </p:sp>
      <p:sp>
        <p:nvSpPr>
          <p:cNvPr id="23" name="Shape 21"/>
          <p:cNvSpPr/>
          <p:nvPr/>
        </p:nvSpPr>
        <p:spPr>
          <a:xfrm>
            <a:off x="457200" y="3255264"/>
            <a:ext cx="11265408" cy="393192"/>
          </a:xfrm>
          <a:prstGeom prst="rect">
            <a:avLst/>
          </a:prstGeom>
          <a:solidFill>
            <a:srgbClr val="F8FAFC"/>
          </a:solidFill>
          <a:ln w="6350">
            <a:solidFill>
              <a:srgbClr val="E2E8F0"/>
            </a:solidFill>
            <a:prstDash val="solid"/>
          </a:ln>
        </p:spPr>
        <p:txBody>
          <a:bodyPr/>
          <a:lstStyle/>
          <a:p>
            <a:endParaRPr lang="en-US"/>
          </a:p>
        </p:txBody>
      </p:sp>
      <p:sp>
        <p:nvSpPr>
          <p:cNvPr id="24" name="Text 22"/>
          <p:cNvSpPr/>
          <p:nvPr/>
        </p:nvSpPr>
        <p:spPr>
          <a:xfrm>
            <a:off x="594360" y="3255264"/>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Planner</a:t>
            </a:r>
            <a:endParaRPr lang="en-US" sz="1200" dirty="0"/>
          </a:p>
        </p:txBody>
      </p:sp>
      <p:sp>
        <p:nvSpPr>
          <p:cNvPr id="25" name="Shape 23"/>
          <p:cNvSpPr/>
          <p:nvPr/>
        </p:nvSpPr>
        <p:spPr>
          <a:xfrm>
            <a:off x="3291840" y="3346704"/>
            <a:ext cx="2011680" cy="210312"/>
          </a:xfrm>
          <a:prstGeom prst="roundRect">
            <a:avLst>
              <a:gd name="adj" fmla="val 26087"/>
            </a:avLst>
          </a:prstGeom>
          <a:solidFill>
            <a:srgbClr val="F1F5F9"/>
          </a:solidFill>
          <a:ln w="6350">
            <a:solidFill>
              <a:srgbClr val="64748B"/>
            </a:solidFill>
            <a:prstDash val="solid"/>
          </a:ln>
        </p:spPr>
        <p:txBody>
          <a:bodyPr/>
          <a:lstStyle/>
          <a:p>
            <a:endParaRPr lang="en-US"/>
          </a:p>
        </p:txBody>
      </p:sp>
      <p:sp>
        <p:nvSpPr>
          <p:cNvPr id="26" name="Text 24"/>
          <p:cNvSpPr/>
          <p:nvPr/>
        </p:nvSpPr>
        <p:spPr>
          <a:xfrm>
            <a:off x="3291840" y="3346704"/>
            <a:ext cx="2011680" cy="210312"/>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 4.5</a:t>
            </a:r>
            <a:endParaRPr lang="en-US" sz="1050" dirty="0"/>
          </a:p>
        </p:txBody>
      </p:sp>
      <p:sp>
        <p:nvSpPr>
          <p:cNvPr id="27" name="Text 25"/>
          <p:cNvSpPr/>
          <p:nvPr/>
        </p:nvSpPr>
        <p:spPr>
          <a:xfrm>
            <a:off x="5486400" y="3255264"/>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28" name="Text 26"/>
          <p:cNvSpPr/>
          <p:nvPr/>
        </p:nvSpPr>
        <p:spPr>
          <a:xfrm>
            <a:off x="6537960" y="3255264"/>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Routes the turn into sql / direct / clarify.  A simple classification task.</a:t>
            </a:r>
            <a:endParaRPr lang="en-US" sz="1100" dirty="0"/>
          </a:p>
        </p:txBody>
      </p:sp>
      <p:sp>
        <p:nvSpPr>
          <p:cNvPr id="29" name="Shape 27"/>
          <p:cNvSpPr/>
          <p:nvPr/>
        </p:nvSpPr>
        <p:spPr>
          <a:xfrm>
            <a:off x="457200" y="3648456"/>
            <a:ext cx="11265408" cy="393192"/>
          </a:xfrm>
          <a:prstGeom prst="rect">
            <a:avLst/>
          </a:prstGeom>
          <a:solidFill>
            <a:srgbClr val="FFFFFF"/>
          </a:solidFill>
          <a:ln w="6350">
            <a:solidFill>
              <a:srgbClr val="E2E8F0"/>
            </a:solidFill>
            <a:prstDash val="solid"/>
          </a:ln>
        </p:spPr>
        <p:txBody>
          <a:bodyPr/>
          <a:lstStyle/>
          <a:p>
            <a:endParaRPr lang="en-US"/>
          </a:p>
        </p:txBody>
      </p:sp>
      <p:sp>
        <p:nvSpPr>
          <p:cNvPr id="30" name="Text 28"/>
          <p:cNvSpPr/>
          <p:nvPr/>
        </p:nvSpPr>
        <p:spPr>
          <a:xfrm>
            <a:off x="594360" y="3648456"/>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Output Reviewer</a:t>
            </a:r>
            <a:endParaRPr lang="en-US" sz="1200" dirty="0"/>
          </a:p>
        </p:txBody>
      </p:sp>
      <p:sp>
        <p:nvSpPr>
          <p:cNvPr id="31" name="Shape 29"/>
          <p:cNvSpPr/>
          <p:nvPr/>
        </p:nvSpPr>
        <p:spPr>
          <a:xfrm>
            <a:off x="3291840" y="3739896"/>
            <a:ext cx="2011680" cy="210312"/>
          </a:xfrm>
          <a:prstGeom prst="roundRect">
            <a:avLst>
              <a:gd name="adj" fmla="val 26087"/>
            </a:avLst>
          </a:prstGeom>
          <a:solidFill>
            <a:srgbClr val="F1F5F9"/>
          </a:solidFill>
          <a:ln w="6350">
            <a:solidFill>
              <a:srgbClr val="64748B"/>
            </a:solidFill>
            <a:prstDash val="solid"/>
          </a:ln>
        </p:spPr>
        <p:txBody>
          <a:bodyPr/>
          <a:lstStyle/>
          <a:p>
            <a:endParaRPr lang="en-US"/>
          </a:p>
        </p:txBody>
      </p:sp>
      <p:sp>
        <p:nvSpPr>
          <p:cNvPr id="32" name="Text 30"/>
          <p:cNvSpPr/>
          <p:nvPr/>
        </p:nvSpPr>
        <p:spPr>
          <a:xfrm>
            <a:off x="3291840" y="3739896"/>
            <a:ext cx="2011680" cy="210312"/>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 4.5</a:t>
            </a:r>
            <a:endParaRPr lang="en-US" sz="1050" dirty="0"/>
          </a:p>
        </p:txBody>
      </p:sp>
      <p:sp>
        <p:nvSpPr>
          <p:cNvPr id="33" name="Text 31"/>
          <p:cNvSpPr/>
          <p:nvPr/>
        </p:nvSpPr>
        <p:spPr>
          <a:xfrm>
            <a:off x="5486400" y="3648456"/>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34" name="Text 32"/>
          <p:cNvSpPr/>
          <p:nvPr/>
        </p:nvSpPr>
        <p:spPr>
          <a:xfrm>
            <a:off x="6537960" y="3648456"/>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Binary verdict on whether rows answer the question.  Haiku is sufficient.</a:t>
            </a:r>
            <a:endParaRPr lang="en-US" sz="1100" dirty="0"/>
          </a:p>
        </p:txBody>
      </p:sp>
      <p:sp>
        <p:nvSpPr>
          <p:cNvPr id="35" name="Shape 33"/>
          <p:cNvSpPr/>
          <p:nvPr/>
        </p:nvSpPr>
        <p:spPr>
          <a:xfrm>
            <a:off x="457200" y="4041648"/>
            <a:ext cx="11265408" cy="393192"/>
          </a:xfrm>
          <a:prstGeom prst="rect">
            <a:avLst/>
          </a:prstGeom>
          <a:solidFill>
            <a:srgbClr val="F8FAFC"/>
          </a:solidFill>
          <a:ln w="6350">
            <a:solidFill>
              <a:srgbClr val="E2E8F0"/>
            </a:solidFill>
            <a:prstDash val="solid"/>
          </a:ln>
        </p:spPr>
        <p:txBody>
          <a:bodyPr/>
          <a:lstStyle/>
          <a:p>
            <a:endParaRPr lang="en-US"/>
          </a:p>
        </p:txBody>
      </p:sp>
      <p:sp>
        <p:nvSpPr>
          <p:cNvPr id="36" name="Text 34"/>
          <p:cNvSpPr/>
          <p:nvPr/>
        </p:nvSpPr>
        <p:spPr>
          <a:xfrm>
            <a:off x="594360" y="4041648"/>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Writer</a:t>
            </a:r>
            <a:endParaRPr lang="en-US" sz="1200" dirty="0"/>
          </a:p>
        </p:txBody>
      </p:sp>
      <p:sp>
        <p:nvSpPr>
          <p:cNvPr id="37" name="Shape 35"/>
          <p:cNvSpPr/>
          <p:nvPr/>
        </p:nvSpPr>
        <p:spPr>
          <a:xfrm>
            <a:off x="3291840" y="4133088"/>
            <a:ext cx="2011680" cy="210312"/>
          </a:xfrm>
          <a:prstGeom prst="roundRect">
            <a:avLst>
              <a:gd name="adj" fmla="val 26087"/>
            </a:avLst>
          </a:prstGeom>
          <a:solidFill>
            <a:srgbClr val="F1F5F9"/>
          </a:solidFill>
          <a:ln w="6350">
            <a:solidFill>
              <a:srgbClr val="64748B"/>
            </a:solidFill>
            <a:prstDash val="solid"/>
          </a:ln>
        </p:spPr>
        <p:txBody>
          <a:bodyPr/>
          <a:lstStyle/>
          <a:p>
            <a:endParaRPr lang="en-US"/>
          </a:p>
        </p:txBody>
      </p:sp>
      <p:sp>
        <p:nvSpPr>
          <p:cNvPr id="38" name="Text 36"/>
          <p:cNvSpPr/>
          <p:nvPr/>
        </p:nvSpPr>
        <p:spPr>
          <a:xfrm>
            <a:off x="3291840" y="4133088"/>
            <a:ext cx="2011680" cy="210312"/>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 4.5</a:t>
            </a:r>
            <a:endParaRPr lang="en-US" sz="1050" dirty="0"/>
          </a:p>
        </p:txBody>
      </p:sp>
      <p:sp>
        <p:nvSpPr>
          <p:cNvPr id="39" name="Text 37"/>
          <p:cNvSpPr/>
          <p:nvPr/>
        </p:nvSpPr>
        <p:spPr>
          <a:xfrm>
            <a:off x="5486400" y="4041648"/>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40" name="Text 38"/>
          <p:cNvSpPr/>
          <p:nvPr/>
        </p:nvSpPr>
        <p:spPr>
          <a:xfrm>
            <a:off x="6537960" y="4041648"/>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Composes prose from a pre-computed safe-values list.  Arithmetic is taken off the LLM.</a:t>
            </a:r>
            <a:endParaRPr lang="en-US" sz="1100" dirty="0"/>
          </a:p>
        </p:txBody>
      </p:sp>
      <p:sp>
        <p:nvSpPr>
          <p:cNvPr id="41" name="Shape 39"/>
          <p:cNvSpPr/>
          <p:nvPr/>
        </p:nvSpPr>
        <p:spPr>
          <a:xfrm>
            <a:off x="457200" y="4434840"/>
            <a:ext cx="11265408" cy="393192"/>
          </a:xfrm>
          <a:prstGeom prst="rect">
            <a:avLst/>
          </a:prstGeom>
          <a:solidFill>
            <a:srgbClr val="FFFFFF"/>
          </a:solidFill>
          <a:ln w="6350">
            <a:solidFill>
              <a:srgbClr val="E2E8F0"/>
            </a:solidFill>
            <a:prstDash val="solid"/>
          </a:ln>
        </p:spPr>
        <p:txBody>
          <a:bodyPr/>
          <a:lstStyle/>
          <a:p>
            <a:endParaRPr lang="en-US"/>
          </a:p>
        </p:txBody>
      </p:sp>
      <p:sp>
        <p:nvSpPr>
          <p:cNvPr id="42" name="Text 40"/>
          <p:cNvSpPr/>
          <p:nvPr/>
        </p:nvSpPr>
        <p:spPr>
          <a:xfrm>
            <a:off x="594360" y="4434840"/>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Viz Coder</a:t>
            </a:r>
            <a:endParaRPr lang="en-US" sz="1200" dirty="0"/>
          </a:p>
        </p:txBody>
      </p:sp>
      <p:sp>
        <p:nvSpPr>
          <p:cNvPr id="43" name="Shape 41"/>
          <p:cNvSpPr/>
          <p:nvPr/>
        </p:nvSpPr>
        <p:spPr>
          <a:xfrm>
            <a:off x="3291840" y="4526280"/>
            <a:ext cx="2011680" cy="210312"/>
          </a:xfrm>
          <a:prstGeom prst="roundRect">
            <a:avLst>
              <a:gd name="adj" fmla="val 26087"/>
            </a:avLst>
          </a:prstGeom>
          <a:solidFill>
            <a:srgbClr val="F1F5F9"/>
          </a:solidFill>
          <a:ln w="6350">
            <a:solidFill>
              <a:srgbClr val="64748B"/>
            </a:solidFill>
            <a:prstDash val="solid"/>
          </a:ln>
        </p:spPr>
        <p:txBody>
          <a:bodyPr/>
          <a:lstStyle/>
          <a:p>
            <a:endParaRPr lang="en-US"/>
          </a:p>
        </p:txBody>
      </p:sp>
      <p:sp>
        <p:nvSpPr>
          <p:cNvPr id="44" name="Text 42"/>
          <p:cNvSpPr/>
          <p:nvPr/>
        </p:nvSpPr>
        <p:spPr>
          <a:xfrm>
            <a:off x="3291840" y="4526280"/>
            <a:ext cx="2011680" cy="210312"/>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 4.5</a:t>
            </a:r>
            <a:endParaRPr lang="en-US" sz="1050" dirty="0"/>
          </a:p>
        </p:txBody>
      </p:sp>
      <p:sp>
        <p:nvSpPr>
          <p:cNvPr id="45" name="Text 43"/>
          <p:cNvSpPr/>
          <p:nvPr/>
        </p:nvSpPr>
        <p:spPr>
          <a:xfrm>
            <a:off x="5486400" y="4434840"/>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46" name="Text 44"/>
          <p:cNvSpPr/>
          <p:nvPr/>
        </p:nvSpPr>
        <p:spPr>
          <a:xfrm>
            <a:off x="6537960" y="4434840"/>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Writes short, pattern-based matplotlib snippets.  Well-bounded task.</a:t>
            </a:r>
            <a:endParaRPr lang="en-US" sz="1100" dirty="0"/>
          </a:p>
        </p:txBody>
      </p:sp>
      <p:sp>
        <p:nvSpPr>
          <p:cNvPr id="47" name="Shape 45"/>
          <p:cNvSpPr/>
          <p:nvPr/>
        </p:nvSpPr>
        <p:spPr>
          <a:xfrm>
            <a:off x="457200" y="4828032"/>
            <a:ext cx="11265408" cy="393192"/>
          </a:xfrm>
          <a:prstGeom prst="rect">
            <a:avLst/>
          </a:prstGeom>
          <a:solidFill>
            <a:srgbClr val="F8FAFC"/>
          </a:solidFill>
          <a:ln w="6350">
            <a:solidFill>
              <a:srgbClr val="E2E8F0"/>
            </a:solidFill>
            <a:prstDash val="solid"/>
          </a:ln>
        </p:spPr>
        <p:txBody>
          <a:bodyPr/>
          <a:lstStyle/>
          <a:p>
            <a:endParaRPr lang="en-US"/>
          </a:p>
        </p:txBody>
      </p:sp>
      <p:sp>
        <p:nvSpPr>
          <p:cNvPr id="48" name="Text 46"/>
          <p:cNvSpPr/>
          <p:nvPr/>
        </p:nvSpPr>
        <p:spPr>
          <a:xfrm>
            <a:off x="594360" y="4828032"/>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Viz Code Reviewer</a:t>
            </a:r>
            <a:endParaRPr lang="en-US" sz="1200" dirty="0"/>
          </a:p>
        </p:txBody>
      </p:sp>
      <p:sp>
        <p:nvSpPr>
          <p:cNvPr id="49" name="Shape 47"/>
          <p:cNvSpPr/>
          <p:nvPr/>
        </p:nvSpPr>
        <p:spPr>
          <a:xfrm>
            <a:off x="3291840" y="4919472"/>
            <a:ext cx="2011680" cy="210312"/>
          </a:xfrm>
          <a:prstGeom prst="roundRect">
            <a:avLst>
              <a:gd name="adj" fmla="val 26087"/>
            </a:avLst>
          </a:prstGeom>
          <a:solidFill>
            <a:srgbClr val="F1F5F9"/>
          </a:solidFill>
          <a:ln w="6350">
            <a:solidFill>
              <a:srgbClr val="64748B"/>
            </a:solidFill>
            <a:prstDash val="solid"/>
          </a:ln>
        </p:spPr>
        <p:txBody>
          <a:bodyPr/>
          <a:lstStyle/>
          <a:p>
            <a:endParaRPr lang="en-US"/>
          </a:p>
        </p:txBody>
      </p:sp>
      <p:sp>
        <p:nvSpPr>
          <p:cNvPr id="50" name="Text 48"/>
          <p:cNvSpPr/>
          <p:nvPr/>
        </p:nvSpPr>
        <p:spPr>
          <a:xfrm>
            <a:off x="3291840" y="4919472"/>
            <a:ext cx="2011680" cy="210312"/>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 4.5</a:t>
            </a:r>
            <a:endParaRPr lang="en-US" sz="1050" dirty="0"/>
          </a:p>
        </p:txBody>
      </p:sp>
      <p:sp>
        <p:nvSpPr>
          <p:cNvPr id="51" name="Text 49"/>
          <p:cNvSpPr/>
          <p:nvPr/>
        </p:nvSpPr>
        <p:spPr>
          <a:xfrm>
            <a:off x="5486400" y="4828032"/>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52" name="Text 50"/>
          <p:cNvSpPr/>
          <p:nvPr/>
        </p:nvSpPr>
        <p:spPr>
          <a:xfrm>
            <a:off x="6537960" y="4828032"/>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Static safety check for banned identifiers and missing labels.</a:t>
            </a:r>
            <a:endParaRPr lang="en-US" sz="1100" dirty="0"/>
          </a:p>
        </p:txBody>
      </p:sp>
      <p:sp>
        <p:nvSpPr>
          <p:cNvPr id="53" name="Shape 51"/>
          <p:cNvSpPr/>
          <p:nvPr/>
        </p:nvSpPr>
        <p:spPr>
          <a:xfrm>
            <a:off x="457200" y="5221224"/>
            <a:ext cx="11265408" cy="393192"/>
          </a:xfrm>
          <a:prstGeom prst="rect">
            <a:avLst/>
          </a:prstGeom>
          <a:solidFill>
            <a:srgbClr val="FFFFFF"/>
          </a:solidFill>
          <a:ln w="6350">
            <a:solidFill>
              <a:srgbClr val="E2E8F0"/>
            </a:solidFill>
            <a:prstDash val="solid"/>
          </a:ln>
        </p:spPr>
        <p:txBody>
          <a:bodyPr/>
          <a:lstStyle/>
          <a:p>
            <a:endParaRPr lang="en-US"/>
          </a:p>
        </p:txBody>
      </p:sp>
      <p:sp>
        <p:nvSpPr>
          <p:cNvPr id="54" name="Text 52"/>
          <p:cNvSpPr/>
          <p:nvPr/>
        </p:nvSpPr>
        <p:spPr>
          <a:xfrm>
            <a:off x="594360" y="5221224"/>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Viz Reviewer</a:t>
            </a:r>
            <a:endParaRPr lang="en-US" sz="1200" dirty="0"/>
          </a:p>
        </p:txBody>
      </p:sp>
      <p:sp>
        <p:nvSpPr>
          <p:cNvPr id="55" name="Shape 53"/>
          <p:cNvSpPr/>
          <p:nvPr/>
        </p:nvSpPr>
        <p:spPr>
          <a:xfrm>
            <a:off x="3291840" y="5312664"/>
            <a:ext cx="2011680" cy="210312"/>
          </a:xfrm>
          <a:prstGeom prst="roundRect">
            <a:avLst>
              <a:gd name="adj" fmla="val 26087"/>
            </a:avLst>
          </a:prstGeom>
          <a:solidFill>
            <a:srgbClr val="CCFBF1"/>
          </a:solidFill>
          <a:ln w="6350">
            <a:solidFill>
              <a:srgbClr val="0F766E"/>
            </a:solidFill>
            <a:prstDash val="solid"/>
          </a:ln>
        </p:spPr>
        <p:txBody>
          <a:bodyPr/>
          <a:lstStyle/>
          <a:p>
            <a:endParaRPr lang="en-US"/>
          </a:p>
        </p:txBody>
      </p:sp>
      <p:sp>
        <p:nvSpPr>
          <p:cNvPr id="56" name="Text 54"/>
          <p:cNvSpPr/>
          <p:nvPr/>
        </p:nvSpPr>
        <p:spPr>
          <a:xfrm>
            <a:off x="3291840" y="5312664"/>
            <a:ext cx="2011680" cy="210312"/>
          </a:xfrm>
          <a:prstGeom prst="rect">
            <a:avLst/>
          </a:prstGeom>
          <a:noFill/>
          <a:ln/>
        </p:spPr>
        <p:txBody>
          <a:bodyPr wrap="square" lIns="0" tIns="0" rIns="0" bIns="0" rtlCol="0" anchor="ctr"/>
          <a:lstStyle/>
          <a:p>
            <a:pPr marL="0" indent="0" algn="ctr">
              <a:buNone/>
            </a:pPr>
            <a:r>
              <a:rPr lang="en-US" sz="1050" b="1" dirty="0">
                <a:solidFill>
                  <a:srgbClr val="0F766E"/>
                </a:solidFill>
                <a:latin typeface="Calibri" pitchFamily="34" charset="0"/>
                <a:ea typeface="Calibri" pitchFamily="34" charset="-122"/>
                <a:cs typeface="Calibri" pitchFamily="34" charset="-120"/>
              </a:rPr>
              <a:t>Haiku 4.5 vision</a:t>
            </a:r>
            <a:endParaRPr lang="en-US" sz="1050" dirty="0"/>
          </a:p>
        </p:txBody>
      </p:sp>
      <p:sp>
        <p:nvSpPr>
          <p:cNvPr id="57" name="Text 55"/>
          <p:cNvSpPr/>
          <p:nvPr/>
        </p:nvSpPr>
        <p:spPr>
          <a:xfrm>
            <a:off x="5486400" y="5221224"/>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58" name="Text 56"/>
          <p:cNvSpPr/>
          <p:nvPr/>
        </p:nvSpPr>
        <p:spPr>
          <a:xfrm>
            <a:off x="6537960" y="5221224"/>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Must SEE the rendered PNG.  Requires multimodal input natively.</a:t>
            </a:r>
            <a:endParaRPr lang="en-US" sz="1100" dirty="0"/>
          </a:p>
        </p:txBody>
      </p:sp>
      <p:sp>
        <p:nvSpPr>
          <p:cNvPr id="59" name="Shape 57"/>
          <p:cNvSpPr/>
          <p:nvPr/>
        </p:nvSpPr>
        <p:spPr>
          <a:xfrm>
            <a:off x="457200" y="5614416"/>
            <a:ext cx="11265408" cy="393192"/>
          </a:xfrm>
          <a:prstGeom prst="rect">
            <a:avLst/>
          </a:prstGeom>
          <a:solidFill>
            <a:srgbClr val="F8FAFC"/>
          </a:solidFill>
          <a:ln w="6350">
            <a:solidFill>
              <a:srgbClr val="E2E8F0"/>
            </a:solidFill>
            <a:prstDash val="solid"/>
          </a:ln>
        </p:spPr>
        <p:txBody>
          <a:bodyPr/>
          <a:lstStyle/>
          <a:p>
            <a:endParaRPr lang="en-US"/>
          </a:p>
        </p:txBody>
      </p:sp>
      <p:sp>
        <p:nvSpPr>
          <p:cNvPr id="60" name="Text 58"/>
          <p:cNvSpPr/>
          <p:nvPr/>
        </p:nvSpPr>
        <p:spPr>
          <a:xfrm>
            <a:off x="594360" y="5614416"/>
            <a:ext cx="2560320" cy="39319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Supervisor</a:t>
            </a:r>
            <a:endParaRPr lang="en-US" sz="1200" dirty="0"/>
          </a:p>
        </p:txBody>
      </p:sp>
      <p:sp>
        <p:nvSpPr>
          <p:cNvPr id="61" name="Shape 59"/>
          <p:cNvSpPr/>
          <p:nvPr/>
        </p:nvSpPr>
        <p:spPr>
          <a:xfrm>
            <a:off x="3291840" y="5705856"/>
            <a:ext cx="2011680" cy="210312"/>
          </a:xfrm>
          <a:prstGeom prst="roundRect">
            <a:avLst>
              <a:gd name="adj" fmla="val 26087"/>
            </a:avLst>
          </a:prstGeom>
          <a:solidFill>
            <a:srgbClr val="F1F5F9"/>
          </a:solidFill>
          <a:ln w="6350">
            <a:solidFill>
              <a:srgbClr val="64748B"/>
            </a:solidFill>
            <a:prstDash val="solid"/>
          </a:ln>
        </p:spPr>
        <p:txBody>
          <a:bodyPr/>
          <a:lstStyle/>
          <a:p>
            <a:endParaRPr lang="en-US"/>
          </a:p>
        </p:txBody>
      </p:sp>
      <p:sp>
        <p:nvSpPr>
          <p:cNvPr id="62" name="Text 60"/>
          <p:cNvSpPr/>
          <p:nvPr/>
        </p:nvSpPr>
        <p:spPr>
          <a:xfrm>
            <a:off x="3291840" y="5705856"/>
            <a:ext cx="2011680" cy="210312"/>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 4.5</a:t>
            </a:r>
            <a:endParaRPr lang="en-US" sz="1050" dirty="0"/>
          </a:p>
        </p:txBody>
      </p:sp>
      <p:sp>
        <p:nvSpPr>
          <p:cNvPr id="63" name="Text 61"/>
          <p:cNvSpPr/>
          <p:nvPr/>
        </p:nvSpPr>
        <p:spPr>
          <a:xfrm>
            <a:off x="5486400" y="5614416"/>
            <a:ext cx="822960" cy="393192"/>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0.0</a:t>
            </a:r>
            <a:endParaRPr lang="en-US" sz="1200" dirty="0"/>
          </a:p>
        </p:txBody>
      </p:sp>
      <p:sp>
        <p:nvSpPr>
          <p:cNvPr id="64" name="Text 62"/>
          <p:cNvSpPr/>
          <p:nvPr/>
        </p:nvSpPr>
        <p:spPr>
          <a:xfrm>
            <a:off x="6537960" y="5614416"/>
            <a:ext cx="5596128" cy="39319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Picks one of four recovery actions from the step trace.  A small decision.</a:t>
            </a:r>
            <a:endParaRPr lang="en-US" sz="1100" dirty="0"/>
          </a:p>
        </p:txBody>
      </p:sp>
      <p:sp>
        <p:nvSpPr>
          <p:cNvPr id="65" name="Text 63"/>
          <p:cNvSpPr/>
          <p:nvPr/>
        </p:nvSpPr>
        <p:spPr>
          <a:xfrm>
            <a:off x="457200" y="6263640"/>
            <a:ext cx="11247120" cy="32004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All agents run at temp 0 to maximise determinism.  </a:t>
            </a:r>
            <a:r>
              <a:rPr lang="en-US" sz="1200" b="1" i="1" dirty="0">
                <a:solidFill>
                  <a:srgbClr val="B45309"/>
                </a:solidFill>
                <a:latin typeface="Calibri" pitchFamily="34" charset="0"/>
                <a:ea typeface="Calibri" pitchFamily="34" charset="-122"/>
                <a:cs typeface="Calibri" pitchFamily="34" charset="-120"/>
              </a:rPr>
              <a:t>Sonnet </a:t>
            </a:r>
            <a:r>
              <a:rPr lang="en-US" sz="1200" i="1" dirty="0">
                <a:solidFill>
                  <a:srgbClr val="64748B"/>
                </a:solidFill>
                <a:latin typeface="Calibri" pitchFamily="34" charset="0"/>
                <a:ea typeface="Calibri" pitchFamily="34" charset="-122"/>
                <a:cs typeface="Calibri" pitchFamily="34" charset="-120"/>
              </a:rPr>
              <a:t>= SQL-quality bottleneck only.  </a:t>
            </a:r>
            <a:r>
              <a:rPr lang="en-US" sz="1200" b="1" i="1" dirty="0">
                <a:solidFill>
                  <a:srgbClr val="0F766E"/>
                </a:solidFill>
                <a:latin typeface="Calibri" pitchFamily="34" charset="0"/>
                <a:ea typeface="Calibri" pitchFamily="34" charset="-122"/>
                <a:cs typeface="Calibri" pitchFamily="34" charset="-120"/>
              </a:rPr>
              <a:t>Haiku vision </a:t>
            </a:r>
            <a:r>
              <a:rPr lang="en-US" sz="1200" i="1" dirty="0">
                <a:solidFill>
                  <a:srgbClr val="64748B"/>
                </a:solidFill>
                <a:latin typeface="Calibri" pitchFamily="34" charset="0"/>
                <a:ea typeface="Calibri" pitchFamily="34" charset="-122"/>
                <a:cs typeface="Calibri" pitchFamily="34" charset="-120"/>
              </a:rPr>
              <a:t>= the one agent that must inspect an image.  Everything else = standard Haiku.</a:t>
            </a:r>
            <a:endParaRPr lang="en-US" sz="1200" dirty="0"/>
          </a:p>
        </p:txBody>
      </p:sp>
      <p:sp>
        <p:nvSpPr>
          <p:cNvPr id="66" name="Text 64"/>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27</a:t>
            </a:r>
            <a:endParaRPr lang="en-US" sz="900" dirty="0"/>
          </a:p>
        </p:txBody>
      </p:sp>
      <p:sp>
        <p:nvSpPr>
          <p:cNvPr id="67" name="Text 65"/>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THE TWO SPECIFIC FAILURE MODES SONNET FIXED</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Why Sonnet 4.6 for the Coder  +  Code Reviewer</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41148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Earlier iterations ran the Coder on Haiku 4.5 to save cost.  Two specific failure modes drove the upgrade.</a:t>
            </a:r>
            <a:endParaRPr lang="en-US" sz="1400" dirty="0"/>
          </a:p>
        </p:txBody>
      </p:sp>
      <p:sp>
        <p:nvSpPr>
          <p:cNvPr id="6" name="Shape 4"/>
          <p:cNvSpPr/>
          <p:nvPr/>
        </p:nvSpPr>
        <p:spPr>
          <a:xfrm>
            <a:off x="457200" y="1965960"/>
            <a:ext cx="5486400" cy="320040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1965960"/>
            <a:ext cx="73152" cy="3200400"/>
          </a:xfrm>
          <a:prstGeom prst="rect">
            <a:avLst/>
          </a:prstGeom>
          <a:solidFill>
            <a:srgbClr val="B45309"/>
          </a:solidFill>
          <a:ln w="12700">
            <a:solidFill>
              <a:srgbClr val="B45309"/>
            </a:solidFill>
            <a:prstDash val="solid"/>
          </a:ln>
        </p:spPr>
        <p:txBody>
          <a:bodyPr/>
          <a:lstStyle/>
          <a:p>
            <a:endParaRPr lang="en-US"/>
          </a:p>
        </p:txBody>
      </p:sp>
      <p:sp>
        <p:nvSpPr>
          <p:cNvPr id="8" name="Text 6"/>
          <p:cNvSpPr/>
          <p:nvPr/>
        </p:nvSpPr>
        <p:spPr>
          <a:xfrm>
            <a:off x="685800" y="2103120"/>
            <a:ext cx="5212080" cy="27432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FAILURE MODE 1 — WINDOW FUNCTIONS</a:t>
            </a:r>
            <a:endParaRPr lang="en-US" sz="1400" dirty="0"/>
          </a:p>
        </p:txBody>
      </p:sp>
      <p:sp>
        <p:nvSpPr>
          <p:cNvPr id="9" name="Text 7"/>
          <p:cNvSpPr/>
          <p:nvPr/>
        </p:nvSpPr>
        <p:spPr>
          <a:xfrm>
            <a:off x="685800" y="2423160"/>
            <a:ext cx="5212080" cy="45720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MySQL window-function syntax required for top-N within each group.</a:t>
            </a:r>
            <a:endParaRPr lang="en-US" sz="1400" dirty="0"/>
          </a:p>
        </p:txBody>
      </p:sp>
      <p:sp>
        <p:nvSpPr>
          <p:cNvPr id="10" name="Shape 8"/>
          <p:cNvSpPr/>
          <p:nvPr/>
        </p:nvSpPr>
        <p:spPr>
          <a:xfrm>
            <a:off x="685800" y="3017520"/>
            <a:ext cx="5074920" cy="548640"/>
          </a:xfrm>
          <a:prstGeom prst="rect">
            <a:avLst/>
          </a:prstGeom>
          <a:solidFill>
            <a:srgbClr val="0F172A"/>
          </a:solidFill>
          <a:ln w="9525">
            <a:solidFill>
              <a:srgbClr val="0F172A"/>
            </a:solidFill>
            <a:prstDash val="solid"/>
          </a:ln>
        </p:spPr>
        <p:txBody>
          <a:bodyPr/>
          <a:lstStyle/>
          <a:p>
            <a:endParaRPr lang="en-US"/>
          </a:p>
        </p:txBody>
      </p:sp>
      <p:sp>
        <p:nvSpPr>
          <p:cNvPr id="11" name="Text 9"/>
          <p:cNvSpPr/>
          <p:nvPr/>
        </p:nvSpPr>
        <p:spPr>
          <a:xfrm>
            <a:off x="777240" y="3035808"/>
            <a:ext cx="4937760" cy="502920"/>
          </a:xfrm>
          <a:prstGeom prst="rect">
            <a:avLst/>
          </a:prstGeom>
          <a:noFill/>
          <a:ln/>
        </p:spPr>
        <p:txBody>
          <a:bodyPr wrap="square" lIns="0" tIns="0" rIns="0" bIns="0" rtlCol="0" anchor="ctr"/>
          <a:lstStyle/>
          <a:p>
            <a:pPr marL="0" indent="0">
              <a:buNone/>
            </a:pPr>
            <a:r>
              <a:rPr lang="en-US" sz="1200" dirty="0">
                <a:solidFill>
                  <a:srgbClr val="A5F3FC"/>
                </a:solidFill>
                <a:latin typeface="Consolas" pitchFamily="34" charset="0"/>
                <a:ea typeface="Consolas" pitchFamily="34" charset="-122"/>
                <a:cs typeface="Consolas" pitchFamily="34" charset="-120"/>
              </a:rPr>
              <a:t>ROW_NUMBER() OVER (PARTITION BY ... ORDER BY ...)</a:t>
            </a:r>
            <a:endParaRPr lang="en-US" sz="1200" dirty="0"/>
          </a:p>
        </p:txBody>
      </p:sp>
      <p:sp>
        <p:nvSpPr>
          <p:cNvPr id="12" name="Text 10"/>
          <p:cNvSpPr/>
          <p:nvPr/>
        </p:nvSpPr>
        <p:spPr>
          <a:xfrm>
            <a:off x="685800" y="3703320"/>
            <a:ext cx="5074920" cy="1371600"/>
          </a:xfrm>
          <a:prstGeom prst="rect">
            <a:avLst/>
          </a:prstGeom>
          <a:noFill/>
          <a:ln/>
        </p:spPr>
        <p:txBody>
          <a:bodyPr wrap="square" lIns="0" tIns="0" rIns="0" bIns="0" rtlCol="0" anchor="t"/>
          <a:lstStyle/>
          <a:p>
            <a:pPr marL="0" indent="0">
              <a:buNone/>
            </a:pPr>
            <a:r>
              <a:rPr lang="en-US" sz="1400" b="1" dirty="0">
                <a:solidFill>
                  <a:srgbClr val="B91C1C"/>
                </a:solidFill>
                <a:latin typeface="Calibri" pitchFamily="34" charset="0"/>
                <a:ea typeface="Calibri" pitchFamily="34" charset="-122"/>
                <a:cs typeface="Calibri" pitchFamily="34" charset="-120"/>
              </a:rPr>
              <a:t>Haiku 4.5: </a:t>
            </a:r>
            <a:r>
              <a:rPr lang="en-US" sz="1400" dirty="0">
                <a:solidFill>
                  <a:srgbClr val="334155"/>
                </a:solidFill>
                <a:latin typeface="Calibri" pitchFamily="34" charset="0"/>
                <a:ea typeface="Calibri" pitchFamily="34" charset="-122"/>
                <a:cs typeface="Calibri" pitchFamily="34" charset="-120"/>
              </a:rPr>
              <a:t>consistently mis-syntaxed the PARTITION BY clause, omitted the ORDER BY, or fell back to nested sub-queries that returned the wrong row count.</a:t>
            </a:r>
            <a:endParaRPr lang="en-US" sz="1400" dirty="0"/>
          </a:p>
          <a:p>
            <a:pPr marL="0" indent="0">
              <a:buNone/>
            </a:pPr>
            <a:r>
              <a:rPr lang="en-US" sz="7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5803D"/>
                </a:solidFill>
                <a:latin typeface="Calibri" pitchFamily="34" charset="0"/>
                <a:ea typeface="Calibri" pitchFamily="34" charset="-122"/>
                <a:cs typeface="Calibri" pitchFamily="34" charset="-120"/>
              </a:rPr>
              <a:t>Sonnet 4.6: </a:t>
            </a:r>
            <a:r>
              <a:rPr lang="en-US" sz="1400" dirty="0">
                <a:solidFill>
                  <a:srgbClr val="334155"/>
                </a:solidFill>
                <a:latin typeface="Calibri" pitchFamily="34" charset="0"/>
                <a:ea typeface="Calibri" pitchFamily="34" charset="-122"/>
                <a:cs typeface="Calibri" pitchFamily="34" charset="-120"/>
              </a:rPr>
              <a:t>handles it reliably under the same prompt.</a:t>
            </a:r>
            <a:endParaRPr lang="en-US" sz="1400" dirty="0"/>
          </a:p>
        </p:txBody>
      </p:sp>
      <p:sp>
        <p:nvSpPr>
          <p:cNvPr id="13" name="Shape 11"/>
          <p:cNvSpPr/>
          <p:nvPr/>
        </p:nvSpPr>
        <p:spPr>
          <a:xfrm>
            <a:off x="6263640" y="1965960"/>
            <a:ext cx="5486400" cy="3200400"/>
          </a:xfrm>
          <a:prstGeom prst="rect">
            <a:avLst/>
          </a:prstGeom>
          <a:solidFill>
            <a:srgbClr val="F8FAFC"/>
          </a:solidFill>
          <a:ln w="9525">
            <a:solidFill>
              <a:srgbClr val="E2E8F0"/>
            </a:solidFill>
            <a:prstDash val="solid"/>
          </a:ln>
        </p:spPr>
        <p:txBody>
          <a:bodyPr/>
          <a:lstStyle/>
          <a:p>
            <a:endParaRPr lang="en-US"/>
          </a:p>
        </p:txBody>
      </p:sp>
      <p:sp>
        <p:nvSpPr>
          <p:cNvPr id="14" name="Shape 12"/>
          <p:cNvSpPr/>
          <p:nvPr/>
        </p:nvSpPr>
        <p:spPr>
          <a:xfrm>
            <a:off x="6263640" y="1965960"/>
            <a:ext cx="73152" cy="3200400"/>
          </a:xfrm>
          <a:prstGeom prst="rect">
            <a:avLst/>
          </a:prstGeom>
          <a:solidFill>
            <a:srgbClr val="B45309"/>
          </a:solidFill>
          <a:ln w="12700">
            <a:solidFill>
              <a:srgbClr val="B45309"/>
            </a:solidFill>
            <a:prstDash val="solid"/>
          </a:ln>
        </p:spPr>
        <p:txBody>
          <a:bodyPr/>
          <a:lstStyle/>
          <a:p>
            <a:endParaRPr lang="en-US"/>
          </a:p>
        </p:txBody>
      </p:sp>
      <p:sp>
        <p:nvSpPr>
          <p:cNvPr id="15" name="Text 13"/>
          <p:cNvSpPr/>
          <p:nvPr/>
        </p:nvSpPr>
        <p:spPr>
          <a:xfrm>
            <a:off x="6492240" y="2103120"/>
            <a:ext cx="5212080" cy="27432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FAILURE MODE 2 — DOMAIN VOCABULARY</a:t>
            </a:r>
            <a:endParaRPr lang="en-US" sz="1400" dirty="0"/>
          </a:p>
        </p:txBody>
      </p:sp>
      <p:sp>
        <p:nvSpPr>
          <p:cNvPr id="16" name="Text 14"/>
          <p:cNvSpPr/>
          <p:nvPr/>
        </p:nvSpPr>
        <p:spPr>
          <a:xfrm>
            <a:off x="6492240" y="2423160"/>
            <a:ext cx="5212080" cy="59436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Disambiguating non_purchase_type vs attribute_value — central to the merchandising domain.</a:t>
            </a:r>
            <a:endParaRPr lang="en-US" sz="1400" dirty="0"/>
          </a:p>
        </p:txBody>
      </p:sp>
      <p:sp>
        <p:nvSpPr>
          <p:cNvPr id="17" name="Text 15"/>
          <p:cNvSpPr/>
          <p:nvPr/>
        </p:nvSpPr>
        <p:spPr>
          <a:xfrm>
            <a:off x="6492240" y="3108960"/>
            <a:ext cx="5212080" cy="274320"/>
          </a:xfrm>
          <a:prstGeom prst="rect">
            <a:avLst/>
          </a:prstGeom>
          <a:noFill/>
          <a:ln/>
        </p:spPr>
        <p:txBody>
          <a:bodyPr wrap="square" lIns="0" tIns="0" rIns="0" bIns="0" rtlCol="0" anchor="ctr"/>
          <a:lstStyle/>
          <a:p>
            <a:pPr marL="0" indent="0">
              <a:buNone/>
            </a:pPr>
            <a:r>
              <a:rPr lang="en-US" sz="1100" dirty="0">
                <a:solidFill>
                  <a:srgbClr val="0F766E"/>
                </a:solidFill>
                <a:latin typeface="Consolas" pitchFamily="34" charset="0"/>
                <a:ea typeface="Consolas" pitchFamily="34" charset="-122"/>
                <a:cs typeface="Consolas" pitchFamily="34" charset="-120"/>
              </a:rPr>
              <a:t>non_purchase_type ∈  {design, size, color, weight, price, customization, ...}</a:t>
            </a:r>
            <a:endParaRPr lang="en-US" sz="1100" dirty="0"/>
          </a:p>
        </p:txBody>
      </p:sp>
      <p:sp>
        <p:nvSpPr>
          <p:cNvPr id="18" name="Text 16"/>
          <p:cNvSpPr/>
          <p:nvPr/>
        </p:nvSpPr>
        <p:spPr>
          <a:xfrm>
            <a:off x="6492240" y="3383280"/>
            <a:ext cx="5212080" cy="274320"/>
          </a:xfrm>
          <a:prstGeom prst="rect">
            <a:avLst/>
          </a:prstGeom>
          <a:noFill/>
          <a:ln/>
        </p:spPr>
        <p:txBody>
          <a:bodyPr wrap="square" lIns="0" tIns="0" rIns="0" bIns="0" rtlCol="0" anchor="ctr"/>
          <a:lstStyle/>
          <a:p>
            <a:pPr marL="0" indent="0">
              <a:buNone/>
            </a:pPr>
            <a:r>
              <a:rPr lang="en-US" sz="1100" dirty="0">
                <a:solidFill>
                  <a:srgbClr val="0F766E"/>
                </a:solidFill>
                <a:latin typeface="Consolas" pitchFamily="34" charset="0"/>
                <a:ea typeface="Consolas" pitchFamily="34" charset="-122"/>
                <a:cs typeface="Consolas" pitchFamily="34" charset="-120"/>
              </a:rPr>
              <a:t>attribute_value ∈  {'rose gold', 'size 8', 'star design', ...}</a:t>
            </a:r>
            <a:endParaRPr lang="en-US" sz="1100" dirty="0"/>
          </a:p>
        </p:txBody>
      </p:sp>
      <p:sp>
        <p:nvSpPr>
          <p:cNvPr id="19" name="Text 17"/>
          <p:cNvSpPr/>
          <p:nvPr/>
        </p:nvSpPr>
        <p:spPr>
          <a:xfrm>
            <a:off x="6492240" y="3794760"/>
            <a:ext cx="5074920" cy="1280160"/>
          </a:xfrm>
          <a:prstGeom prst="rect">
            <a:avLst/>
          </a:prstGeom>
          <a:noFill/>
          <a:ln/>
        </p:spPr>
        <p:txBody>
          <a:bodyPr wrap="square" lIns="0" tIns="0" rIns="0" bIns="0" rtlCol="0" anchor="t"/>
          <a:lstStyle/>
          <a:p>
            <a:pPr marL="0" indent="0">
              <a:buNone/>
            </a:pPr>
            <a:r>
              <a:rPr lang="en-US" sz="1400" b="1" dirty="0">
                <a:solidFill>
                  <a:srgbClr val="B91C1C"/>
                </a:solidFill>
                <a:latin typeface="Calibri" pitchFamily="34" charset="0"/>
                <a:ea typeface="Calibri" pitchFamily="34" charset="-122"/>
                <a:cs typeface="Calibri" pitchFamily="34" charset="-120"/>
              </a:rPr>
              <a:t>Haiku 4.5: </a:t>
            </a:r>
            <a:r>
              <a:rPr lang="en-US" sz="1400" dirty="0">
                <a:solidFill>
                  <a:srgbClr val="334155"/>
                </a:solidFill>
                <a:latin typeface="Calibri" pitchFamily="34" charset="0"/>
                <a:ea typeface="Calibri" pitchFamily="34" charset="-122"/>
                <a:cs typeface="Calibri" pitchFamily="34" charset="-120"/>
              </a:rPr>
              <a:t>filtered on the wrong column on compound questions like </a:t>
            </a:r>
            <a:r>
              <a:rPr lang="en-US" sz="1400" i="1" dirty="0">
                <a:solidFill>
                  <a:srgbClr val="64748B"/>
                </a:solidFill>
                <a:latin typeface="Calibri" pitchFamily="34" charset="0"/>
                <a:ea typeface="Calibri" pitchFamily="34" charset="-122"/>
                <a:cs typeface="Calibri" pitchFamily="34" charset="-120"/>
              </a:rPr>
              <a:t>“top design attributes at X1”</a:t>
            </a:r>
            <a:endParaRPr lang="en-US" sz="1400" dirty="0"/>
          </a:p>
          <a:p>
            <a:pPr marL="0" indent="0">
              <a:buNone/>
            </a:pPr>
            <a:r>
              <a:rPr lang="en-US" sz="7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5803D"/>
                </a:solidFill>
                <a:latin typeface="Calibri" pitchFamily="34" charset="0"/>
                <a:ea typeface="Calibri" pitchFamily="34" charset="-122"/>
                <a:cs typeface="Calibri" pitchFamily="34" charset="-120"/>
              </a:rPr>
              <a:t>Sonnet 4.6: </a:t>
            </a:r>
            <a:r>
              <a:rPr lang="en-US" sz="1400" dirty="0">
                <a:solidFill>
                  <a:srgbClr val="334155"/>
                </a:solidFill>
                <a:latin typeface="Calibri" pitchFamily="34" charset="0"/>
                <a:ea typeface="Calibri" pitchFamily="34" charset="-122"/>
                <a:cs typeface="Calibri" pitchFamily="34" charset="-120"/>
              </a:rPr>
              <a:t>picks the right column under the same prompt.</a:t>
            </a:r>
            <a:endParaRPr lang="en-US" sz="1400" dirty="0"/>
          </a:p>
        </p:txBody>
      </p:sp>
      <p:sp>
        <p:nvSpPr>
          <p:cNvPr id="20" name="Shape 18"/>
          <p:cNvSpPr/>
          <p:nvPr/>
        </p:nvSpPr>
        <p:spPr>
          <a:xfrm>
            <a:off x="457200" y="5440680"/>
            <a:ext cx="11247120" cy="960120"/>
          </a:xfrm>
          <a:prstGeom prst="rect">
            <a:avLst/>
          </a:prstGeom>
          <a:solidFill>
            <a:srgbClr val="CCFBF1"/>
          </a:solidFill>
          <a:ln w="6350">
            <a:solidFill>
              <a:srgbClr val="0F766E"/>
            </a:solidFill>
            <a:prstDash val="solid"/>
          </a:ln>
        </p:spPr>
        <p:txBody>
          <a:bodyPr/>
          <a:lstStyle/>
          <a:p>
            <a:endParaRPr lang="en-US"/>
          </a:p>
        </p:txBody>
      </p:sp>
      <p:sp>
        <p:nvSpPr>
          <p:cNvPr id="21" name="Text 19"/>
          <p:cNvSpPr/>
          <p:nvPr/>
        </p:nvSpPr>
        <p:spPr>
          <a:xfrm>
            <a:off x="685800" y="5532120"/>
            <a:ext cx="10835640" cy="274320"/>
          </a:xfrm>
          <a:prstGeom prst="rect">
            <a:avLst/>
          </a:prstGeom>
          <a:noFill/>
          <a:ln/>
        </p:spPr>
        <p:txBody>
          <a:bodyPr wrap="square" lIns="0" tIns="0" rIns="0" bIns="0" rtlCol="0" anchor="ctr"/>
          <a:lstStyle/>
          <a:p>
            <a:pPr marL="0" indent="0">
              <a:buNone/>
            </a:pPr>
            <a:r>
              <a:rPr lang="en-US" sz="1200" b="1" kern="0" spc="300" dirty="0">
                <a:solidFill>
                  <a:srgbClr val="0F766E"/>
                </a:solidFill>
                <a:latin typeface="Calibri" pitchFamily="34" charset="0"/>
                <a:ea typeface="Calibri" pitchFamily="34" charset="-122"/>
                <a:cs typeface="Calibri" pitchFamily="34" charset="-120"/>
              </a:rPr>
              <a:t>THE REVIEWER MUST MATCH THE CODER</a:t>
            </a:r>
            <a:endParaRPr lang="en-US" sz="1200" dirty="0"/>
          </a:p>
        </p:txBody>
      </p:sp>
      <p:sp>
        <p:nvSpPr>
          <p:cNvPr id="22" name="Text 20"/>
          <p:cNvSpPr/>
          <p:nvPr/>
        </p:nvSpPr>
        <p:spPr>
          <a:xfrm>
            <a:off x="685800" y="5806440"/>
            <a:ext cx="10789920" cy="54864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A Haiku-tier reviewer cannot catch a Sonnet-tier Coder's subtle mistakes.  Tier-matching is what makes the reasoning-vs-SQL verification work in practice</a:t>
            </a:r>
            <a:endParaRPr lang="en-US" sz="1400" dirty="0"/>
          </a:p>
        </p:txBody>
      </p:sp>
      <p:sp>
        <p:nvSpPr>
          <p:cNvPr id="23" name="Text 21"/>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27</a:t>
            </a:r>
            <a:endParaRPr lang="en-US" sz="900" dirty="0"/>
          </a:p>
        </p:txBody>
      </p:sp>
      <p:sp>
        <p:nvSpPr>
          <p:cNvPr id="24" name="Text 22"/>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KNOWLEDGE LAYER</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Data Layer  &amp;  Closed-Enum Discipline</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One MySQL table.  Nine captured columns + four LLM-enriched columns.  Enrichment runs once offline and not per chat turn.</a:t>
            </a:r>
            <a:endParaRPr lang="en-US" sz="1400" dirty="0"/>
          </a:p>
        </p:txBody>
      </p:sp>
      <p:sp>
        <p:nvSpPr>
          <p:cNvPr id="6" name="Shape 4"/>
          <p:cNvSpPr/>
          <p:nvPr/>
        </p:nvSpPr>
        <p:spPr>
          <a:xfrm>
            <a:off x="457200" y="1920240"/>
            <a:ext cx="5029200" cy="4023360"/>
          </a:xfrm>
          <a:prstGeom prst="rect">
            <a:avLst/>
          </a:prstGeom>
          <a:solidFill>
            <a:srgbClr val="F8FAFC"/>
          </a:solidFill>
          <a:ln w="9525">
            <a:solidFill>
              <a:srgbClr val="E2E8F0"/>
            </a:solidFill>
            <a:prstDash val="solid"/>
          </a:ln>
        </p:spPr>
        <p:txBody>
          <a:bodyPr/>
          <a:lstStyle/>
          <a:p>
            <a:endParaRPr lang="en-US"/>
          </a:p>
        </p:txBody>
      </p:sp>
      <p:sp>
        <p:nvSpPr>
          <p:cNvPr id="7" name="Text 5"/>
          <p:cNvSpPr/>
          <p:nvPr/>
        </p:nvSpPr>
        <p:spPr>
          <a:xfrm>
            <a:off x="640080" y="2011680"/>
            <a:ext cx="475488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THE SCHEMA</a:t>
            </a:r>
            <a:endParaRPr lang="en-US" sz="1400" dirty="0"/>
          </a:p>
        </p:txBody>
      </p:sp>
      <p:sp>
        <p:nvSpPr>
          <p:cNvPr id="8" name="Text 6"/>
          <p:cNvSpPr/>
          <p:nvPr/>
        </p:nvSpPr>
        <p:spPr>
          <a:xfrm>
            <a:off x="640080" y="2331720"/>
            <a:ext cx="4754880" cy="274320"/>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Captured at the storefront (9 cols)</a:t>
            </a:r>
            <a:endParaRPr lang="en-US" sz="1200" dirty="0"/>
          </a:p>
        </p:txBody>
      </p:sp>
      <p:sp>
        <p:nvSpPr>
          <p:cNvPr id="9" name="Text 7"/>
          <p:cNvSpPr/>
          <p:nvPr/>
        </p:nvSpPr>
        <p:spPr>
          <a:xfrm>
            <a:off x="640080" y="2606040"/>
            <a:ext cx="4754880" cy="118872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feedback_id  ·  visit_date  ·  store_code  ·  customer_name  ·  customer_email  ·  user_category  ·  product_looking_for  ·  reason_for_non_purchase  ·  ground_truth_topic</a:t>
            </a:r>
            <a:endParaRPr lang="en-US" sz="1100" dirty="0"/>
          </a:p>
        </p:txBody>
      </p:sp>
      <p:sp>
        <p:nvSpPr>
          <p:cNvPr id="10" name="Text 8"/>
          <p:cNvSpPr/>
          <p:nvPr/>
        </p:nvSpPr>
        <p:spPr>
          <a:xfrm>
            <a:off x="640080" y="3886200"/>
            <a:ext cx="4754880" cy="274320"/>
          </a:xfrm>
          <a:prstGeom prst="rect">
            <a:avLst/>
          </a:prstGeom>
          <a:noFill/>
          <a:ln/>
        </p:spPr>
        <p:txBody>
          <a:bodyPr wrap="square" lIns="0" tIns="0" rIns="0" bIns="0" rtlCol="0" anchor="ctr"/>
          <a:lstStyle/>
          <a:p>
            <a:pPr marL="0" indent="0">
              <a:buNone/>
            </a:pPr>
            <a:r>
              <a:rPr lang="en-US" sz="1200" b="1" dirty="0">
                <a:solidFill>
                  <a:srgbClr val="B45309"/>
                </a:solidFill>
                <a:latin typeface="Calibri" pitchFamily="34" charset="0"/>
                <a:ea typeface="Calibri" pitchFamily="34" charset="-122"/>
                <a:cs typeface="Calibri" pitchFamily="34" charset="-120"/>
              </a:rPr>
              <a:t>Enriched offline by LLM Topic Classifier (4 cols)</a:t>
            </a:r>
            <a:endParaRPr lang="en-US" sz="1200" dirty="0"/>
          </a:p>
        </p:txBody>
      </p:sp>
      <p:sp>
        <p:nvSpPr>
          <p:cNvPr id="11" name="Text 9"/>
          <p:cNvSpPr/>
          <p:nvPr/>
        </p:nvSpPr>
        <p:spPr>
          <a:xfrm>
            <a:off x="640080" y="4160520"/>
            <a:ext cx="4754880" cy="73152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inferred_topic  ·  topic_confidence  ·  non_purchase_type  ·  attribute_value</a:t>
            </a:r>
            <a:endParaRPr lang="en-US" sz="1100" dirty="0"/>
          </a:p>
        </p:txBody>
      </p:sp>
      <p:sp>
        <p:nvSpPr>
          <p:cNvPr id="12" name="Text 10"/>
          <p:cNvSpPr/>
          <p:nvPr/>
        </p:nvSpPr>
        <p:spPr>
          <a:xfrm>
            <a:off x="640080" y="4983480"/>
            <a:ext cx="4754880" cy="91440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Why offline?  </a:t>
            </a:r>
            <a:r>
              <a:rPr lang="en-US" sz="1200" dirty="0">
                <a:solidFill>
                  <a:srgbClr val="334155"/>
                </a:solidFill>
                <a:latin typeface="Calibri" pitchFamily="34" charset="0"/>
                <a:ea typeface="Calibri" pitchFamily="34" charset="-122"/>
                <a:cs typeface="Calibri" pitchFamily="34" charset="-120"/>
              </a:rPr>
              <a:t>Pattern-matching free-text reasons inside every chat turn would be fragile and slow.  Persisting clean structured columns lets the Coder write aggregations against enums.</a:t>
            </a:r>
            <a:endParaRPr lang="en-US" sz="1200" dirty="0"/>
          </a:p>
        </p:txBody>
      </p:sp>
      <p:sp>
        <p:nvSpPr>
          <p:cNvPr id="13" name="Shape 11"/>
          <p:cNvSpPr/>
          <p:nvPr/>
        </p:nvSpPr>
        <p:spPr>
          <a:xfrm>
            <a:off x="5806440" y="1920240"/>
            <a:ext cx="5943600" cy="4023360"/>
          </a:xfrm>
          <a:prstGeom prst="rect">
            <a:avLst/>
          </a:prstGeom>
          <a:solidFill>
            <a:srgbClr val="F8FAFC"/>
          </a:solidFill>
          <a:ln w="9525">
            <a:solidFill>
              <a:srgbClr val="E2E8F0"/>
            </a:solidFill>
            <a:prstDash val="solid"/>
          </a:ln>
        </p:spPr>
        <p:txBody>
          <a:bodyPr/>
          <a:lstStyle/>
          <a:p>
            <a:endParaRPr lang="en-US"/>
          </a:p>
        </p:txBody>
      </p:sp>
      <p:sp>
        <p:nvSpPr>
          <p:cNvPr id="14" name="Text 12"/>
          <p:cNvSpPr/>
          <p:nvPr/>
        </p:nvSpPr>
        <p:spPr>
          <a:xfrm>
            <a:off x="5989320" y="2011680"/>
            <a:ext cx="566928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CLOSED ENUMS — DUAL ENFORCEMENT</a:t>
            </a:r>
            <a:endParaRPr lang="en-US" sz="1400" dirty="0"/>
          </a:p>
        </p:txBody>
      </p:sp>
      <p:sp>
        <p:nvSpPr>
          <p:cNvPr id="15" name="Text 13"/>
          <p:cNvSpPr/>
          <p:nvPr/>
        </p:nvSpPr>
        <p:spPr>
          <a:xfrm>
            <a:off x="5989320" y="2286000"/>
            <a:ext cx="566928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Validated in the prompt AND in Python.  Out-of-enum output counts against the retry budget.</a:t>
            </a:r>
            <a:endParaRPr lang="en-US" sz="1200" dirty="0"/>
          </a:p>
        </p:txBody>
      </p:sp>
      <p:sp>
        <p:nvSpPr>
          <p:cNvPr id="16" name="Shape 14"/>
          <p:cNvSpPr/>
          <p:nvPr/>
        </p:nvSpPr>
        <p:spPr>
          <a:xfrm>
            <a:off x="5989320" y="2697480"/>
            <a:ext cx="5577840" cy="274320"/>
          </a:xfrm>
          <a:prstGeom prst="rect">
            <a:avLst/>
          </a:prstGeom>
          <a:solidFill>
            <a:srgbClr val="1E293B"/>
          </a:solidFill>
          <a:ln w="12700">
            <a:solidFill>
              <a:srgbClr val="333333"/>
            </a:solidFill>
            <a:prstDash val="solid"/>
          </a:ln>
        </p:spPr>
        <p:txBody>
          <a:bodyPr/>
          <a:lstStyle/>
          <a:p>
            <a:endParaRPr lang="en-US"/>
          </a:p>
        </p:txBody>
      </p:sp>
      <p:sp>
        <p:nvSpPr>
          <p:cNvPr id="17" name="Text 15"/>
          <p:cNvSpPr/>
          <p:nvPr/>
        </p:nvSpPr>
        <p:spPr>
          <a:xfrm>
            <a:off x="6080760" y="2697480"/>
            <a:ext cx="310896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inferred_topic</a:t>
            </a:r>
            <a:endParaRPr lang="en-US" sz="1050" dirty="0"/>
          </a:p>
        </p:txBody>
      </p:sp>
      <p:sp>
        <p:nvSpPr>
          <p:cNvPr id="18" name="Text 16"/>
          <p:cNvSpPr/>
          <p:nvPr/>
        </p:nvSpPr>
        <p:spPr>
          <a:xfrm>
            <a:off x="9144000" y="2697480"/>
            <a:ext cx="237744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non_purchase_type</a:t>
            </a:r>
            <a:endParaRPr lang="en-US" sz="1050" dirty="0"/>
          </a:p>
        </p:txBody>
      </p:sp>
      <p:sp>
        <p:nvSpPr>
          <p:cNvPr id="19" name="Shape 17"/>
          <p:cNvSpPr/>
          <p:nvPr/>
        </p:nvSpPr>
        <p:spPr>
          <a:xfrm>
            <a:off x="5989320" y="2971800"/>
            <a:ext cx="5577840" cy="274320"/>
          </a:xfrm>
          <a:prstGeom prst="rect">
            <a:avLst/>
          </a:prstGeom>
          <a:solidFill>
            <a:srgbClr val="FFFFFF"/>
          </a:solidFill>
          <a:ln w="5080">
            <a:solidFill>
              <a:srgbClr val="E2E8F0"/>
            </a:solidFill>
            <a:prstDash val="solid"/>
          </a:ln>
        </p:spPr>
        <p:txBody>
          <a:bodyPr/>
          <a:lstStyle/>
          <a:p>
            <a:endParaRPr lang="en-US"/>
          </a:p>
        </p:txBody>
      </p:sp>
      <p:sp>
        <p:nvSpPr>
          <p:cNvPr id="20" name="Text 18"/>
          <p:cNvSpPr/>
          <p:nvPr/>
        </p:nvSpPr>
        <p:spPr>
          <a:xfrm>
            <a:off x="6080760" y="297180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Design Unavailable</a:t>
            </a:r>
            <a:endParaRPr lang="en-US" sz="1050" dirty="0"/>
          </a:p>
        </p:txBody>
      </p:sp>
      <p:sp>
        <p:nvSpPr>
          <p:cNvPr id="21" name="Text 19"/>
          <p:cNvSpPr/>
          <p:nvPr/>
        </p:nvSpPr>
        <p:spPr>
          <a:xfrm>
            <a:off x="9144000" y="297180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design</a:t>
            </a:r>
            <a:endParaRPr lang="en-US" sz="1050" dirty="0"/>
          </a:p>
        </p:txBody>
      </p:sp>
      <p:sp>
        <p:nvSpPr>
          <p:cNvPr id="22" name="Shape 20"/>
          <p:cNvSpPr/>
          <p:nvPr/>
        </p:nvSpPr>
        <p:spPr>
          <a:xfrm>
            <a:off x="5989320" y="3246120"/>
            <a:ext cx="5577840" cy="274320"/>
          </a:xfrm>
          <a:prstGeom prst="rect">
            <a:avLst/>
          </a:prstGeom>
          <a:solidFill>
            <a:srgbClr val="F1F5F9"/>
          </a:solidFill>
          <a:ln w="5080">
            <a:solidFill>
              <a:srgbClr val="E2E8F0"/>
            </a:solidFill>
            <a:prstDash val="solid"/>
          </a:ln>
        </p:spPr>
        <p:txBody>
          <a:bodyPr/>
          <a:lstStyle/>
          <a:p>
            <a:endParaRPr lang="en-US"/>
          </a:p>
        </p:txBody>
      </p:sp>
      <p:sp>
        <p:nvSpPr>
          <p:cNvPr id="23" name="Text 21"/>
          <p:cNvSpPr/>
          <p:nvPr/>
        </p:nvSpPr>
        <p:spPr>
          <a:xfrm>
            <a:off x="6080760" y="324612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Size Unavailable</a:t>
            </a:r>
            <a:endParaRPr lang="en-US" sz="1050" dirty="0"/>
          </a:p>
        </p:txBody>
      </p:sp>
      <p:sp>
        <p:nvSpPr>
          <p:cNvPr id="24" name="Text 22"/>
          <p:cNvSpPr/>
          <p:nvPr/>
        </p:nvSpPr>
        <p:spPr>
          <a:xfrm>
            <a:off x="9144000" y="324612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size</a:t>
            </a:r>
            <a:endParaRPr lang="en-US" sz="1050" dirty="0"/>
          </a:p>
        </p:txBody>
      </p:sp>
      <p:sp>
        <p:nvSpPr>
          <p:cNvPr id="25" name="Shape 23"/>
          <p:cNvSpPr/>
          <p:nvPr/>
        </p:nvSpPr>
        <p:spPr>
          <a:xfrm>
            <a:off x="5989320" y="3520440"/>
            <a:ext cx="5577840" cy="274320"/>
          </a:xfrm>
          <a:prstGeom prst="rect">
            <a:avLst/>
          </a:prstGeom>
          <a:solidFill>
            <a:srgbClr val="FFFFFF"/>
          </a:solidFill>
          <a:ln w="5080">
            <a:solidFill>
              <a:srgbClr val="E2E8F0"/>
            </a:solidFill>
            <a:prstDash val="solid"/>
          </a:ln>
        </p:spPr>
        <p:txBody>
          <a:bodyPr/>
          <a:lstStyle/>
          <a:p>
            <a:endParaRPr lang="en-US"/>
          </a:p>
        </p:txBody>
      </p:sp>
      <p:sp>
        <p:nvSpPr>
          <p:cNvPr id="26" name="Text 24"/>
          <p:cNvSpPr/>
          <p:nvPr/>
        </p:nvSpPr>
        <p:spPr>
          <a:xfrm>
            <a:off x="6080760" y="352044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Stock Unavailable</a:t>
            </a:r>
            <a:endParaRPr lang="en-US" sz="1050" dirty="0"/>
          </a:p>
        </p:txBody>
      </p:sp>
      <p:sp>
        <p:nvSpPr>
          <p:cNvPr id="27" name="Text 25"/>
          <p:cNvSpPr/>
          <p:nvPr/>
        </p:nvSpPr>
        <p:spPr>
          <a:xfrm>
            <a:off x="9144000" y="352044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stock</a:t>
            </a:r>
            <a:endParaRPr lang="en-US" sz="1050" dirty="0"/>
          </a:p>
        </p:txBody>
      </p:sp>
      <p:sp>
        <p:nvSpPr>
          <p:cNvPr id="28" name="Shape 26"/>
          <p:cNvSpPr/>
          <p:nvPr/>
        </p:nvSpPr>
        <p:spPr>
          <a:xfrm>
            <a:off x="5989320" y="3794760"/>
            <a:ext cx="5577840" cy="274320"/>
          </a:xfrm>
          <a:prstGeom prst="rect">
            <a:avLst/>
          </a:prstGeom>
          <a:solidFill>
            <a:srgbClr val="F1F5F9"/>
          </a:solidFill>
          <a:ln w="5080">
            <a:solidFill>
              <a:srgbClr val="E2E8F0"/>
            </a:solidFill>
            <a:prstDash val="solid"/>
          </a:ln>
        </p:spPr>
        <p:txBody>
          <a:bodyPr/>
          <a:lstStyle/>
          <a:p>
            <a:endParaRPr lang="en-US"/>
          </a:p>
        </p:txBody>
      </p:sp>
      <p:sp>
        <p:nvSpPr>
          <p:cNvPr id="29" name="Text 27"/>
          <p:cNvSpPr/>
          <p:nvPr/>
        </p:nvSpPr>
        <p:spPr>
          <a:xfrm>
            <a:off x="6080760" y="379476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Price Too High</a:t>
            </a:r>
            <a:endParaRPr lang="en-US" sz="1050" dirty="0"/>
          </a:p>
        </p:txBody>
      </p:sp>
      <p:sp>
        <p:nvSpPr>
          <p:cNvPr id="30" name="Text 28"/>
          <p:cNvSpPr/>
          <p:nvPr/>
        </p:nvSpPr>
        <p:spPr>
          <a:xfrm>
            <a:off x="9144000" y="379476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price</a:t>
            </a:r>
            <a:endParaRPr lang="en-US" sz="1050" dirty="0"/>
          </a:p>
        </p:txBody>
      </p:sp>
      <p:sp>
        <p:nvSpPr>
          <p:cNvPr id="31" name="Shape 29"/>
          <p:cNvSpPr/>
          <p:nvPr/>
        </p:nvSpPr>
        <p:spPr>
          <a:xfrm>
            <a:off x="5989320" y="4069080"/>
            <a:ext cx="5577840" cy="274320"/>
          </a:xfrm>
          <a:prstGeom prst="rect">
            <a:avLst/>
          </a:prstGeom>
          <a:solidFill>
            <a:srgbClr val="FFFFFF"/>
          </a:solidFill>
          <a:ln w="5080">
            <a:solidFill>
              <a:srgbClr val="E2E8F0"/>
            </a:solidFill>
            <a:prstDash val="solid"/>
          </a:ln>
        </p:spPr>
        <p:txBody>
          <a:bodyPr/>
          <a:lstStyle/>
          <a:p>
            <a:endParaRPr lang="en-US"/>
          </a:p>
        </p:txBody>
      </p:sp>
      <p:sp>
        <p:nvSpPr>
          <p:cNvPr id="32" name="Text 30"/>
          <p:cNvSpPr/>
          <p:nvPr/>
        </p:nvSpPr>
        <p:spPr>
          <a:xfrm>
            <a:off x="6080760" y="406908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Quality Concerns</a:t>
            </a:r>
            <a:endParaRPr lang="en-US" sz="1050" dirty="0"/>
          </a:p>
        </p:txBody>
      </p:sp>
      <p:sp>
        <p:nvSpPr>
          <p:cNvPr id="33" name="Text 31"/>
          <p:cNvSpPr/>
          <p:nvPr/>
        </p:nvSpPr>
        <p:spPr>
          <a:xfrm>
            <a:off x="9144000" y="406908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none</a:t>
            </a:r>
            <a:endParaRPr lang="en-US" sz="1050" dirty="0"/>
          </a:p>
        </p:txBody>
      </p:sp>
      <p:sp>
        <p:nvSpPr>
          <p:cNvPr id="34" name="Shape 32"/>
          <p:cNvSpPr/>
          <p:nvPr/>
        </p:nvSpPr>
        <p:spPr>
          <a:xfrm>
            <a:off x="5989320" y="4343400"/>
            <a:ext cx="5577840" cy="274320"/>
          </a:xfrm>
          <a:prstGeom prst="rect">
            <a:avLst/>
          </a:prstGeom>
          <a:solidFill>
            <a:srgbClr val="F1F5F9"/>
          </a:solidFill>
          <a:ln w="5080">
            <a:solidFill>
              <a:srgbClr val="E2E8F0"/>
            </a:solidFill>
            <a:prstDash val="solid"/>
          </a:ln>
        </p:spPr>
        <p:txBody>
          <a:bodyPr/>
          <a:lstStyle/>
          <a:p>
            <a:endParaRPr lang="en-US"/>
          </a:p>
        </p:txBody>
      </p:sp>
      <p:sp>
        <p:nvSpPr>
          <p:cNvPr id="35" name="Text 33"/>
          <p:cNvSpPr/>
          <p:nvPr/>
        </p:nvSpPr>
        <p:spPr>
          <a:xfrm>
            <a:off x="6080760" y="434340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Weight Concerns</a:t>
            </a:r>
            <a:endParaRPr lang="en-US" sz="1050" dirty="0"/>
          </a:p>
        </p:txBody>
      </p:sp>
      <p:sp>
        <p:nvSpPr>
          <p:cNvPr id="36" name="Text 34"/>
          <p:cNvSpPr/>
          <p:nvPr/>
        </p:nvSpPr>
        <p:spPr>
          <a:xfrm>
            <a:off x="9144000" y="434340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weight</a:t>
            </a:r>
            <a:endParaRPr lang="en-US" sz="1050" dirty="0"/>
          </a:p>
        </p:txBody>
      </p:sp>
      <p:sp>
        <p:nvSpPr>
          <p:cNvPr id="37" name="Shape 35"/>
          <p:cNvSpPr/>
          <p:nvPr/>
        </p:nvSpPr>
        <p:spPr>
          <a:xfrm>
            <a:off x="5989320" y="4617720"/>
            <a:ext cx="5577840" cy="274320"/>
          </a:xfrm>
          <a:prstGeom prst="rect">
            <a:avLst/>
          </a:prstGeom>
          <a:solidFill>
            <a:srgbClr val="FFFFFF"/>
          </a:solidFill>
          <a:ln w="5080">
            <a:solidFill>
              <a:srgbClr val="E2E8F0"/>
            </a:solidFill>
            <a:prstDash val="solid"/>
          </a:ln>
        </p:spPr>
        <p:txBody>
          <a:bodyPr/>
          <a:lstStyle/>
          <a:p>
            <a:endParaRPr lang="en-US"/>
          </a:p>
        </p:txBody>
      </p:sp>
      <p:sp>
        <p:nvSpPr>
          <p:cNvPr id="38" name="Text 36"/>
          <p:cNvSpPr/>
          <p:nvPr/>
        </p:nvSpPr>
        <p:spPr>
          <a:xfrm>
            <a:off x="6080760" y="461772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Color/Finish Mismatch</a:t>
            </a:r>
            <a:endParaRPr lang="en-US" sz="1050" dirty="0"/>
          </a:p>
        </p:txBody>
      </p:sp>
      <p:sp>
        <p:nvSpPr>
          <p:cNvPr id="39" name="Text 37"/>
          <p:cNvSpPr/>
          <p:nvPr/>
        </p:nvSpPr>
        <p:spPr>
          <a:xfrm>
            <a:off x="9144000" y="461772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color</a:t>
            </a:r>
            <a:endParaRPr lang="en-US" sz="1050" dirty="0"/>
          </a:p>
        </p:txBody>
      </p:sp>
      <p:sp>
        <p:nvSpPr>
          <p:cNvPr id="40" name="Shape 38"/>
          <p:cNvSpPr/>
          <p:nvPr/>
        </p:nvSpPr>
        <p:spPr>
          <a:xfrm>
            <a:off x="5989320" y="4892040"/>
            <a:ext cx="5577840" cy="274320"/>
          </a:xfrm>
          <a:prstGeom prst="rect">
            <a:avLst/>
          </a:prstGeom>
          <a:solidFill>
            <a:srgbClr val="F1F5F9"/>
          </a:solidFill>
          <a:ln w="5080">
            <a:solidFill>
              <a:srgbClr val="E2E8F0"/>
            </a:solidFill>
            <a:prstDash val="solid"/>
          </a:ln>
        </p:spPr>
        <p:txBody>
          <a:bodyPr/>
          <a:lstStyle/>
          <a:p>
            <a:endParaRPr lang="en-US"/>
          </a:p>
        </p:txBody>
      </p:sp>
      <p:sp>
        <p:nvSpPr>
          <p:cNvPr id="41" name="Text 39"/>
          <p:cNvSpPr/>
          <p:nvPr/>
        </p:nvSpPr>
        <p:spPr>
          <a:xfrm>
            <a:off x="6080760" y="489204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Customization Not Offered</a:t>
            </a:r>
            <a:endParaRPr lang="en-US" sz="1050" dirty="0"/>
          </a:p>
        </p:txBody>
      </p:sp>
      <p:sp>
        <p:nvSpPr>
          <p:cNvPr id="42" name="Text 40"/>
          <p:cNvSpPr/>
          <p:nvPr/>
        </p:nvSpPr>
        <p:spPr>
          <a:xfrm>
            <a:off x="9144000" y="489204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customization</a:t>
            </a:r>
            <a:endParaRPr lang="en-US" sz="1050" dirty="0"/>
          </a:p>
        </p:txBody>
      </p:sp>
      <p:sp>
        <p:nvSpPr>
          <p:cNvPr id="43" name="Shape 41"/>
          <p:cNvSpPr/>
          <p:nvPr/>
        </p:nvSpPr>
        <p:spPr>
          <a:xfrm>
            <a:off x="5989320" y="5166360"/>
            <a:ext cx="5577840" cy="274320"/>
          </a:xfrm>
          <a:prstGeom prst="rect">
            <a:avLst/>
          </a:prstGeom>
          <a:solidFill>
            <a:srgbClr val="FFFFFF"/>
          </a:solidFill>
          <a:ln w="5080">
            <a:solidFill>
              <a:srgbClr val="E2E8F0"/>
            </a:solidFill>
            <a:prstDash val="solid"/>
          </a:ln>
        </p:spPr>
        <p:txBody>
          <a:bodyPr/>
          <a:lstStyle/>
          <a:p>
            <a:endParaRPr lang="en-US"/>
          </a:p>
        </p:txBody>
      </p:sp>
      <p:sp>
        <p:nvSpPr>
          <p:cNvPr id="44" name="Text 42"/>
          <p:cNvSpPr/>
          <p:nvPr/>
        </p:nvSpPr>
        <p:spPr>
          <a:xfrm>
            <a:off x="6080760" y="516636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Sales Service</a:t>
            </a:r>
            <a:endParaRPr lang="en-US" sz="1050" dirty="0"/>
          </a:p>
        </p:txBody>
      </p:sp>
      <p:sp>
        <p:nvSpPr>
          <p:cNvPr id="45" name="Text 43"/>
          <p:cNvSpPr/>
          <p:nvPr/>
        </p:nvSpPr>
        <p:spPr>
          <a:xfrm>
            <a:off x="9144000" y="516636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service</a:t>
            </a:r>
            <a:endParaRPr lang="en-US" sz="1050" dirty="0"/>
          </a:p>
        </p:txBody>
      </p:sp>
      <p:sp>
        <p:nvSpPr>
          <p:cNvPr id="46" name="Shape 44"/>
          <p:cNvSpPr/>
          <p:nvPr/>
        </p:nvSpPr>
        <p:spPr>
          <a:xfrm>
            <a:off x="5989320" y="5440680"/>
            <a:ext cx="5577840" cy="274320"/>
          </a:xfrm>
          <a:prstGeom prst="rect">
            <a:avLst/>
          </a:prstGeom>
          <a:solidFill>
            <a:srgbClr val="F1F5F9"/>
          </a:solidFill>
          <a:ln w="5080">
            <a:solidFill>
              <a:srgbClr val="E2E8F0"/>
            </a:solidFill>
            <a:prstDash val="solid"/>
          </a:ln>
        </p:spPr>
        <p:txBody>
          <a:bodyPr/>
          <a:lstStyle/>
          <a:p>
            <a:endParaRPr lang="en-US"/>
          </a:p>
        </p:txBody>
      </p:sp>
      <p:sp>
        <p:nvSpPr>
          <p:cNvPr id="47" name="Text 45"/>
          <p:cNvSpPr/>
          <p:nvPr/>
        </p:nvSpPr>
        <p:spPr>
          <a:xfrm>
            <a:off x="6080760" y="5440680"/>
            <a:ext cx="3108960" cy="274320"/>
          </a:xfrm>
          <a:prstGeom prst="rect">
            <a:avLst/>
          </a:prstGeom>
          <a:noFill/>
          <a:ln/>
        </p:spPr>
        <p:txBody>
          <a:bodyPr wrap="square" lIns="0" tIns="0" rIns="0" bIns="0" rtlCol="0" anchor="ctr"/>
          <a:lstStyle/>
          <a:p>
            <a:pPr marL="0" indent="0">
              <a:buNone/>
            </a:pPr>
            <a:r>
              <a:rPr lang="en-US" sz="1050" dirty="0">
                <a:solidFill>
                  <a:srgbClr val="0F172A"/>
                </a:solidFill>
                <a:latin typeface="Calibri" pitchFamily="34" charset="0"/>
                <a:ea typeface="Calibri" pitchFamily="34" charset="-122"/>
                <a:cs typeface="Calibri" pitchFamily="34" charset="-120"/>
              </a:rPr>
              <a:t>Others</a:t>
            </a:r>
            <a:endParaRPr lang="en-US" sz="1050" dirty="0"/>
          </a:p>
        </p:txBody>
      </p:sp>
      <p:sp>
        <p:nvSpPr>
          <p:cNvPr id="48" name="Text 46"/>
          <p:cNvSpPr/>
          <p:nvPr/>
        </p:nvSpPr>
        <p:spPr>
          <a:xfrm>
            <a:off x="9144000" y="5440680"/>
            <a:ext cx="2377440" cy="274320"/>
          </a:xfrm>
          <a:prstGeom prst="rect">
            <a:avLst/>
          </a:prstGeom>
          <a:noFill/>
          <a:ln/>
        </p:spPr>
        <p:txBody>
          <a:bodyPr wrap="square" lIns="0" tIns="0" rIns="0" bIns="0" rtlCol="0" anchor="ctr"/>
          <a:lstStyle/>
          <a:p>
            <a:pPr marL="0" indent="0">
              <a:buNone/>
            </a:pPr>
            <a:r>
              <a:rPr lang="en-US" sz="1050" dirty="0">
                <a:solidFill>
                  <a:srgbClr val="0F766E"/>
                </a:solidFill>
                <a:latin typeface="Consolas" pitchFamily="34" charset="0"/>
                <a:ea typeface="Consolas" pitchFamily="34" charset="-122"/>
                <a:cs typeface="Consolas" pitchFamily="34" charset="-120"/>
              </a:rPr>
              <a:t>none</a:t>
            </a:r>
            <a:endParaRPr lang="en-US" sz="1050" dirty="0"/>
          </a:p>
        </p:txBody>
      </p:sp>
      <p:sp>
        <p:nvSpPr>
          <p:cNvPr id="49" name="Shape 47"/>
          <p:cNvSpPr/>
          <p:nvPr/>
        </p:nvSpPr>
        <p:spPr>
          <a:xfrm>
            <a:off x="457200" y="5943600"/>
            <a:ext cx="11247120" cy="594360"/>
          </a:xfrm>
          <a:prstGeom prst="rect">
            <a:avLst/>
          </a:prstGeom>
          <a:solidFill>
            <a:srgbClr val="FEF3C7"/>
          </a:solidFill>
          <a:ln w="6350">
            <a:solidFill>
              <a:srgbClr val="B45309"/>
            </a:solidFill>
            <a:prstDash val="solid"/>
          </a:ln>
        </p:spPr>
        <p:txBody>
          <a:bodyPr/>
          <a:lstStyle/>
          <a:p>
            <a:endParaRPr lang="en-US"/>
          </a:p>
        </p:txBody>
      </p:sp>
      <p:sp>
        <p:nvSpPr>
          <p:cNvPr id="50" name="Text 48"/>
          <p:cNvSpPr/>
          <p:nvPr/>
        </p:nvSpPr>
        <p:spPr>
          <a:xfrm>
            <a:off x="685800" y="5989320"/>
            <a:ext cx="10789920" cy="502920"/>
          </a:xfrm>
          <a:prstGeom prst="rect">
            <a:avLst/>
          </a:prstGeom>
          <a:noFill/>
          <a:ln/>
        </p:spPr>
        <p:txBody>
          <a:bodyPr wrap="square" lIns="0" tIns="0" rIns="0" bIns="0" rtlCol="0" anchor="ctr"/>
          <a:lstStyle/>
          <a:p>
            <a:pPr marL="0" indent="0">
              <a:buNone/>
            </a:pPr>
            <a:r>
              <a:rPr lang="en-US" sz="1200" b="1" dirty="0">
                <a:solidFill>
                  <a:srgbClr val="B45309"/>
                </a:solidFill>
                <a:latin typeface="Calibri" pitchFamily="34" charset="0"/>
                <a:ea typeface="Calibri" pitchFamily="34" charset="-122"/>
                <a:cs typeface="Calibri" pitchFamily="34" charset="-120"/>
              </a:rPr>
              <a:t>Vocabulary discipline goes back to the schema.  </a:t>
            </a:r>
            <a:r>
              <a:rPr lang="en-US" sz="1200" dirty="0">
                <a:solidFill>
                  <a:srgbClr val="334155"/>
                </a:solidFill>
                <a:latin typeface="Calibri" pitchFamily="34" charset="0"/>
                <a:ea typeface="Calibri" pitchFamily="34" charset="-122"/>
                <a:cs typeface="Calibri" pitchFamily="34" charset="-120"/>
              </a:rPr>
              <a:t>Column was originally  </a:t>
            </a:r>
            <a:r>
              <a:rPr lang="en-US" sz="1200" dirty="0">
                <a:solidFill>
                  <a:srgbClr val="334155"/>
                </a:solidFill>
                <a:latin typeface="Consolas" pitchFamily="34" charset="0"/>
                <a:ea typeface="Consolas" pitchFamily="34" charset="-122"/>
                <a:cs typeface="Consolas" pitchFamily="34" charset="-120"/>
              </a:rPr>
              <a:t>attribute_type</a:t>
            </a:r>
            <a:r>
              <a:rPr lang="en-US" sz="1200" dirty="0">
                <a:solidFill>
                  <a:srgbClr val="334155"/>
                </a:solidFill>
                <a:latin typeface="Calibri" pitchFamily="34" charset="0"/>
                <a:ea typeface="Calibri" pitchFamily="34" charset="-122"/>
                <a:cs typeface="Calibri" pitchFamily="34" charset="-120"/>
              </a:rPr>
              <a:t> — the word “attributes” collided with another column.  Renaming it to  </a:t>
            </a:r>
            <a:r>
              <a:rPr lang="en-US" sz="1200" dirty="0">
                <a:solidFill>
                  <a:srgbClr val="334155"/>
                </a:solidFill>
                <a:latin typeface="Consolas" pitchFamily="34" charset="0"/>
                <a:ea typeface="Consolas" pitchFamily="34" charset="-122"/>
                <a:cs typeface="Consolas" pitchFamily="34" charset="-120"/>
              </a:rPr>
              <a:t>non_purchase_type</a:t>
            </a:r>
            <a:r>
              <a:rPr lang="en-US" sz="1200" dirty="0">
                <a:solidFill>
                  <a:srgbClr val="334155"/>
                </a:solidFill>
                <a:latin typeface="Calibri" pitchFamily="34" charset="0"/>
                <a:ea typeface="Calibri" pitchFamily="34" charset="-122"/>
                <a:cs typeface="Calibri" pitchFamily="34" charset="-120"/>
              </a:rPr>
              <a:t>  prevented an entire class of disambiguation errors.</a:t>
            </a:r>
            <a:endParaRPr lang="en-US" sz="1200" dirty="0"/>
          </a:p>
        </p:txBody>
      </p:sp>
      <p:sp>
        <p:nvSpPr>
          <p:cNvPr id="51" name="Text 49"/>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27</a:t>
            </a:r>
            <a:endParaRPr lang="en-US" sz="900" dirty="0"/>
          </a:p>
        </p:txBody>
      </p:sp>
      <p:sp>
        <p:nvSpPr>
          <p:cNvPr id="52" name="Text 50"/>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TWO HORIZONS, ONE RESOLUTION POINT</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Memory  &amp;  Context Management</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463040"/>
            <a:ext cx="5486400" cy="4663440"/>
          </a:xfrm>
          <a:prstGeom prst="rect">
            <a:avLst/>
          </a:prstGeom>
          <a:solidFill>
            <a:srgbClr val="F8FAFC"/>
          </a:solidFill>
          <a:ln w="9525">
            <a:solidFill>
              <a:srgbClr val="E2E8F0"/>
            </a:solidFill>
            <a:prstDash val="solid"/>
          </a:ln>
        </p:spPr>
        <p:txBody>
          <a:bodyPr/>
          <a:lstStyle/>
          <a:p>
            <a:endParaRPr lang="en-US"/>
          </a:p>
        </p:txBody>
      </p:sp>
      <p:sp>
        <p:nvSpPr>
          <p:cNvPr id="6" name="Shape 4"/>
          <p:cNvSpPr/>
          <p:nvPr/>
        </p:nvSpPr>
        <p:spPr>
          <a:xfrm>
            <a:off x="457200" y="1463040"/>
            <a:ext cx="73152" cy="4663440"/>
          </a:xfrm>
          <a:prstGeom prst="rect">
            <a:avLst/>
          </a:prstGeom>
          <a:solidFill>
            <a:srgbClr val="0F766E"/>
          </a:solidFill>
          <a:ln w="12700">
            <a:solidFill>
              <a:srgbClr val="0F766E"/>
            </a:solidFill>
            <a:prstDash val="solid"/>
          </a:ln>
        </p:spPr>
        <p:txBody>
          <a:bodyPr/>
          <a:lstStyle/>
          <a:p>
            <a:endParaRPr lang="en-US"/>
          </a:p>
        </p:txBody>
      </p:sp>
      <p:sp>
        <p:nvSpPr>
          <p:cNvPr id="7" name="Text 5"/>
          <p:cNvSpPr/>
          <p:nvPr/>
        </p:nvSpPr>
        <p:spPr>
          <a:xfrm>
            <a:off x="685800" y="1600200"/>
            <a:ext cx="5029200" cy="27432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SHORT-TERM  ·  PER-SESSION</a:t>
            </a:r>
            <a:endParaRPr lang="en-US" sz="1400" dirty="0"/>
          </a:p>
        </p:txBody>
      </p:sp>
      <p:sp>
        <p:nvSpPr>
          <p:cNvPr id="8" name="Text 6"/>
          <p:cNvSpPr/>
          <p:nvPr/>
        </p:nvSpPr>
        <p:spPr>
          <a:xfrm>
            <a:off x="685800" y="1920240"/>
            <a:ext cx="5029200" cy="41148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8-message look-back at the Planner only</a:t>
            </a:r>
            <a:endParaRPr lang="en-US" sz="1400" dirty="0"/>
          </a:p>
        </p:txBody>
      </p:sp>
      <p:sp>
        <p:nvSpPr>
          <p:cNvPr id="9" name="Text 7"/>
          <p:cNvSpPr/>
          <p:nvPr/>
        </p:nvSpPr>
        <p:spPr>
          <a:xfrm>
            <a:off x="685800" y="2423160"/>
            <a:ext cx="5029200" cy="6400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The Planner sees </a:t>
            </a:r>
            <a:r>
              <a:rPr lang="en-US" sz="1400" b="1" dirty="0">
                <a:solidFill>
                  <a:srgbClr val="0F766E"/>
                </a:solidFill>
                <a:latin typeface="Consolas" pitchFamily="34" charset="0"/>
                <a:ea typeface="Consolas" pitchFamily="34" charset="-122"/>
                <a:cs typeface="Consolas" pitchFamily="34" charset="-120"/>
              </a:rPr>
              <a:t>history[-8:] </a:t>
            </a:r>
            <a:r>
              <a:rPr lang="en-US" sz="1400" dirty="0">
                <a:solidFill>
                  <a:srgbClr val="334155"/>
                </a:solidFill>
                <a:latin typeface="Calibri" pitchFamily="34" charset="0"/>
                <a:ea typeface="Calibri" pitchFamily="34" charset="-122"/>
                <a:cs typeface="Calibri" pitchFamily="34" charset="-120"/>
              </a:rPr>
              <a:t>and emits a </a:t>
            </a:r>
            <a:r>
              <a:rPr lang="en-US" sz="1400" b="1" dirty="0" err="1">
                <a:solidFill>
                  <a:srgbClr val="0F766E"/>
                </a:solidFill>
                <a:latin typeface="Consolas" pitchFamily="34" charset="0"/>
                <a:ea typeface="Consolas" pitchFamily="34" charset="-122"/>
                <a:cs typeface="Consolas" pitchFamily="34" charset="-120"/>
              </a:rPr>
              <a:t>resolved_question</a:t>
            </a:r>
            <a:r>
              <a:rPr lang="en-US" sz="1400" b="1" dirty="0">
                <a:solidFill>
                  <a:srgbClr val="0F766E"/>
                </a:solidFill>
                <a:latin typeface="Consolas" pitchFamily="34" charset="0"/>
                <a:ea typeface="Consolas" pitchFamily="34" charset="-122"/>
                <a:cs typeface="Consolas" pitchFamily="34" charset="-120"/>
              </a:rPr>
              <a:t> </a:t>
            </a:r>
            <a:r>
              <a:rPr lang="en-US" sz="1400" dirty="0">
                <a:solidFill>
                  <a:srgbClr val="334155"/>
                </a:solidFill>
                <a:latin typeface="Calibri" pitchFamily="34" charset="0"/>
                <a:ea typeface="Calibri" pitchFamily="34" charset="-122"/>
                <a:cs typeface="Calibri" pitchFamily="34" charset="-120"/>
              </a:rPr>
              <a:t>which is a self-contained string with context baked in.</a:t>
            </a:r>
            <a:endParaRPr lang="en-US" sz="1400" dirty="0"/>
          </a:p>
        </p:txBody>
      </p:sp>
      <p:sp>
        <p:nvSpPr>
          <p:cNvPr id="10" name="Text 8"/>
          <p:cNvSpPr/>
          <p:nvPr/>
        </p:nvSpPr>
        <p:spPr>
          <a:xfrm>
            <a:off x="685800" y="3154680"/>
            <a:ext cx="5029200" cy="822960"/>
          </a:xfrm>
          <a:prstGeom prst="rect">
            <a:avLst/>
          </a:prstGeom>
          <a:noFill/>
          <a:ln/>
        </p:spPr>
        <p:txBody>
          <a:bodyPr wrap="square" lIns="0" tIns="0" rIns="0" bIns="0" rtlCol="0" anchor="t"/>
          <a:lstStyle/>
          <a:p>
            <a:pPr marL="0" indent="0">
              <a:buNone/>
            </a:pPr>
            <a:r>
              <a:rPr lang="en-US" sz="1400" i="1" dirty="0">
                <a:solidFill>
                  <a:srgbClr val="64748B"/>
                </a:solidFill>
                <a:latin typeface="Calibri" pitchFamily="34" charset="0"/>
                <a:ea typeface="Calibri" pitchFamily="34" charset="-122"/>
                <a:cs typeface="Calibri" pitchFamily="34" charset="-120"/>
              </a:rPr>
              <a:t>Every downstream agent (Coder, Output Reviewer, Writer, Viz Coder) reads the resolved question but never the raw user message.</a:t>
            </a:r>
            <a:endParaRPr lang="en-US" sz="1400" dirty="0"/>
          </a:p>
        </p:txBody>
      </p:sp>
      <p:sp>
        <p:nvSpPr>
          <p:cNvPr id="11" name="Text 9"/>
          <p:cNvSpPr/>
          <p:nvPr/>
        </p:nvSpPr>
        <p:spPr>
          <a:xfrm>
            <a:off x="685800" y="4069080"/>
            <a:ext cx="5029200" cy="274320"/>
          </a:xfrm>
          <a:prstGeom prst="rect">
            <a:avLst/>
          </a:prstGeom>
          <a:noFill/>
          <a:ln/>
        </p:spPr>
        <p:txBody>
          <a:bodyPr wrap="square" lIns="0" tIns="0" rIns="0" bIns="0"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Why 8?</a:t>
            </a:r>
            <a:endParaRPr lang="en-US" sz="1400" dirty="0"/>
          </a:p>
        </p:txBody>
      </p:sp>
      <p:sp>
        <p:nvSpPr>
          <p:cNvPr id="12" name="Text 10"/>
          <p:cNvSpPr/>
          <p:nvPr/>
        </p:nvSpPr>
        <p:spPr>
          <a:xfrm>
            <a:off x="685800" y="4343400"/>
            <a:ext cx="5029200" cy="16916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  Empirically, follow-ups point back 1–2 turns; depth &gt; 4 rarely catches new references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Keeps Planner prompt small (~1–2K tokens total)</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Caps total token cost to O(n) instead of O(n²) on long sessions</a:t>
            </a:r>
            <a:endParaRPr lang="en-US" sz="1200" dirty="0"/>
          </a:p>
        </p:txBody>
      </p:sp>
      <p:sp>
        <p:nvSpPr>
          <p:cNvPr id="13" name="Shape 11"/>
          <p:cNvSpPr/>
          <p:nvPr/>
        </p:nvSpPr>
        <p:spPr>
          <a:xfrm>
            <a:off x="6263640" y="1463040"/>
            <a:ext cx="5486400" cy="4663440"/>
          </a:xfrm>
          <a:prstGeom prst="rect">
            <a:avLst/>
          </a:prstGeom>
          <a:solidFill>
            <a:srgbClr val="F8FAFC"/>
          </a:solidFill>
          <a:ln w="9525">
            <a:solidFill>
              <a:srgbClr val="E2E8F0"/>
            </a:solidFill>
            <a:prstDash val="solid"/>
          </a:ln>
        </p:spPr>
        <p:txBody>
          <a:bodyPr/>
          <a:lstStyle/>
          <a:p>
            <a:endParaRPr lang="en-US"/>
          </a:p>
        </p:txBody>
      </p:sp>
      <p:sp>
        <p:nvSpPr>
          <p:cNvPr id="14" name="Shape 12"/>
          <p:cNvSpPr/>
          <p:nvPr/>
        </p:nvSpPr>
        <p:spPr>
          <a:xfrm>
            <a:off x="6263640" y="1463040"/>
            <a:ext cx="73152" cy="4663440"/>
          </a:xfrm>
          <a:prstGeom prst="rect">
            <a:avLst/>
          </a:prstGeom>
          <a:solidFill>
            <a:srgbClr val="1E293B"/>
          </a:solidFill>
          <a:ln w="12700">
            <a:solidFill>
              <a:srgbClr val="1E293B"/>
            </a:solidFill>
            <a:prstDash val="solid"/>
          </a:ln>
        </p:spPr>
        <p:txBody>
          <a:bodyPr/>
          <a:lstStyle/>
          <a:p>
            <a:endParaRPr lang="en-US"/>
          </a:p>
        </p:txBody>
      </p:sp>
      <p:sp>
        <p:nvSpPr>
          <p:cNvPr id="15" name="Text 13"/>
          <p:cNvSpPr/>
          <p:nvPr/>
        </p:nvSpPr>
        <p:spPr>
          <a:xfrm>
            <a:off x="6492240" y="1600200"/>
            <a:ext cx="502920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LONG-TERM  ·  CROSS-SESSION</a:t>
            </a:r>
            <a:endParaRPr lang="en-US" sz="1400" dirty="0"/>
          </a:p>
        </p:txBody>
      </p:sp>
      <p:sp>
        <p:nvSpPr>
          <p:cNvPr id="16" name="Text 14"/>
          <p:cNvSpPr/>
          <p:nvPr/>
        </p:nvSpPr>
        <p:spPr>
          <a:xfrm>
            <a:off x="6492240" y="1920240"/>
            <a:ext cx="5029200" cy="41148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chat_trace MySQL audit table</a:t>
            </a:r>
            <a:endParaRPr lang="en-US" sz="1400" dirty="0"/>
          </a:p>
        </p:txBody>
      </p:sp>
      <p:sp>
        <p:nvSpPr>
          <p:cNvPr id="17" name="Text 15"/>
          <p:cNvSpPr/>
          <p:nvPr/>
        </p:nvSpPr>
        <p:spPr>
          <a:xfrm>
            <a:off x="6492240" y="2377440"/>
            <a:ext cx="5029200" cy="91440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Every chat turn → one row.  Derived columns (path, retry_count, supervisor_invoked, groundedness_warned) + full StepEvent trace as JSON.</a:t>
            </a:r>
            <a:endParaRPr lang="en-US" sz="1400" dirty="0"/>
          </a:p>
        </p:txBody>
      </p:sp>
      <p:sp>
        <p:nvSpPr>
          <p:cNvPr id="18" name="Text 16"/>
          <p:cNvSpPr/>
          <p:nvPr/>
        </p:nvSpPr>
        <p:spPr>
          <a:xfrm>
            <a:off x="6492240" y="3383280"/>
            <a:ext cx="50292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Why denormalised?</a:t>
            </a:r>
            <a:endParaRPr lang="en-US" sz="1400" dirty="0"/>
          </a:p>
        </p:txBody>
      </p:sp>
      <p:sp>
        <p:nvSpPr>
          <p:cNvPr id="19" name="Text 17"/>
          <p:cNvSpPr/>
          <p:nvPr/>
        </p:nvSpPr>
        <p:spPr>
          <a:xfrm>
            <a:off x="6492240" y="3657600"/>
            <a:ext cx="5029200" cy="118872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  Common queries are “give me all turns where X happened”. The derived columns answer them without JSON-path parsing</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Full JSON trace preserves complete detail for the rarer “give me every step in turn Y” case</a:t>
            </a:r>
            <a:endParaRPr lang="en-US" sz="1200" dirty="0"/>
          </a:p>
        </p:txBody>
      </p:sp>
      <p:sp>
        <p:nvSpPr>
          <p:cNvPr id="20" name="Text 18"/>
          <p:cNvSpPr/>
          <p:nvPr/>
        </p:nvSpPr>
        <p:spPr>
          <a:xfrm>
            <a:off x="6492240" y="5120640"/>
            <a:ext cx="5029200" cy="91440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Logging is wrapped in two layers of try/except: </a:t>
            </a:r>
          </a:p>
          <a:p>
            <a:pPr marL="0" indent="0">
              <a:buNone/>
            </a:pPr>
            <a:r>
              <a:rPr lang="en-US" sz="1200" b="1" dirty="0">
                <a:solidFill>
                  <a:srgbClr val="0F172A"/>
                </a:solidFill>
                <a:latin typeface="Calibri" pitchFamily="34" charset="0"/>
                <a:ea typeface="Calibri" pitchFamily="34" charset="-122"/>
                <a:cs typeface="Calibri" pitchFamily="34" charset="-120"/>
              </a:rPr>
              <a:t>MySQL outage cannot affect the chat response that has already been returned.</a:t>
            </a:r>
            <a:endParaRPr lang="en-US" sz="1200" dirty="0"/>
          </a:p>
        </p:txBody>
      </p:sp>
      <p:sp>
        <p:nvSpPr>
          <p:cNvPr id="21" name="Text 19"/>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27</a:t>
            </a:r>
            <a:endParaRPr lang="en-US" sz="900" dirty="0"/>
          </a:p>
        </p:txBody>
      </p:sp>
      <p:sp>
        <p:nvSpPr>
          <p:cNvPr id="22" name="Text 20"/>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5 REASONING + 4 REFLECTION</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The Nine-Agent Roster</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Each reasoning agent has a paired reflection agent.  Cross-review, not self-critique.  All temp 0, all closed-enum verdicts.</a:t>
            </a:r>
            <a:endParaRPr lang="en-US" sz="1400" dirty="0"/>
          </a:p>
        </p:txBody>
      </p:sp>
      <p:sp>
        <p:nvSpPr>
          <p:cNvPr id="6" name="Shape 4"/>
          <p:cNvSpPr/>
          <p:nvPr/>
        </p:nvSpPr>
        <p:spPr>
          <a:xfrm>
            <a:off x="457200" y="1920240"/>
            <a:ext cx="5486400" cy="429768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1920240"/>
            <a:ext cx="73152" cy="4297680"/>
          </a:xfrm>
          <a:prstGeom prst="rect">
            <a:avLst/>
          </a:prstGeom>
          <a:solidFill>
            <a:srgbClr val="0F766E"/>
          </a:solidFill>
          <a:ln w="12700">
            <a:solidFill>
              <a:srgbClr val="0F766E"/>
            </a:solidFill>
            <a:prstDash val="solid"/>
          </a:ln>
        </p:spPr>
        <p:txBody>
          <a:bodyPr/>
          <a:lstStyle/>
          <a:p>
            <a:endParaRPr lang="en-US"/>
          </a:p>
        </p:txBody>
      </p:sp>
      <p:sp>
        <p:nvSpPr>
          <p:cNvPr id="8" name="Text 6"/>
          <p:cNvSpPr/>
          <p:nvPr/>
        </p:nvSpPr>
        <p:spPr>
          <a:xfrm>
            <a:off x="685800" y="2011680"/>
            <a:ext cx="5029200" cy="27432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REASONING AGENTS  (5)</a:t>
            </a:r>
            <a:endParaRPr lang="en-US" sz="1400" dirty="0"/>
          </a:p>
        </p:txBody>
      </p:sp>
      <p:sp>
        <p:nvSpPr>
          <p:cNvPr id="9" name="Shape 7"/>
          <p:cNvSpPr/>
          <p:nvPr/>
        </p:nvSpPr>
        <p:spPr>
          <a:xfrm>
            <a:off x="685800" y="2423160"/>
            <a:ext cx="365760" cy="365760"/>
          </a:xfrm>
          <a:prstGeom prst="ellipse">
            <a:avLst/>
          </a:prstGeom>
          <a:solidFill>
            <a:srgbClr val="0F766E"/>
          </a:solidFill>
          <a:ln w="12700">
            <a:solidFill>
              <a:srgbClr val="333333"/>
            </a:solidFill>
            <a:prstDash val="solid"/>
          </a:ln>
        </p:spPr>
        <p:txBody>
          <a:bodyPr/>
          <a:lstStyle/>
          <a:p>
            <a:endParaRPr lang="en-US"/>
          </a:p>
        </p:txBody>
      </p:sp>
      <p:sp>
        <p:nvSpPr>
          <p:cNvPr id="10" name="Text 8"/>
          <p:cNvSpPr/>
          <p:nvPr/>
        </p:nvSpPr>
        <p:spPr>
          <a:xfrm>
            <a:off x="685800" y="24231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43000" y="2377440"/>
            <a:ext cx="20116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Planner</a:t>
            </a:r>
            <a:endParaRPr lang="en-US" sz="1600" dirty="0"/>
          </a:p>
        </p:txBody>
      </p:sp>
      <p:sp>
        <p:nvSpPr>
          <p:cNvPr id="12" name="Shape 10"/>
          <p:cNvSpPr/>
          <p:nvPr/>
        </p:nvSpPr>
        <p:spPr>
          <a:xfrm>
            <a:off x="3200400" y="2423160"/>
            <a:ext cx="777240" cy="274320"/>
          </a:xfrm>
          <a:prstGeom prst="roundRect">
            <a:avLst>
              <a:gd name="adj" fmla="val 13333"/>
            </a:avLst>
          </a:prstGeom>
          <a:solidFill>
            <a:srgbClr val="F1F5F9"/>
          </a:solidFill>
          <a:ln w="6350">
            <a:solidFill>
              <a:srgbClr val="64748B"/>
            </a:solidFill>
            <a:prstDash val="solid"/>
          </a:ln>
        </p:spPr>
        <p:txBody>
          <a:bodyPr/>
          <a:lstStyle/>
          <a:p>
            <a:endParaRPr lang="en-US"/>
          </a:p>
        </p:txBody>
      </p:sp>
      <p:sp>
        <p:nvSpPr>
          <p:cNvPr id="13" name="Text 11"/>
          <p:cNvSpPr/>
          <p:nvPr/>
        </p:nvSpPr>
        <p:spPr>
          <a:xfrm>
            <a:off x="3200400" y="2423160"/>
            <a:ext cx="777240" cy="274320"/>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a:t>
            </a:r>
            <a:endParaRPr lang="en-US" sz="1050" dirty="0"/>
          </a:p>
        </p:txBody>
      </p:sp>
      <p:sp>
        <p:nvSpPr>
          <p:cNvPr id="14" name="Text 12"/>
          <p:cNvSpPr/>
          <p:nvPr/>
        </p:nvSpPr>
        <p:spPr>
          <a:xfrm>
            <a:off x="1143000" y="2743200"/>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Routes turn into sql / direct / clarify · resolves history</a:t>
            </a:r>
            <a:endParaRPr lang="en-US" sz="1200" dirty="0"/>
          </a:p>
        </p:txBody>
      </p:sp>
      <p:sp>
        <p:nvSpPr>
          <p:cNvPr id="15" name="Shape 13"/>
          <p:cNvSpPr/>
          <p:nvPr/>
        </p:nvSpPr>
        <p:spPr>
          <a:xfrm>
            <a:off x="685800" y="3172968"/>
            <a:ext cx="365760" cy="365760"/>
          </a:xfrm>
          <a:prstGeom prst="ellipse">
            <a:avLst/>
          </a:prstGeom>
          <a:solidFill>
            <a:srgbClr val="0F766E"/>
          </a:solidFill>
          <a:ln w="12700">
            <a:solidFill>
              <a:srgbClr val="333333"/>
            </a:solidFill>
            <a:prstDash val="solid"/>
          </a:ln>
        </p:spPr>
        <p:txBody>
          <a:bodyPr/>
          <a:lstStyle/>
          <a:p>
            <a:endParaRPr lang="en-US"/>
          </a:p>
        </p:txBody>
      </p:sp>
      <p:sp>
        <p:nvSpPr>
          <p:cNvPr id="16" name="Text 14"/>
          <p:cNvSpPr/>
          <p:nvPr/>
        </p:nvSpPr>
        <p:spPr>
          <a:xfrm>
            <a:off x="685800" y="3172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1143000" y="3127248"/>
            <a:ext cx="20116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Coder</a:t>
            </a:r>
            <a:endParaRPr lang="en-US" sz="1600" dirty="0"/>
          </a:p>
        </p:txBody>
      </p:sp>
      <p:sp>
        <p:nvSpPr>
          <p:cNvPr id="18" name="Shape 16"/>
          <p:cNvSpPr/>
          <p:nvPr/>
        </p:nvSpPr>
        <p:spPr>
          <a:xfrm>
            <a:off x="3200400" y="3172968"/>
            <a:ext cx="777240" cy="274320"/>
          </a:xfrm>
          <a:prstGeom prst="roundRect">
            <a:avLst>
              <a:gd name="adj" fmla="val 13333"/>
            </a:avLst>
          </a:prstGeom>
          <a:solidFill>
            <a:srgbClr val="FEF3C7"/>
          </a:solidFill>
          <a:ln w="6350">
            <a:solidFill>
              <a:srgbClr val="B45309"/>
            </a:solidFill>
            <a:prstDash val="solid"/>
          </a:ln>
        </p:spPr>
        <p:txBody>
          <a:bodyPr/>
          <a:lstStyle/>
          <a:p>
            <a:endParaRPr lang="en-US"/>
          </a:p>
        </p:txBody>
      </p:sp>
      <p:sp>
        <p:nvSpPr>
          <p:cNvPr id="19" name="Text 17"/>
          <p:cNvSpPr/>
          <p:nvPr/>
        </p:nvSpPr>
        <p:spPr>
          <a:xfrm>
            <a:off x="3200400" y="3172968"/>
            <a:ext cx="777240" cy="274320"/>
          </a:xfrm>
          <a:prstGeom prst="rect">
            <a:avLst/>
          </a:prstGeom>
          <a:noFill/>
          <a:ln/>
        </p:spPr>
        <p:txBody>
          <a:bodyPr wrap="square" lIns="0" tIns="0" rIns="0" bIns="0" rtlCol="0" anchor="ctr"/>
          <a:lstStyle/>
          <a:p>
            <a:pPr marL="0" indent="0" algn="ctr">
              <a:buNone/>
            </a:pPr>
            <a:r>
              <a:rPr lang="en-US" sz="1050" b="1" dirty="0">
                <a:solidFill>
                  <a:srgbClr val="B45309"/>
                </a:solidFill>
                <a:latin typeface="Calibri" pitchFamily="34" charset="0"/>
                <a:ea typeface="Calibri" pitchFamily="34" charset="-122"/>
                <a:cs typeface="Calibri" pitchFamily="34" charset="-120"/>
              </a:rPr>
              <a:t>Sonnet</a:t>
            </a:r>
            <a:endParaRPr lang="en-US" sz="1050" dirty="0"/>
          </a:p>
        </p:txBody>
      </p:sp>
      <p:sp>
        <p:nvSpPr>
          <p:cNvPr id="20" name="Text 18"/>
          <p:cNvSpPr/>
          <p:nvPr/>
        </p:nvSpPr>
        <p:spPr>
          <a:xfrm>
            <a:off x="1143000" y="3493008"/>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Writes &lt;reasoning&gt; + &lt;sql_query&gt; — the SQL bottleneck</a:t>
            </a:r>
            <a:endParaRPr lang="en-US" sz="1200" dirty="0"/>
          </a:p>
        </p:txBody>
      </p:sp>
      <p:sp>
        <p:nvSpPr>
          <p:cNvPr id="21" name="Shape 19"/>
          <p:cNvSpPr/>
          <p:nvPr/>
        </p:nvSpPr>
        <p:spPr>
          <a:xfrm>
            <a:off x="685800" y="3922776"/>
            <a:ext cx="365760" cy="365760"/>
          </a:xfrm>
          <a:prstGeom prst="ellipse">
            <a:avLst/>
          </a:prstGeom>
          <a:solidFill>
            <a:srgbClr val="0F766E"/>
          </a:solidFill>
          <a:ln w="12700">
            <a:solidFill>
              <a:srgbClr val="333333"/>
            </a:solidFill>
            <a:prstDash val="solid"/>
          </a:ln>
        </p:spPr>
        <p:txBody>
          <a:bodyPr/>
          <a:lstStyle/>
          <a:p>
            <a:endParaRPr lang="en-US"/>
          </a:p>
        </p:txBody>
      </p:sp>
      <p:sp>
        <p:nvSpPr>
          <p:cNvPr id="22" name="Text 20"/>
          <p:cNvSpPr/>
          <p:nvPr/>
        </p:nvSpPr>
        <p:spPr>
          <a:xfrm>
            <a:off x="685800" y="3922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43000" y="3877056"/>
            <a:ext cx="20116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Writer</a:t>
            </a:r>
            <a:endParaRPr lang="en-US" sz="1600" dirty="0"/>
          </a:p>
        </p:txBody>
      </p:sp>
      <p:sp>
        <p:nvSpPr>
          <p:cNvPr id="24" name="Shape 22"/>
          <p:cNvSpPr/>
          <p:nvPr/>
        </p:nvSpPr>
        <p:spPr>
          <a:xfrm>
            <a:off x="3200400" y="3922776"/>
            <a:ext cx="777240" cy="274320"/>
          </a:xfrm>
          <a:prstGeom prst="roundRect">
            <a:avLst>
              <a:gd name="adj" fmla="val 13333"/>
            </a:avLst>
          </a:prstGeom>
          <a:solidFill>
            <a:srgbClr val="F1F5F9"/>
          </a:solidFill>
          <a:ln w="6350">
            <a:solidFill>
              <a:srgbClr val="64748B"/>
            </a:solidFill>
            <a:prstDash val="solid"/>
          </a:ln>
        </p:spPr>
        <p:txBody>
          <a:bodyPr/>
          <a:lstStyle/>
          <a:p>
            <a:endParaRPr lang="en-US"/>
          </a:p>
        </p:txBody>
      </p:sp>
      <p:sp>
        <p:nvSpPr>
          <p:cNvPr id="25" name="Text 23"/>
          <p:cNvSpPr/>
          <p:nvPr/>
        </p:nvSpPr>
        <p:spPr>
          <a:xfrm>
            <a:off x="3200400" y="3922776"/>
            <a:ext cx="777240" cy="274320"/>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a:t>
            </a:r>
            <a:endParaRPr lang="en-US" sz="1050" dirty="0"/>
          </a:p>
        </p:txBody>
      </p:sp>
      <p:sp>
        <p:nvSpPr>
          <p:cNvPr id="26" name="Text 24"/>
          <p:cNvSpPr/>
          <p:nvPr/>
        </p:nvSpPr>
        <p:spPr>
          <a:xfrm>
            <a:off x="1143000" y="4242816"/>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Composes markdown answer from safe-values list</a:t>
            </a:r>
            <a:endParaRPr lang="en-US" sz="1200" dirty="0"/>
          </a:p>
        </p:txBody>
      </p:sp>
      <p:sp>
        <p:nvSpPr>
          <p:cNvPr id="27" name="Shape 25"/>
          <p:cNvSpPr/>
          <p:nvPr/>
        </p:nvSpPr>
        <p:spPr>
          <a:xfrm>
            <a:off x="685800" y="4672584"/>
            <a:ext cx="365760" cy="365760"/>
          </a:xfrm>
          <a:prstGeom prst="ellipse">
            <a:avLst/>
          </a:prstGeom>
          <a:solidFill>
            <a:srgbClr val="0F766E"/>
          </a:solidFill>
          <a:ln w="12700">
            <a:solidFill>
              <a:srgbClr val="333333"/>
            </a:solidFill>
            <a:prstDash val="solid"/>
          </a:ln>
        </p:spPr>
        <p:txBody>
          <a:bodyPr/>
          <a:lstStyle/>
          <a:p>
            <a:endParaRPr lang="en-US"/>
          </a:p>
        </p:txBody>
      </p:sp>
      <p:sp>
        <p:nvSpPr>
          <p:cNvPr id="28" name="Text 26"/>
          <p:cNvSpPr/>
          <p:nvPr/>
        </p:nvSpPr>
        <p:spPr>
          <a:xfrm>
            <a:off x="685800" y="46725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p:nvPr/>
        </p:nvSpPr>
        <p:spPr>
          <a:xfrm>
            <a:off x="1143000" y="4626864"/>
            <a:ext cx="20116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Viz Coder</a:t>
            </a:r>
            <a:endParaRPr lang="en-US" sz="1600" dirty="0"/>
          </a:p>
        </p:txBody>
      </p:sp>
      <p:sp>
        <p:nvSpPr>
          <p:cNvPr id="30" name="Shape 28"/>
          <p:cNvSpPr/>
          <p:nvPr/>
        </p:nvSpPr>
        <p:spPr>
          <a:xfrm>
            <a:off x="3200400" y="4672584"/>
            <a:ext cx="777240" cy="274320"/>
          </a:xfrm>
          <a:prstGeom prst="roundRect">
            <a:avLst>
              <a:gd name="adj" fmla="val 13333"/>
            </a:avLst>
          </a:prstGeom>
          <a:solidFill>
            <a:srgbClr val="F1F5F9"/>
          </a:solidFill>
          <a:ln w="6350">
            <a:solidFill>
              <a:srgbClr val="64748B"/>
            </a:solidFill>
            <a:prstDash val="solid"/>
          </a:ln>
        </p:spPr>
        <p:txBody>
          <a:bodyPr/>
          <a:lstStyle/>
          <a:p>
            <a:endParaRPr lang="en-US" sz="2400"/>
          </a:p>
        </p:txBody>
      </p:sp>
      <p:sp>
        <p:nvSpPr>
          <p:cNvPr id="31" name="Text 29"/>
          <p:cNvSpPr/>
          <p:nvPr/>
        </p:nvSpPr>
        <p:spPr>
          <a:xfrm>
            <a:off x="3200400" y="4672584"/>
            <a:ext cx="777240" cy="274320"/>
          </a:xfrm>
          <a:prstGeom prst="rect">
            <a:avLst/>
          </a:prstGeom>
          <a:noFill/>
          <a:ln/>
        </p:spPr>
        <p:txBody>
          <a:bodyPr wrap="square" lIns="0" tIns="0" rIns="0" bIns="0" rtlCol="0" anchor="ctr"/>
          <a:lstStyle/>
          <a:p>
            <a:pPr marL="0" indent="0" algn="ctr">
              <a:buNone/>
            </a:pPr>
            <a:r>
              <a:rPr lang="en-US" sz="950" b="1" dirty="0">
                <a:solidFill>
                  <a:srgbClr val="64748B"/>
                </a:solidFill>
                <a:latin typeface="Calibri" pitchFamily="34" charset="0"/>
                <a:ea typeface="Calibri" pitchFamily="34" charset="-122"/>
                <a:cs typeface="Calibri" pitchFamily="34" charset="-120"/>
              </a:rPr>
              <a:t>Haiku</a:t>
            </a:r>
            <a:endParaRPr lang="en-US" sz="950" dirty="0"/>
          </a:p>
        </p:txBody>
      </p:sp>
      <p:sp>
        <p:nvSpPr>
          <p:cNvPr id="32" name="Text 30"/>
          <p:cNvSpPr/>
          <p:nvPr/>
        </p:nvSpPr>
        <p:spPr>
          <a:xfrm>
            <a:off x="1143000" y="4992624"/>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Writes short matplotlib snippet for the sandbox</a:t>
            </a:r>
            <a:endParaRPr lang="en-US" sz="1200" dirty="0"/>
          </a:p>
        </p:txBody>
      </p:sp>
      <p:sp>
        <p:nvSpPr>
          <p:cNvPr id="33" name="Shape 31"/>
          <p:cNvSpPr/>
          <p:nvPr/>
        </p:nvSpPr>
        <p:spPr>
          <a:xfrm>
            <a:off x="685800" y="5422392"/>
            <a:ext cx="365760" cy="365760"/>
          </a:xfrm>
          <a:prstGeom prst="ellipse">
            <a:avLst/>
          </a:prstGeom>
          <a:solidFill>
            <a:srgbClr val="0F766E"/>
          </a:solidFill>
          <a:ln w="12700">
            <a:solidFill>
              <a:srgbClr val="333333"/>
            </a:solidFill>
            <a:prstDash val="solid"/>
          </a:ln>
        </p:spPr>
        <p:txBody>
          <a:bodyPr/>
          <a:lstStyle/>
          <a:p>
            <a:endParaRPr lang="en-US"/>
          </a:p>
        </p:txBody>
      </p:sp>
      <p:sp>
        <p:nvSpPr>
          <p:cNvPr id="34" name="Text 32"/>
          <p:cNvSpPr/>
          <p:nvPr/>
        </p:nvSpPr>
        <p:spPr>
          <a:xfrm>
            <a:off x="685800" y="54223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5" name="Text 33"/>
          <p:cNvSpPr/>
          <p:nvPr/>
        </p:nvSpPr>
        <p:spPr>
          <a:xfrm>
            <a:off x="1143000" y="5376672"/>
            <a:ext cx="20116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Supervisor</a:t>
            </a:r>
            <a:endParaRPr lang="en-US" sz="1600" dirty="0"/>
          </a:p>
        </p:txBody>
      </p:sp>
      <p:sp>
        <p:nvSpPr>
          <p:cNvPr id="36" name="Shape 34"/>
          <p:cNvSpPr/>
          <p:nvPr/>
        </p:nvSpPr>
        <p:spPr>
          <a:xfrm>
            <a:off x="3200400" y="5422392"/>
            <a:ext cx="777240" cy="274320"/>
          </a:xfrm>
          <a:prstGeom prst="roundRect">
            <a:avLst>
              <a:gd name="adj" fmla="val 13333"/>
            </a:avLst>
          </a:prstGeom>
          <a:solidFill>
            <a:srgbClr val="F1F5F9"/>
          </a:solidFill>
          <a:ln w="6350">
            <a:solidFill>
              <a:srgbClr val="64748B"/>
            </a:solidFill>
            <a:prstDash val="solid"/>
          </a:ln>
        </p:spPr>
        <p:txBody>
          <a:bodyPr/>
          <a:lstStyle/>
          <a:p>
            <a:endParaRPr lang="en-US"/>
          </a:p>
        </p:txBody>
      </p:sp>
      <p:sp>
        <p:nvSpPr>
          <p:cNvPr id="37" name="Text 35"/>
          <p:cNvSpPr/>
          <p:nvPr/>
        </p:nvSpPr>
        <p:spPr>
          <a:xfrm>
            <a:off x="3200400" y="5422392"/>
            <a:ext cx="777240" cy="274320"/>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a:t>
            </a:r>
            <a:endParaRPr lang="en-US" sz="1050" dirty="0"/>
          </a:p>
        </p:txBody>
      </p:sp>
      <p:sp>
        <p:nvSpPr>
          <p:cNvPr id="38" name="Text 36"/>
          <p:cNvSpPr/>
          <p:nvPr/>
        </p:nvSpPr>
        <p:spPr>
          <a:xfrm>
            <a:off x="1143000" y="5742432"/>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Picks recovery action when a retry budget exhausts</a:t>
            </a:r>
            <a:endParaRPr lang="en-US" sz="1200" dirty="0"/>
          </a:p>
        </p:txBody>
      </p:sp>
      <p:sp>
        <p:nvSpPr>
          <p:cNvPr id="39" name="Shape 37"/>
          <p:cNvSpPr/>
          <p:nvPr/>
        </p:nvSpPr>
        <p:spPr>
          <a:xfrm>
            <a:off x="6263640" y="1920240"/>
            <a:ext cx="5486400" cy="4297680"/>
          </a:xfrm>
          <a:prstGeom prst="rect">
            <a:avLst/>
          </a:prstGeom>
          <a:solidFill>
            <a:srgbClr val="F8FAFC"/>
          </a:solidFill>
          <a:ln w="9525">
            <a:solidFill>
              <a:srgbClr val="E2E8F0"/>
            </a:solidFill>
            <a:prstDash val="solid"/>
          </a:ln>
        </p:spPr>
        <p:txBody>
          <a:bodyPr/>
          <a:lstStyle/>
          <a:p>
            <a:endParaRPr lang="en-US"/>
          </a:p>
        </p:txBody>
      </p:sp>
      <p:sp>
        <p:nvSpPr>
          <p:cNvPr id="40" name="Shape 38"/>
          <p:cNvSpPr/>
          <p:nvPr/>
        </p:nvSpPr>
        <p:spPr>
          <a:xfrm>
            <a:off x="6263640" y="1920240"/>
            <a:ext cx="73152" cy="4297680"/>
          </a:xfrm>
          <a:prstGeom prst="rect">
            <a:avLst/>
          </a:prstGeom>
          <a:solidFill>
            <a:srgbClr val="B45309"/>
          </a:solidFill>
          <a:ln w="12700">
            <a:solidFill>
              <a:srgbClr val="B45309"/>
            </a:solidFill>
            <a:prstDash val="solid"/>
          </a:ln>
        </p:spPr>
        <p:txBody>
          <a:bodyPr/>
          <a:lstStyle/>
          <a:p>
            <a:endParaRPr lang="en-US"/>
          </a:p>
        </p:txBody>
      </p:sp>
      <p:sp>
        <p:nvSpPr>
          <p:cNvPr id="41" name="Text 39"/>
          <p:cNvSpPr/>
          <p:nvPr/>
        </p:nvSpPr>
        <p:spPr>
          <a:xfrm>
            <a:off x="6492240" y="2011680"/>
            <a:ext cx="5029200" cy="27432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REFLECTION AGENTS  (4)</a:t>
            </a:r>
            <a:endParaRPr lang="en-US" sz="1400" dirty="0"/>
          </a:p>
        </p:txBody>
      </p:sp>
      <p:sp>
        <p:nvSpPr>
          <p:cNvPr id="42" name="Shape 40"/>
          <p:cNvSpPr/>
          <p:nvPr/>
        </p:nvSpPr>
        <p:spPr>
          <a:xfrm>
            <a:off x="6492240" y="2423160"/>
            <a:ext cx="365760" cy="365760"/>
          </a:xfrm>
          <a:prstGeom prst="ellipse">
            <a:avLst/>
          </a:prstGeom>
          <a:solidFill>
            <a:srgbClr val="B45309"/>
          </a:solidFill>
          <a:ln w="12700">
            <a:solidFill>
              <a:srgbClr val="333333"/>
            </a:solidFill>
            <a:prstDash val="solid"/>
          </a:ln>
        </p:spPr>
        <p:txBody>
          <a:bodyPr/>
          <a:lstStyle/>
          <a:p>
            <a:endParaRPr lang="en-US"/>
          </a:p>
        </p:txBody>
      </p:sp>
      <p:sp>
        <p:nvSpPr>
          <p:cNvPr id="43" name="Text 41"/>
          <p:cNvSpPr/>
          <p:nvPr/>
        </p:nvSpPr>
        <p:spPr>
          <a:xfrm>
            <a:off x="6492240" y="24231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4" name="Text 42"/>
          <p:cNvSpPr/>
          <p:nvPr/>
        </p:nvSpPr>
        <p:spPr>
          <a:xfrm>
            <a:off x="6949440" y="2377440"/>
            <a:ext cx="22860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Code Reviewer</a:t>
            </a:r>
            <a:endParaRPr lang="en-US" sz="1600" dirty="0"/>
          </a:p>
        </p:txBody>
      </p:sp>
      <p:sp>
        <p:nvSpPr>
          <p:cNvPr id="45" name="Shape 43"/>
          <p:cNvSpPr/>
          <p:nvPr/>
        </p:nvSpPr>
        <p:spPr>
          <a:xfrm>
            <a:off x="9326880" y="2423160"/>
            <a:ext cx="868680" cy="274320"/>
          </a:xfrm>
          <a:prstGeom prst="roundRect">
            <a:avLst>
              <a:gd name="adj" fmla="val 13333"/>
            </a:avLst>
          </a:prstGeom>
          <a:solidFill>
            <a:srgbClr val="FEF3C7"/>
          </a:solidFill>
          <a:ln w="6350">
            <a:solidFill>
              <a:srgbClr val="B45309"/>
            </a:solidFill>
            <a:prstDash val="solid"/>
          </a:ln>
        </p:spPr>
        <p:txBody>
          <a:bodyPr/>
          <a:lstStyle/>
          <a:p>
            <a:endParaRPr lang="en-US"/>
          </a:p>
        </p:txBody>
      </p:sp>
      <p:sp>
        <p:nvSpPr>
          <p:cNvPr id="46" name="Text 44"/>
          <p:cNvSpPr/>
          <p:nvPr/>
        </p:nvSpPr>
        <p:spPr>
          <a:xfrm>
            <a:off x="9326880" y="2423160"/>
            <a:ext cx="868680" cy="274320"/>
          </a:xfrm>
          <a:prstGeom prst="rect">
            <a:avLst/>
          </a:prstGeom>
          <a:noFill/>
          <a:ln/>
        </p:spPr>
        <p:txBody>
          <a:bodyPr wrap="square" lIns="0" tIns="0" rIns="0" bIns="0" rtlCol="0" anchor="ctr"/>
          <a:lstStyle/>
          <a:p>
            <a:pPr marL="0" indent="0" algn="ctr">
              <a:buNone/>
            </a:pPr>
            <a:r>
              <a:rPr lang="en-US" sz="1050" b="1" dirty="0">
                <a:solidFill>
                  <a:srgbClr val="B45309"/>
                </a:solidFill>
                <a:latin typeface="Calibri" pitchFamily="34" charset="0"/>
                <a:ea typeface="Calibri" pitchFamily="34" charset="-122"/>
                <a:cs typeface="Calibri" pitchFamily="34" charset="-120"/>
              </a:rPr>
              <a:t>Sonnet</a:t>
            </a:r>
            <a:endParaRPr lang="en-US" sz="1050" dirty="0"/>
          </a:p>
        </p:txBody>
      </p:sp>
      <p:sp>
        <p:nvSpPr>
          <p:cNvPr id="47" name="Text 45"/>
          <p:cNvSpPr/>
          <p:nvPr/>
        </p:nvSpPr>
        <p:spPr>
          <a:xfrm>
            <a:off x="6949440" y="2743200"/>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Verifies SQL technical correctness + reasoning-vs-SQL consistency</a:t>
            </a:r>
            <a:endParaRPr lang="en-US" sz="1200" dirty="0"/>
          </a:p>
        </p:txBody>
      </p:sp>
      <p:sp>
        <p:nvSpPr>
          <p:cNvPr id="48" name="Shape 46"/>
          <p:cNvSpPr/>
          <p:nvPr/>
        </p:nvSpPr>
        <p:spPr>
          <a:xfrm>
            <a:off x="6492240" y="3172968"/>
            <a:ext cx="365760" cy="365760"/>
          </a:xfrm>
          <a:prstGeom prst="ellipse">
            <a:avLst/>
          </a:prstGeom>
          <a:solidFill>
            <a:srgbClr val="B45309"/>
          </a:solidFill>
          <a:ln w="12700">
            <a:solidFill>
              <a:srgbClr val="333333"/>
            </a:solidFill>
            <a:prstDash val="solid"/>
          </a:ln>
        </p:spPr>
        <p:txBody>
          <a:bodyPr/>
          <a:lstStyle/>
          <a:p>
            <a:endParaRPr lang="en-US"/>
          </a:p>
        </p:txBody>
      </p:sp>
      <p:sp>
        <p:nvSpPr>
          <p:cNvPr id="49" name="Text 47"/>
          <p:cNvSpPr/>
          <p:nvPr/>
        </p:nvSpPr>
        <p:spPr>
          <a:xfrm>
            <a:off x="6492240" y="3172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0" name="Text 48"/>
          <p:cNvSpPr/>
          <p:nvPr/>
        </p:nvSpPr>
        <p:spPr>
          <a:xfrm>
            <a:off x="6949440" y="3127248"/>
            <a:ext cx="22860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Output Reviewer</a:t>
            </a:r>
            <a:endParaRPr lang="en-US" sz="1600" dirty="0"/>
          </a:p>
        </p:txBody>
      </p:sp>
      <p:sp>
        <p:nvSpPr>
          <p:cNvPr id="51" name="Shape 49"/>
          <p:cNvSpPr/>
          <p:nvPr/>
        </p:nvSpPr>
        <p:spPr>
          <a:xfrm>
            <a:off x="9326880" y="3172968"/>
            <a:ext cx="868680" cy="274320"/>
          </a:xfrm>
          <a:prstGeom prst="roundRect">
            <a:avLst>
              <a:gd name="adj" fmla="val 13333"/>
            </a:avLst>
          </a:prstGeom>
          <a:solidFill>
            <a:srgbClr val="F1F5F9"/>
          </a:solidFill>
          <a:ln w="6350">
            <a:solidFill>
              <a:srgbClr val="64748B"/>
            </a:solidFill>
            <a:prstDash val="solid"/>
          </a:ln>
        </p:spPr>
        <p:txBody>
          <a:bodyPr/>
          <a:lstStyle/>
          <a:p>
            <a:endParaRPr lang="en-US"/>
          </a:p>
        </p:txBody>
      </p:sp>
      <p:sp>
        <p:nvSpPr>
          <p:cNvPr id="52" name="Text 50"/>
          <p:cNvSpPr/>
          <p:nvPr/>
        </p:nvSpPr>
        <p:spPr>
          <a:xfrm>
            <a:off x="9326880" y="3172968"/>
            <a:ext cx="868680" cy="274320"/>
          </a:xfrm>
          <a:prstGeom prst="rect">
            <a:avLst/>
          </a:prstGeom>
          <a:noFill/>
          <a:ln/>
        </p:spPr>
        <p:txBody>
          <a:bodyPr wrap="square" lIns="0" tIns="0" rIns="0" bIns="0" rtlCol="0" anchor="ctr"/>
          <a:lstStyle/>
          <a:p>
            <a:pPr marL="0" indent="0" algn="ctr">
              <a:buNone/>
            </a:pPr>
            <a:r>
              <a:rPr lang="en-US" sz="1050" b="1" dirty="0">
                <a:solidFill>
                  <a:srgbClr val="64748B"/>
                </a:solidFill>
                <a:latin typeface="Calibri" pitchFamily="34" charset="0"/>
                <a:ea typeface="Calibri" pitchFamily="34" charset="-122"/>
                <a:cs typeface="Calibri" pitchFamily="34" charset="-120"/>
              </a:rPr>
              <a:t>Haiku</a:t>
            </a:r>
            <a:endParaRPr lang="en-US" sz="1050" dirty="0"/>
          </a:p>
        </p:txBody>
      </p:sp>
      <p:sp>
        <p:nvSpPr>
          <p:cNvPr id="53" name="Text 51"/>
          <p:cNvSpPr/>
          <p:nvPr/>
        </p:nvSpPr>
        <p:spPr>
          <a:xfrm>
            <a:off x="6949440" y="3493008"/>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Decides if rows answer the question · flags viz_applies</a:t>
            </a:r>
            <a:endParaRPr lang="en-US" sz="1200" dirty="0"/>
          </a:p>
        </p:txBody>
      </p:sp>
      <p:sp>
        <p:nvSpPr>
          <p:cNvPr id="54" name="Shape 52"/>
          <p:cNvSpPr/>
          <p:nvPr/>
        </p:nvSpPr>
        <p:spPr>
          <a:xfrm>
            <a:off x="6492240" y="3922776"/>
            <a:ext cx="365760" cy="365760"/>
          </a:xfrm>
          <a:prstGeom prst="ellipse">
            <a:avLst/>
          </a:prstGeom>
          <a:solidFill>
            <a:srgbClr val="B45309"/>
          </a:solidFill>
          <a:ln w="12700">
            <a:solidFill>
              <a:srgbClr val="333333"/>
            </a:solidFill>
            <a:prstDash val="solid"/>
          </a:ln>
        </p:spPr>
        <p:txBody>
          <a:bodyPr/>
          <a:lstStyle/>
          <a:p>
            <a:endParaRPr lang="en-US"/>
          </a:p>
        </p:txBody>
      </p:sp>
      <p:sp>
        <p:nvSpPr>
          <p:cNvPr id="55" name="Text 53"/>
          <p:cNvSpPr/>
          <p:nvPr/>
        </p:nvSpPr>
        <p:spPr>
          <a:xfrm>
            <a:off x="6492240" y="3922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56" name="Text 54"/>
          <p:cNvSpPr/>
          <p:nvPr/>
        </p:nvSpPr>
        <p:spPr>
          <a:xfrm>
            <a:off x="6949440" y="3877056"/>
            <a:ext cx="22860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Viz Code Reviewer</a:t>
            </a:r>
            <a:endParaRPr lang="en-US" sz="1600" dirty="0"/>
          </a:p>
        </p:txBody>
      </p:sp>
      <p:sp>
        <p:nvSpPr>
          <p:cNvPr id="57" name="Shape 55"/>
          <p:cNvSpPr/>
          <p:nvPr/>
        </p:nvSpPr>
        <p:spPr>
          <a:xfrm>
            <a:off x="9326880" y="3922776"/>
            <a:ext cx="868680" cy="274320"/>
          </a:xfrm>
          <a:prstGeom prst="roundRect">
            <a:avLst>
              <a:gd name="adj" fmla="val 13333"/>
            </a:avLst>
          </a:prstGeom>
          <a:solidFill>
            <a:srgbClr val="F1F5F9"/>
          </a:solidFill>
          <a:ln w="6350">
            <a:solidFill>
              <a:srgbClr val="64748B"/>
            </a:solidFill>
            <a:prstDash val="solid"/>
          </a:ln>
        </p:spPr>
        <p:txBody>
          <a:bodyPr/>
          <a:lstStyle/>
          <a:p>
            <a:endParaRPr lang="en-US" sz="2400"/>
          </a:p>
        </p:txBody>
      </p:sp>
      <p:sp>
        <p:nvSpPr>
          <p:cNvPr id="58" name="Text 56"/>
          <p:cNvSpPr/>
          <p:nvPr/>
        </p:nvSpPr>
        <p:spPr>
          <a:xfrm>
            <a:off x="9326880" y="3922776"/>
            <a:ext cx="868680" cy="274320"/>
          </a:xfrm>
          <a:prstGeom prst="rect">
            <a:avLst/>
          </a:prstGeom>
          <a:noFill/>
          <a:ln/>
        </p:spPr>
        <p:txBody>
          <a:bodyPr wrap="square" lIns="0" tIns="0" rIns="0" bIns="0" rtlCol="0" anchor="ctr"/>
          <a:lstStyle/>
          <a:p>
            <a:pPr marL="0" indent="0" algn="ctr">
              <a:buNone/>
            </a:pPr>
            <a:r>
              <a:rPr lang="en-US" sz="950" b="1" dirty="0">
                <a:solidFill>
                  <a:srgbClr val="64748B"/>
                </a:solidFill>
                <a:latin typeface="Calibri" pitchFamily="34" charset="0"/>
                <a:ea typeface="Calibri" pitchFamily="34" charset="-122"/>
                <a:cs typeface="Calibri" pitchFamily="34" charset="-120"/>
              </a:rPr>
              <a:t>Haiku</a:t>
            </a:r>
            <a:endParaRPr lang="en-US" sz="950" dirty="0"/>
          </a:p>
        </p:txBody>
      </p:sp>
      <p:sp>
        <p:nvSpPr>
          <p:cNvPr id="59" name="Text 57"/>
          <p:cNvSpPr/>
          <p:nvPr/>
        </p:nvSpPr>
        <p:spPr>
          <a:xfrm>
            <a:off x="6949440" y="4242816"/>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Static safety check - banned identifiers, missing labels</a:t>
            </a:r>
            <a:endParaRPr lang="en-US" sz="1200" dirty="0"/>
          </a:p>
        </p:txBody>
      </p:sp>
      <p:sp>
        <p:nvSpPr>
          <p:cNvPr id="60" name="Shape 58"/>
          <p:cNvSpPr/>
          <p:nvPr/>
        </p:nvSpPr>
        <p:spPr>
          <a:xfrm>
            <a:off x="6492240" y="4672584"/>
            <a:ext cx="365760" cy="365760"/>
          </a:xfrm>
          <a:prstGeom prst="ellipse">
            <a:avLst/>
          </a:prstGeom>
          <a:solidFill>
            <a:srgbClr val="B45309"/>
          </a:solidFill>
          <a:ln w="12700">
            <a:solidFill>
              <a:srgbClr val="333333"/>
            </a:solidFill>
            <a:prstDash val="solid"/>
          </a:ln>
        </p:spPr>
        <p:txBody>
          <a:bodyPr/>
          <a:lstStyle/>
          <a:p>
            <a:endParaRPr lang="en-US"/>
          </a:p>
        </p:txBody>
      </p:sp>
      <p:sp>
        <p:nvSpPr>
          <p:cNvPr id="61" name="Text 59"/>
          <p:cNvSpPr/>
          <p:nvPr/>
        </p:nvSpPr>
        <p:spPr>
          <a:xfrm>
            <a:off x="6492240" y="46725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62" name="Text 60"/>
          <p:cNvSpPr/>
          <p:nvPr/>
        </p:nvSpPr>
        <p:spPr>
          <a:xfrm>
            <a:off x="6949440" y="4626864"/>
            <a:ext cx="22860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Viz Reviewer</a:t>
            </a:r>
            <a:endParaRPr lang="en-US" sz="1600" dirty="0"/>
          </a:p>
        </p:txBody>
      </p:sp>
      <p:sp>
        <p:nvSpPr>
          <p:cNvPr id="63" name="Shape 61"/>
          <p:cNvSpPr/>
          <p:nvPr/>
        </p:nvSpPr>
        <p:spPr>
          <a:xfrm>
            <a:off x="9326880" y="4672584"/>
            <a:ext cx="868680" cy="274320"/>
          </a:xfrm>
          <a:prstGeom prst="roundRect">
            <a:avLst>
              <a:gd name="adj" fmla="val 13333"/>
            </a:avLst>
          </a:prstGeom>
          <a:solidFill>
            <a:srgbClr val="CCFBF1"/>
          </a:solidFill>
          <a:ln w="6350">
            <a:solidFill>
              <a:srgbClr val="0F766E"/>
            </a:solidFill>
            <a:prstDash val="solid"/>
          </a:ln>
        </p:spPr>
        <p:txBody>
          <a:bodyPr/>
          <a:lstStyle/>
          <a:p>
            <a:endParaRPr lang="en-US"/>
          </a:p>
        </p:txBody>
      </p:sp>
      <p:sp>
        <p:nvSpPr>
          <p:cNvPr id="64" name="Text 62"/>
          <p:cNvSpPr/>
          <p:nvPr/>
        </p:nvSpPr>
        <p:spPr>
          <a:xfrm>
            <a:off x="9326880" y="4672584"/>
            <a:ext cx="868680" cy="274320"/>
          </a:xfrm>
          <a:prstGeom prst="rect">
            <a:avLst/>
          </a:prstGeom>
          <a:noFill/>
          <a:ln/>
        </p:spPr>
        <p:txBody>
          <a:bodyPr wrap="square" lIns="0" tIns="0" rIns="0" bIns="0" rtlCol="0" anchor="ctr"/>
          <a:lstStyle/>
          <a:p>
            <a:pPr marL="0" indent="0" algn="ctr">
              <a:buNone/>
            </a:pPr>
            <a:r>
              <a:rPr lang="en-US" sz="1050" b="1" dirty="0">
                <a:solidFill>
                  <a:srgbClr val="0F766E"/>
                </a:solidFill>
                <a:latin typeface="Calibri" pitchFamily="34" charset="0"/>
                <a:ea typeface="Calibri" pitchFamily="34" charset="-122"/>
                <a:cs typeface="Calibri" pitchFamily="34" charset="-120"/>
              </a:rPr>
              <a:t>Haiku vis</a:t>
            </a:r>
            <a:endParaRPr lang="en-US" sz="1050" dirty="0"/>
          </a:p>
        </p:txBody>
      </p:sp>
      <p:sp>
        <p:nvSpPr>
          <p:cNvPr id="65" name="Text 63"/>
          <p:cNvSpPr/>
          <p:nvPr/>
        </p:nvSpPr>
        <p:spPr>
          <a:xfrm>
            <a:off x="6949440" y="4992624"/>
            <a:ext cx="4572000" cy="3657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MULTIMODAL - judges the rendered PNG: layout · legibility · fit</a:t>
            </a:r>
            <a:endParaRPr lang="en-US" sz="1200" dirty="0"/>
          </a:p>
        </p:txBody>
      </p:sp>
      <p:sp>
        <p:nvSpPr>
          <p:cNvPr id="66" name="Shape 64"/>
          <p:cNvSpPr/>
          <p:nvPr/>
        </p:nvSpPr>
        <p:spPr>
          <a:xfrm>
            <a:off x="457200" y="6172200"/>
            <a:ext cx="11247120" cy="365760"/>
          </a:xfrm>
          <a:prstGeom prst="rect">
            <a:avLst/>
          </a:prstGeom>
          <a:solidFill>
            <a:srgbClr val="CCFBF1"/>
          </a:solidFill>
          <a:ln w="6350">
            <a:solidFill>
              <a:srgbClr val="0F766E"/>
            </a:solidFill>
            <a:prstDash val="solid"/>
          </a:ln>
        </p:spPr>
        <p:txBody>
          <a:bodyPr/>
          <a:lstStyle/>
          <a:p>
            <a:endParaRPr lang="en-US"/>
          </a:p>
        </p:txBody>
      </p:sp>
      <p:sp>
        <p:nvSpPr>
          <p:cNvPr id="67" name="Text 65"/>
          <p:cNvSpPr/>
          <p:nvPr/>
        </p:nvSpPr>
        <p:spPr>
          <a:xfrm>
            <a:off x="685800" y="6217920"/>
            <a:ext cx="10789920" cy="274320"/>
          </a:xfrm>
          <a:prstGeom prst="rect">
            <a:avLst/>
          </a:prstGeom>
          <a:noFill/>
          <a:ln/>
        </p:spPr>
        <p:txBody>
          <a:bodyPr wrap="square" lIns="0" tIns="0" rIns="0" bIns="0"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+ 1 offline agent:  </a:t>
            </a:r>
            <a:r>
              <a:rPr lang="en-US" sz="1400" dirty="0">
                <a:solidFill>
                  <a:srgbClr val="334155"/>
                </a:solidFill>
                <a:latin typeface="Calibri" pitchFamily="34" charset="0"/>
                <a:ea typeface="Calibri" pitchFamily="34" charset="-122"/>
                <a:cs typeface="Calibri" pitchFamily="34" charset="-120"/>
              </a:rPr>
              <a:t>Topic Classifier (Haiku 4.5, one-time, ~1,200 rows, 10-topic closed enum) - runs at ingestion, not per turn</a:t>
            </a:r>
            <a:endParaRPr lang="en-US" sz="1400" dirty="0"/>
          </a:p>
        </p:txBody>
      </p:sp>
      <p:sp>
        <p:nvSpPr>
          <p:cNvPr id="68" name="Text 66"/>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27</a:t>
            </a:r>
            <a:endParaRPr lang="en-US" sz="900" dirty="0"/>
          </a:p>
        </p:txBody>
      </p:sp>
      <p:sp>
        <p:nvSpPr>
          <p:cNvPr id="69" name="Text 67"/>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TOOL LAYER | PURE PYTHON, SINGLE-CONCERN, ORCHESTRATOR-ONLY</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Eleven Deterministic Tools</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41148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Every tool is pure Python.  Every tool receives pre-parsed, pre-validated data but never raw model text.  Every tool is called exclusively by the Orchestrator.</a:t>
            </a:r>
            <a:endParaRPr lang="en-US" sz="1400" dirty="0"/>
          </a:p>
        </p:txBody>
      </p:sp>
      <p:sp>
        <p:nvSpPr>
          <p:cNvPr id="6" name="Shape 4"/>
          <p:cNvSpPr/>
          <p:nvPr/>
        </p:nvSpPr>
        <p:spPr>
          <a:xfrm>
            <a:off x="457200" y="1965960"/>
            <a:ext cx="3657600" cy="868680"/>
          </a:xfrm>
          <a:prstGeom prst="rect">
            <a:avLst/>
          </a:prstGeom>
          <a:solidFill>
            <a:srgbClr val="FFFFFF"/>
          </a:solidFill>
          <a:ln w="9525">
            <a:solidFill>
              <a:srgbClr val="E2E8F0"/>
            </a:solidFill>
            <a:prstDash val="solid"/>
          </a:ln>
        </p:spPr>
        <p:txBody>
          <a:bodyPr/>
          <a:lstStyle/>
          <a:p>
            <a:endParaRPr lang="en-US"/>
          </a:p>
        </p:txBody>
      </p:sp>
      <p:sp>
        <p:nvSpPr>
          <p:cNvPr id="7" name="Shape 5"/>
          <p:cNvSpPr/>
          <p:nvPr/>
        </p:nvSpPr>
        <p:spPr>
          <a:xfrm>
            <a:off x="457200" y="1965960"/>
            <a:ext cx="73152" cy="868680"/>
          </a:xfrm>
          <a:prstGeom prst="rect">
            <a:avLst/>
          </a:prstGeom>
          <a:solidFill>
            <a:srgbClr val="B45309"/>
          </a:solidFill>
          <a:ln w="12700">
            <a:solidFill>
              <a:srgbClr val="B45309"/>
            </a:solidFill>
            <a:prstDash val="solid"/>
          </a:ln>
        </p:spPr>
        <p:txBody>
          <a:bodyPr/>
          <a:lstStyle/>
          <a:p>
            <a:endParaRPr lang="en-US"/>
          </a:p>
        </p:txBody>
      </p:sp>
      <p:sp>
        <p:nvSpPr>
          <p:cNvPr id="8" name="Text 6"/>
          <p:cNvSpPr/>
          <p:nvPr/>
        </p:nvSpPr>
        <p:spPr>
          <a:xfrm>
            <a:off x="640080" y="2057400"/>
            <a:ext cx="3383280" cy="201168"/>
          </a:xfrm>
          <a:prstGeom prst="rect">
            <a:avLst/>
          </a:prstGeom>
          <a:noFill/>
          <a:ln/>
        </p:spPr>
        <p:txBody>
          <a:bodyPr wrap="square" lIns="0" tIns="0" rIns="0" bIns="0" rtlCol="0" anchor="ctr"/>
          <a:lstStyle/>
          <a:p>
            <a:pPr marL="0" indent="0">
              <a:buNone/>
            </a:pPr>
            <a:r>
              <a:rPr lang="en-US" sz="1400" b="1" kern="0" spc="200" dirty="0">
                <a:solidFill>
                  <a:srgbClr val="B45309"/>
                </a:solidFill>
                <a:latin typeface="Calibri" pitchFamily="34" charset="0"/>
                <a:ea typeface="Calibri" pitchFamily="34" charset="-122"/>
                <a:cs typeface="Calibri" pitchFamily="34" charset="-120"/>
              </a:rPr>
              <a:t>SQL</a:t>
            </a:r>
            <a:endParaRPr lang="en-US" sz="1400" dirty="0"/>
          </a:p>
        </p:txBody>
      </p:sp>
      <p:sp>
        <p:nvSpPr>
          <p:cNvPr id="9" name="Text 7"/>
          <p:cNvSpPr/>
          <p:nvPr/>
        </p:nvSpPr>
        <p:spPr>
          <a:xfrm>
            <a:off x="640080" y="224028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sql_parser</a:t>
            </a:r>
            <a:endParaRPr lang="en-US" sz="1150" dirty="0"/>
          </a:p>
        </p:txBody>
      </p:sp>
      <p:sp>
        <p:nvSpPr>
          <p:cNvPr id="10" name="Text 8"/>
          <p:cNvSpPr/>
          <p:nvPr/>
        </p:nvSpPr>
        <p:spPr>
          <a:xfrm>
            <a:off x="640080" y="251460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Extract &lt;sql_query&gt; + &lt;reasoning&gt; blocks from Coder output</a:t>
            </a:r>
            <a:endParaRPr lang="en-US" sz="1200" dirty="0"/>
          </a:p>
        </p:txBody>
      </p:sp>
      <p:sp>
        <p:nvSpPr>
          <p:cNvPr id="11" name="Shape 9"/>
          <p:cNvSpPr/>
          <p:nvPr/>
        </p:nvSpPr>
        <p:spPr>
          <a:xfrm>
            <a:off x="4251960" y="1965960"/>
            <a:ext cx="3657600" cy="868680"/>
          </a:xfrm>
          <a:prstGeom prst="rect">
            <a:avLst/>
          </a:prstGeom>
          <a:solidFill>
            <a:srgbClr val="FFFFFF"/>
          </a:solidFill>
          <a:ln w="9525">
            <a:solidFill>
              <a:srgbClr val="E2E8F0"/>
            </a:solidFill>
            <a:prstDash val="solid"/>
          </a:ln>
        </p:spPr>
        <p:txBody>
          <a:bodyPr/>
          <a:lstStyle/>
          <a:p>
            <a:endParaRPr lang="en-US"/>
          </a:p>
        </p:txBody>
      </p:sp>
      <p:sp>
        <p:nvSpPr>
          <p:cNvPr id="12" name="Shape 10"/>
          <p:cNvSpPr/>
          <p:nvPr/>
        </p:nvSpPr>
        <p:spPr>
          <a:xfrm>
            <a:off x="4251960" y="1965960"/>
            <a:ext cx="73152" cy="868680"/>
          </a:xfrm>
          <a:prstGeom prst="rect">
            <a:avLst/>
          </a:prstGeom>
          <a:solidFill>
            <a:srgbClr val="B45309"/>
          </a:solidFill>
          <a:ln w="12700">
            <a:solidFill>
              <a:srgbClr val="B45309"/>
            </a:solidFill>
            <a:prstDash val="solid"/>
          </a:ln>
        </p:spPr>
        <p:txBody>
          <a:bodyPr/>
          <a:lstStyle/>
          <a:p>
            <a:endParaRPr lang="en-US"/>
          </a:p>
        </p:txBody>
      </p:sp>
      <p:sp>
        <p:nvSpPr>
          <p:cNvPr id="13" name="Text 11"/>
          <p:cNvSpPr/>
          <p:nvPr/>
        </p:nvSpPr>
        <p:spPr>
          <a:xfrm>
            <a:off x="4434840" y="2057400"/>
            <a:ext cx="3383280" cy="201168"/>
          </a:xfrm>
          <a:prstGeom prst="rect">
            <a:avLst/>
          </a:prstGeom>
          <a:noFill/>
          <a:ln/>
        </p:spPr>
        <p:txBody>
          <a:bodyPr wrap="square" lIns="0" tIns="0" rIns="0" bIns="0" rtlCol="0" anchor="ctr"/>
          <a:lstStyle/>
          <a:p>
            <a:pPr marL="0" indent="0">
              <a:buNone/>
            </a:pPr>
            <a:r>
              <a:rPr lang="en-US" sz="1400" b="1" kern="0" spc="200" dirty="0">
                <a:solidFill>
                  <a:srgbClr val="B45309"/>
                </a:solidFill>
                <a:latin typeface="Calibri" pitchFamily="34" charset="0"/>
                <a:ea typeface="Calibri" pitchFamily="34" charset="-122"/>
                <a:cs typeface="Calibri" pitchFamily="34" charset="-120"/>
              </a:rPr>
              <a:t>SQL</a:t>
            </a:r>
            <a:endParaRPr lang="en-US" sz="1400" dirty="0"/>
          </a:p>
        </p:txBody>
      </p:sp>
      <p:sp>
        <p:nvSpPr>
          <p:cNvPr id="14" name="Text 12"/>
          <p:cNvSpPr/>
          <p:nvPr/>
        </p:nvSpPr>
        <p:spPr>
          <a:xfrm>
            <a:off x="4434840" y="224028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sql_safety_guard</a:t>
            </a:r>
            <a:endParaRPr lang="en-US" sz="1150" dirty="0"/>
          </a:p>
        </p:txBody>
      </p:sp>
      <p:sp>
        <p:nvSpPr>
          <p:cNvPr id="15" name="Text 13"/>
          <p:cNvSpPr/>
          <p:nvPr/>
        </p:nvSpPr>
        <p:spPr>
          <a:xfrm>
            <a:off x="4434840" y="251460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SELECT-only + banned-keyword + multi-statement check</a:t>
            </a:r>
            <a:endParaRPr lang="en-US" sz="1200" dirty="0"/>
          </a:p>
        </p:txBody>
      </p:sp>
      <p:sp>
        <p:nvSpPr>
          <p:cNvPr id="16" name="Shape 14"/>
          <p:cNvSpPr/>
          <p:nvPr/>
        </p:nvSpPr>
        <p:spPr>
          <a:xfrm>
            <a:off x="8046720" y="1965960"/>
            <a:ext cx="3657600" cy="868680"/>
          </a:xfrm>
          <a:prstGeom prst="rect">
            <a:avLst/>
          </a:prstGeom>
          <a:solidFill>
            <a:srgbClr val="FFFFFF"/>
          </a:solidFill>
          <a:ln w="9525">
            <a:solidFill>
              <a:srgbClr val="E2E8F0"/>
            </a:solidFill>
            <a:prstDash val="solid"/>
          </a:ln>
        </p:spPr>
        <p:txBody>
          <a:bodyPr/>
          <a:lstStyle/>
          <a:p>
            <a:endParaRPr lang="en-US"/>
          </a:p>
        </p:txBody>
      </p:sp>
      <p:sp>
        <p:nvSpPr>
          <p:cNvPr id="17" name="Shape 15"/>
          <p:cNvSpPr/>
          <p:nvPr/>
        </p:nvSpPr>
        <p:spPr>
          <a:xfrm>
            <a:off x="8046720" y="1965960"/>
            <a:ext cx="73152" cy="868680"/>
          </a:xfrm>
          <a:prstGeom prst="rect">
            <a:avLst/>
          </a:prstGeom>
          <a:solidFill>
            <a:srgbClr val="B45309"/>
          </a:solidFill>
          <a:ln w="12700">
            <a:solidFill>
              <a:srgbClr val="B45309"/>
            </a:solidFill>
            <a:prstDash val="solid"/>
          </a:ln>
        </p:spPr>
        <p:txBody>
          <a:bodyPr/>
          <a:lstStyle/>
          <a:p>
            <a:endParaRPr lang="en-US"/>
          </a:p>
        </p:txBody>
      </p:sp>
      <p:sp>
        <p:nvSpPr>
          <p:cNvPr id="18" name="Text 16"/>
          <p:cNvSpPr/>
          <p:nvPr/>
        </p:nvSpPr>
        <p:spPr>
          <a:xfrm>
            <a:off x="8229600" y="2057400"/>
            <a:ext cx="3383280" cy="201168"/>
          </a:xfrm>
          <a:prstGeom prst="rect">
            <a:avLst/>
          </a:prstGeom>
          <a:noFill/>
          <a:ln/>
        </p:spPr>
        <p:txBody>
          <a:bodyPr wrap="square" lIns="0" tIns="0" rIns="0" bIns="0" rtlCol="0" anchor="ctr"/>
          <a:lstStyle/>
          <a:p>
            <a:pPr marL="0" indent="0">
              <a:buNone/>
            </a:pPr>
            <a:r>
              <a:rPr lang="en-US" sz="1400" b="1" kern="0" spc="200" dirty="0">
                <a:solidFill>
                  <a:srgbClr val="B45309"/>
                </a:solidFill>
                <a:latin typeface="Calibri" pitchFamily="34" charset="0"/>
                <a:ea typeface="Calibri" pitchFamily="34" charset="-122"/>
                <a:cs typeface="Calibri" pitchFamily="34" charset="-120"/>
              </a:rPr>
              <a:t>SQL</a:t>
            </a:r>
            <a:endParaRPr lang="en-US" sz="1400" dirty="0"/>
          </a:p>
        </p:txBody>
      </p:sp>
      <p:sp>
        <p:nvSpPr>
          <p:cNvPr id="19" name="Text 17"/>
          <p:cNvSpPr/>
          <p:nvPr/>
        </p:nvSpPr>
        <p:spPr>
          <a:xfrm>
            <a:off x="8229600" y="224028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sql_executor</a:t>
            </a:r>
            <a:endParaRPr lang="en-US" sz="1150" dirty="0"/>
          </a:p>
        </p:txBody>
      </p:sp>
      <p:sp>
        <p:nvSpPr>
          <p:cNvPr id="20" name="Text 18"/>
          <p:cNvSpPr/>
          <p:nvPr/>
        </p:nvSpPr>
        <p:spPr>
          <a:xfrm>
            <a:off x="8229600" y="251460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Run SQL against MySQL · cap 500 rows</a:t>
            </a:r>
            <a:endParaRPr lang="en-US" sz="1200" dirty="0"/>
          </a:p>
        </p:txBody>
      </p:sp>
      <p:sp>
        <p:nvSpPr>
          <p:cNvPr id="21" name="Shape 19"/>
          <p:cNvSpPr/>
          <p:nvPr/>
        </p:nvSpPr>
        <p:spPr>
          <a:xfrm>
            <a:off x="457200" y="2971800"/>
            <a:ext cx="3657600" cy="868680"/>
          </a:xfrm>
          <a:prstGeom prst="rect">
            <a:avLst/>
          </a:prstGeom>
          <a:solidFill>
            <a:srgbClr val="FFFFFF"/>
          </a:solidFill>
          <a:ln w="9525">
            <a:solidFill>
              <a:srgbClr val="E2E8F0"/>
            </a:solidFill>
            <a:prstDash val="solid"/>
          </a:ln>
        </p:spPr>
        <p:txBody>
          <a:bodyPr/>
          <a:lstStyle/>
          <a:p>
            <a:endParaRPr lang="en-US"/>
          </a:p>
        </p:txBody>
      </p:sp>
      <p:sp>
        <p:nvSpPr>
          <p:cNvPr id="22" name="Shape 20"/>
          <p:cNvSpPr/>
          <p:nvPr/>
        </p:nvSpPr>
        <p:spPr>
          <a:xfrm>
            <a:off x="457200" y="2971800"/>
            <a:ext cx="73152" cy="868680"/>
          </a:xfrm>
          <a:prstGeom prst="rect">
            <a:avLst/>
          </a:prstGeom>
          <a:solidFill>
            <a:srgbClr val="0F766E"/>
          </a:solidFill>
          <a:ln w="12700">
            <a:solidFill>
              <a:srgbClr val="0F766E"/>
            </a:solidFill>
            <a:prstDash val="solid"/>
          </a:ln>
        </p:spPr>
        <p:txBody>
          <a:bodyPr/>
          <a:lstStyle/>
          <a:p>
            <a:endParaRPr lang="en-US"/>
          </a:p>
        </p:txBody>
      </p:sp>
      <p:sp>
        <p:nvSpPr>
          <p:cNvPr id="23" name="Text 21"/>
          <p:cNvSpPr/>
          <p:nvPr/>
        </p:nvSpPr>
        <p:spPr>
          <a:xfrm>
            <a:off x="640080" y="3063240"/>
            <a:ext cx="3383280" cy="201168"/>
          </a:xfrm>
          <a:prstGeom prst="rect">
            <a:avLst/>
          </a:prstGeom>
          <a:noFill/>
          <a:ln/>
        </p:spPr>
        <p:txBody>
          <a:bodyPr wrap="square" lIns="0" tIns="0" rIns="0" bIns="0" rtlCol="0" anchor="ctr"/>
          <a:lstStyle/>
          <a:p>
            <a:pPr marL="0" indent="0">
              <a:buNone/>
            </a:pPr>
            <a:r>
              <a:rPr lang="en-US" sz="1400" b="1" kern="0" spc="200" dirty="0">
                <a:solidFill>
                  <a:srgbClr val="0F766E"/>
                </a:solidFill>
                <a:latin typeface="Calibri" pitchFamily="34" charset="0"/>
                <a:ea typeface="Calibri" pitchFamily="34" charset="-122"/>
                <a:cs typeface="Calibri" pitchFamily="34" charset="-120"/>
              </a:rPr>
              <a:t>VIZ</a:t>
            </a:r>
            <a:endParaRPr lang="en-US" sz="1400" dirty="0"/>
          </a:p>
        </p:txBody>
      </p:sp>
      <p:sp>
        <p:nvSpPr>
          <p:cNvPr id="24" name="Text 22"/>
          <p:cNvSpPr/>
          <p:nvPr/>
        </p:nvSpPr>
        <p:spPr>
          <a:xfrm>
            <a:off x="640080" y="324612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viz_code_parser</a:t>
            </a:r>
            <a:endParaRPr lang="en-US" sz="1150" dirty="0"/>
          </a:p>
        </p:txBody>
      </p:sp>
      <p:sp>
        <p:nvSpPr>
          <p:cNvPr id="25" name="Text 23"/>
          <p:cNvSpPr/>
          <p:nvPr/>
        </p:nvSpPr>
        <p:spPr>
          <a:xfrm>
            <a:off x="640080" y="352044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Extract Python from &lt;viz_code&gt; tags</a:t>
            </a:r>
            <a:endParaRPr lang="en-US" sz="1200" dirty="0"/>
          </a:p>
        </p:txBody>
      </p:sp>
      <p:sp>
        <p:nvSpPr>
          <p:cNvPr id="26" name="Shape 24"/>
          <p:cNvSpPr/>
          <p:nvPr/>
        </p:nvSpPr>
        <p:spPr>
          <a:xfrm>
            <a:off x="4251960" y="2971800"/>
            <a:ext cx="3657600" cy="868680"/>
          </a:xfrm>
          <a:prstGeom prst="rect">
            <a:avLst/>
          </a:prstGeom>
          <a:solidFill>
            <a:srgbClr val="FFFFFF"/>
          </a:solidFill>
          <a:ln w="9525">
            <a:solidFill>
              <a:srgbClr val="E2E8F0"/>
            </a:solidFill>
            <a:prstDash val="solid"/>
          </a:ln>
        </p:spPr>
        <p:txBody>
          <a:bodyPr/>
          <a:lstStyle/>
          <a:p>
            <a:endParaRPr lang="en-US"/>
          </a:p>
        </p:txBody>
      </p:sp>
      <p:sp>
        <p:nvSpPr>
          <p:cNvPr id="27" name="Shape 25"/>
          <p:cNvSpPr/>
          <p:nvPr/>
        </p:nvSpPr>
        <p:spPr>
          <a:xfrm>
            <a:off x="4251960" y="2971800"/>
            <a:ext cx="73152" cy="868680"/>
          </a:xfrm>
          <a:prstGeom prst="rect">
            <a:avLst/>
          </a:prstGeom>
          <a:solidFill>
            <a:srgbClr val="0F766E"/>
          </a:solidFill>
          <a:ln w="12700">
            <a:solidFill>
              <a:srgbClr val="0F766E"/>
            </a:solidFill>
            <a:prstDash val="solid"/>
          </a:ln>
        </p:spPr>
        <p:txBody>
          <a:bodyPr/>
          <a:lstStyle/>
          <a:p>
            <a:endParaRPr lang="en-US"/>
          </a:p>
        </p:txBody>
      </p:sp>
      <p:sp>
        <p:nvSpPr>
          <p:cNvPr id="28" name="Text 26"/>
          <p:cNvSpPr/>
          <p:nvPr/>
        </p:nvSpPr>
        <p:spPr>
          <a:xfrm>
            <a:off x="4434840" y="3063240"/>
            <a:ext cx="3383280" cy="201168"/>
          </a:xfrm>
          <a:prstGeom prst="rect">
            <a:avLst/>
          </a:prstGeom>
          <a:noFill/>
          <a:ln/>
        </p:spPr>
        <p:txBody>
          <a:bodyPr wrap="square" lIns="0" tIns="0" rIns="0" bIns="0" rtlCol="0" anchor="ctr"/>
          <a:lstStyle/>
          <a:p>
            <a:pPr marL="0" indent="0">
              <a:buNone/>
            </a:pPr>
            <a:r>
              <a:rPr lang="en-US" sz="1400" b="1" kern="0" spc="200" dirty="0">
                <a:solidFill>
                  <a:srgbClr val="0F766E"/>
                </a:solidFill>
                <a:latin typeface="Calibri" pitchFamily="34" charset="0"/>
                <a:ea typeface="Calibri" pitchFamily="34" charset="-122"/>
                <a:cs typeface="Calibri" pitchFamily="34" charset="-120"/>
              </a:rPr>
              <a:t>VIZ</a:t>
            </a:r>
            <a:endParaRPr lang="en-US" sz="1400" dirty="0"/>
          </a:p>
        </p:txBody>
      </p:sp>
      <p:sp>
        <p:nvSpPr>
          <p:cNvPr id="29" name="Text 27"/>
          <p:cNvSpPr/>
          <p:nvPr/>
        </p:nvSpPr>
        <p:spPr>
          <a:xfrm>
            <a:off x="4434840" y="324612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viz_generator</a:t>
            </a:r>
            <a:endParaRPr lang="en-US" sz="1150" dirty="0"/>
          </a:p>
        </p:txBody>
      </p:sp>
      <p:sp>
        <p:nvSpPr>
          <p:cNvPr id="30" name="Text 28"/>
          <p:cNvSpPr/>
          <p:nvPr/>
        </p:nvSpPr>
        <p:spPr>
          <a:xfrm>
            <a:off x="4434840" y="3520440"/>
            <a:ext cx="36118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Sandboxed exec of matplotlib code · whitelist __</a:t>
            </a:r>
            <a:r>
              <a:rPr lang="en-US" sz="1200" dirty="0" err="1">
                <a:solidFill>
                  <a:srgbClr val="334155"/>
                </a:solidFill>
                <a:latin typeface="Calibri" pitchFamily="34" charset="0"/>
                <a:ea typeface="Calibri" pitchFamily="34" charset="-122"/>
                <a:cs typeface="Calibri" pitchFamily="34" charset="-120"/>
              </a:rPr>
              <a:t>builtins</a:t>
            </a:r>
            <a:endParaRPr lang="en-US" sz="1200" dirty="0"/>
          </a:p>
        </p:txBody>
      </p:sp>
      <p:sp>
        <p:nvSpPr>
          <p:cNvPr id="31" name="Shape 29"/>
          <p:cNvSpPr/>
          <p:nvPr/>
        </p:nvSpPr>
        <p:spPr>
          <a:xfrm>
            <a:off x="8046720" y="2971800"/>
            <a:ext cx="3657600" cy="868680"/>
          </a:xfrm>
          <a:prstGeom prst="rect">
            <a:avLst/>
          </a:prstGeom>
          <a:solidFill>
            <a:srgbClr val="FFFFFF"/>
          </a:solidFill>
          <a:ln w="9525">
            <a:solidFill>
              <a:srgbClr val="E2E8F0"/>
            </a:solidFill>
            <a:prstDash val="solid"/>
          </a:ln>
        </p:spPr>
        <p:txBody>
          <a:bodyPr/>
          <a:lstStyle/>
          <a:p>
            <a:endParaRPr lang="en-US"/>
          </a:p>
        </p:txBody>
      </p:sp>
      <p:sp>
        <p:nvSpPr>
          <p:cNvPr id="32" name="Shape 30"/>
          <p:cNvSpPr/>
          <p:nvPr/>
        </p:nvSpPr>
        <p:spPr>
          <a:xfrm>
            <a:off x="8046720" y="2971800"/>
            <a:ext cx="73152" cy="868680"/>
          </a:xfrm>
          <a:prstGeom prst="rect">
            <a:avLst/>
          </a:prstGeom>
          <a:solidFill>
            <a:srgbClr val="0F766E"/>
          </a:solidFill>
          <a:ln w="12700">
            <a:solidFill>
              <a:srgbClr val="0F766E"/>
            </a:solidFill>
            <a:prstDash val="solid"/>
          </a:ln>
        </p:spPr>
        <p:txBody>
          <a:bodyPr/>
          <a:lstStyle/>
          <a:p>
            <a:endParaRPr lang="en-US"/>
          </a:p>
        </p:txBody>
      </p:sp>
      <p:sp>
        <p:nvSpPr>
          <p:cNvPr id="33" name="Text 31"/>
          <p:cNvSpPr/>
          <p:nvPr/>
        </p:nvSpPr>
        <p:spPr>
          <a:xfrm>
            <a:off x="8229600" y="3063240"/>
            <a:ext cx="3383280" cy="201168"/>
          </a:xfrm>
          <a:prstGeom prst="rect">
            <a:avLst/>
          </a:prstGeom>
          <a:noFill/>
          <a:ln/>
        </p:spPr>
        <p:txBody>
          <a:bodyPr wrap="square" lIns="0" tIns="0" rIns="0" bIns="0" rtlCol="0" anchor="ctr"/>
          <a:lstStyle/>
          <a:p>
            <a:pPr marL="0" indent="0">
              <a:buNone/>
            </a:pPr>
            <a:r>
              <a:rPr lang="en-US" sz="1400" b="1" kern="0" spc="200" dirty="0">
                <a:solidFill>
                  <a:srgbClr val="0F766E"/>
                </a:solidFill>
                <a:latin typeface="Calibri" pitchFamily="34" charset="0"/>
                <a:ea typeface="Calibri" pitchFamily="34" charset="-122"/>
                <a:cs typeface="Calibri" pitchFamily="34" charset="-120"/>
              </a:rPr>
              <a:t>VIZ</a:t>
            </a:r>
            <a:endParaRPr lang="en-US" sz="1400" dirty="0"/>
          </a:p>
        </p:txBody>
      </p:sp>
      <p:sp>
        <p:nvSpPr>
          <p:cNvPr id="34" name="Text 32"/>
          <p:cNvSpPr/>
          <p:nvPr/>
        </p:nvSpPr>
        <p:spPr>
          <a:xfrm>
            <a:off x="8229600" y="324612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png_to_base64</a:t>
            </a:r>
            <a:endParaRPr lang="en-US" sz="1150" dirty="0"/>
          </a:p>
        </p:txBody>
      </p:sp>
      <p:sp>
        <p:nvSpPr>
          <p:cNvPr id="35" name="Text 33"/>
          <p:cNvSpPr/>
          <p:nvPr/>
        </p:nvSpPr>
        <p:spPr>
          <a:xfrm>
            <a:off x="8229600" y="352044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Encode rendered PNG bytes for multimodal call</a:t>
            </a:r>
            <a:endParaRPr lang="en-US" sz="1200" dirty="0"/>
          </a:p>
        </p:txBody>
      </p:sp>
      <p:sp>
        <p:nvSpPr>
          <p:cNvPr id="36" name="Shape 34"/>
          <p:cNvSpPr/>
          <p:nvPr/>
        </p:nvSpPr>
        <p:spPr>
          <a:xfrm>
            <a:off x="457200" y="3977640"/>
            <a:ext cx="3657600" cy="868680"/>
          </a:xfrm>
          <a:prstGeom prst="rect">
            <a:avLst/>
          </a:prstGeom>
          <a:solidFill>
            <a:srgbClr val="FFFFFF"/>
          </a:solidFill>
          <a:ln w="9525">
            <a:solidFill>
              <a:srgbClr val="E2E8F0"/>
            </a:solidFill>
            <a:prstDash val="solid"/>
          </a:ln>
        </p:spPr>
        <p:txBody>
          <a:bodyPr/>
          <a:lstStyle/>
          <a:p>
            <a:endParaRPr lang="en-US"/>
          </a:p>
        </p:txBody>
      </p:sp>
      <p:sp>
        <p:nvSpPr>
          <p:cNvPr id="37" name="Shape 35"/>
          <p:cNvSpPr/>
          <p:nvPr/>
        </p:nvSpPr>
        <p:spPr>
          <a:xfrm>
            <a:off x="457200" y="3977640"/>
            <a:ext cx="73152" cy="868680"/>
          </a:xfrm>
          <a:prstGeom prst="rect">
            <a:avLst/>
          </a:prstGeom>
          <a:solidFill>
            <a:srgbClr val="64748B"/>
          </a:solidFill>
          <a:ln w="12700">
            <a:solidFill>
              <a:srgbClr val="64748B"/>
            </a:solidFill>
            <a:prstDash val="solid"/>
          </a:ln>
        </p:spPr>
        <p:txBody>
          <a:bodyPr/>
          <a:lstStyle/>
          <a:p>
            <a:endParaRPr lang="en-US"/>
          </a:p>
        </p:txBody>
      </p:sp>
      <p:sp>
        <p:nvSpPr>
          <p:cNvPr id="38" name="Text 36"/>
          <p:cNvSpPr/>
          <p:nvPr/>
        </p:nvSpPr>
        <p:spPr>
          <a:xfrm>
            <a:off x="640080" y="4069080"/>
            <a:ext cx="3383280" cy="201168"/>
          </a:xfrm>
          <a:prstGeom prst="rect">
            <a:avLst/>
          </a:prstGeom>
          <a:noFill/>
          <a:ln/>
        </p:spPr>
        <p:txBody>
          <a:bodyPr wrap="square" lIns="0" tIns="0" rIns="0" bIns="0" rtlCol="0" anchor="ctr"/>
          <a:lstStyle/>
          <a:p>
            <a:pPr marL="0" indent="0">
              <a:buNone/>
            </a:pPr>
            <a:r>
              <a:rPr lang="en-US" sz="1400" b="1" kern="0" spc="200" dirty="0">
                <a:solidFill>
                  <a:srgbClr val="64748B"/>
                </a:solidFill>
                <a:latin typeface="Calibri" pitchFamily="34" charset="0"/>
                <a:ea typeface="Calibri" pitchFamily="34" charset="-122"/>
                <a:cs typeface="Calibri" pitchFamily="34" charset="-120"/>
              </a:rPr>
              <a:t>I/O</a:t>
            </a:r>
            <a:endParaRPr lang="en-US" sz="1400" dirty="0"/>
          </a:p>
        </p:txBody>
      </p:sp>
      <p:sp>
        <p:nvSpPr>
          <p:cNvPr id="39" name="Text 37"/>
          <p:cNvSpPr/>
          <p:nvPr/>
        </p:nvSpPr>
        <p:spPr>
          <a:xfrm>
            <a:off x="640080" y="425196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to_excel</a:t>
            </a:r>
            <a:endParaRPr lang="en-US" sz="1150" dirty="0"/>
          </a:p>
        </p:txBody>
      </p:sp>
      <p:sp>
        <p:nvSpPr>
          <p:cNvPr id="40" name="Text 38"/>
          <p:cNvSpPr/>
          <p:nvPr/>
        </p:nvSpPr>
        <p:spPr>
          <a:xfrm>
            <a:off x="640080" y="452628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openpyxl-backed .xlsx bytes for download affordance</a:t>
            </a:r>
            <a:endParaRPr lang="en-US" sz="1200" dirty="0"/>
          </a:p>
        </p:txBody>
      </p:sp>
      <p:sp>
        <p:nvSpPr>
          <p:cNvPr id="41" name="Shape 39"/>
          <p:cNvSpPr/>
          <p:nvPr/>
        </p:nvSpPr>
        <p:spPr>
          <a:xfrm>
            <a:off x="4251960" y="3977640"/>
            <a:ext cx="3657600" cy="868680"/>
          </a:xfrm>
          <a:prstGeom prst="rect">
            <a:avLst/>
          </a:prstGeom>
          <a:solidFill>
            <a:srgbClr val="FFFFFF"/>
          </a:solidFill>
          <a:ln w="9525">
            <a:solidFill>
              <a:srgbClr val="E2E8F0"/>
            </a:solidFill>
            <a:prstDash val="solid"/>
          </a:ln>
        </p:spPr>
        <p:txBody>
          <a:bodyPr/>
          <a:lstStyle/>
          <a:p>
            <a:endParaRPr lang="en-US"/>
          </a:p>
        </p:txBody>
      </p:sp>
      <p:sp>
        <p:nvSpPr>
          <p:cNvPr id="42" name="Shape 40"/>
          <p:cNvSpPr/>
          <p:nvPr/>
        </p:nvSpPr>
        <p:spPr>
          <a:xfrm>
            <a:off x="4251960" y="3977640"/>
            <a:ext cx="73152" cy="868680"/>
          </a:xfrm>
          <a:prstGeom prst="rect">
            <a:avLst/>
          </a:prstGeom>
          <a:solidFill>
            <a:srgbClr val="B91C1C"/>
          </a:solidFill>
          <a:ln w="12700">
            <a:solidFill>
              <a:srgbClr val="B91C1C"/>
            </a:solidFill>
            <a:prstDash val="solid"/>
          </a:ln>
        </p:spPr>
        <p:txBody>
          <a:bodyPr/>
          <a:lstStyle/>
          <a:p>
            <a:endParaRPr lang="en-US"/>
          </a:p>
        </p:txBody>
      </p:sp>
      <p:sp>
        <p:nvSpPr>
          <p:cNvPr id="43" name="Text 41"/>
          <p:cNvSpPr/>
          <p:nvPr/>
        </p:nvSpPr>
        <p:spPr>
          <a:xfrm>
            <a:off x="4434840" y="4069080"/>
            <a:ext cx="3383280" cy="201168"/>
          </a:xfrm>
          <a:prstGeom prst="rect">
            <a:avLst/>
          </a:prstGeom>
          <a:noFill/>
          <a:ln/>
        </p:spPr>
        <p:txBody>
          <a:bodyPr wrap="square" lIns="0" tIns="0" rIns="0" bIns="0" rtlCol="0" anchor="ctr"/>
          <a:lstStyle/>
          <a:p>
            <a:pPr marL="0" indent="0">
              <a:buNone/>
            </a:pPr>
            <a:r>
              <a:rPr lang="en-US" sz="1400" b="1" kern="0" spc="200" dirty="0">
                <a:solidFill>
                  <a:srgbClr val="B91C1C"/>
                </a:solidFill>
                <a:latin typeface="Calibri" pitchFamily="34" charset="0"/>
                <a:ea typeface="Calibri" pitchFamily="34" charset="-122"/>
                <a:cs typeface="Calibri" pitchFamily="34" charset="-120"/>
              </a:rPr>
              <a:t>VERIFY</a:t>
            </a:r>
            <a:endParaRPr lang="en-US" sz="1400" dirty="0"/>
          </a:p>
        </p:txBody>
      </p:sp>
      <p:sp>
        <p:nvSpPr>
          <p:cNvPr id="44" name="Text 42"/>
          <p:cNvSpPr/>
          <p:nvPr/>
        </p:nvSpPr>
        <p:spPr>
          <a:xfrm>
            <a:off x="4434840" y="425196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groundedness_check</a:t>
            </a:r>
            <a:endParaRPr lang="en-US" sz="1150" dirty="0"/>
          </a:p>
        </p:txBody>
      </p:sp>
      <p:sp>
        <p:nvSpPr>
          <p:cNvPr id="45" name="Text 43"/>
          <p:cNvSpPr/>
          <p:nvPr/>
        </p:nvSpPr>
        <p:spPr>
          <a:xfrm>
            <a:off x="4434840" y="452628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Regex-based numeric verification · HARD BLOCK</a:t>
            </a:r>
            <a:endParaRPr lang="en-US" sz="1200" dirty="0"/>
          </a:p>
        </p:txBody>
      </p:sp>
      <p:sp>
        <p:nvSpPr>
          <p:cNvPr id="46" name="Shape 44"/>
          <p:cNvSpPr/>
          <p:nvPr/>
        </p:nvSpPr>
        <p:spPr>
          <a:xfrm>
            <a:off x="8046720" y="3977640"/>
            <a:ext cx="3657600" cy="868680"/>
          </a:xfrm>
          <a:prstGeom prst="rect">
            <a:avLst/>
          </a:prstGeom>
          <a:solidFill>
            <a:srgbClr val="FFFFFF"/>
          </a:solidFill>
          <a:ln w="9525">
            <a:solidFill>
              <a:srgbClr val="E2E8F0"/>
            </a:solidFill>
            <a:prstDash val="solid"/>
          </a:ln>
        </p:spPr>
        <p:txBody>
          <a:bodyPr/>
          <a:lstStyle/>
          <a:p>
            <a:endParaRPr lang="en-US"/>
          </a:p>
        </p:txBody>
      </p:sp>
      <p:sp>
        <p:nvSpPr>
          <p:cNvPr id="47" name="Shape 45"/>
          <p:cNvSpPr/>
          <p:nvPr/>
        </p:nvSpPr>
        <p:spPr>
          <a:xfrm>
            <a:off x="8046720" y="3977640"/>
            <a:ext cx="73152" cy="868680"/>
          </a:xfrm>
          <a:prstGeom prst="rect">
            <a:avLst/>
          </a:prstGeom>
          <a:solidFill>
            <a:srgbClr val="B91C1C"/>
          </a:solidFill>
          <a:ln w="12700">
            <a:solidFill>
              <a:srgbClr val="B91C1C"/>
            </a:solidFill>
            <a:prstDash val="solid"/>
          </a:ln>
        </p:spPr>
        <p:txBody>
          <a:bodyPr/>
          <a:lstStyle/>
          <a:p>
            <a:endParaRPr lang="en-US"/>
          </a:p>
        </p:txBody>
      </p:sp>
      <p:sp>
        <p:nvSpPr>
          <p:cNvPr id="48" name="Text 46"/>
          <p:cNvSpPr/>
          <p:nvPr/>
        </p:nvSpPr>
        <p:spPr>
          <a:xfrm>
            <a:off x="8229600" y="4069080"/>
            <a:ext cx="3383280" cy="201168"/>
          </a:xfrm>
          <a:prstGeom prst="rect">
            <a:avLst/>
          </a:prstGeom>
          <a:noFill/>
          <a:ln/>
        </p:spPr>
        <p:txBody>
          <a:bodyPr wrap="square" lIns="0" tIns="0" rIns="0" bIns="0" rtlCol="0" anchor="ctr"/>
          <a:lstStyle/>
          <a:p>
            <a:pPr marL="0" indent="0">
              <a:buNone/>
            </a:pPr>
            <a:r>
              <a:rPr lang="en-US" sz="1400" b="1" kern="0" spc="200" dirty="0">
                <a:solidFill>
                  <a:srgbClr val="B91C1C"/>
                </a:solidFill>
                <a:latin typeface="Calibri" pitchFamily="34" charset="0"/>
                <a:ea typeface="Calibri" pitchFamily="34" charset="-122"/>
                <a:cs typeface="Calibri" pitchFamily="34" charset="-120"/>
              </a:rPr>
              <a:t>VERIFY</a:t>
            </a:r>
            <a:endParaRPr lang="en-US" sz="1400" dirty="0"/>
          </a:p>
        </p:txBody>
      </p:sp>
      <p:sp>
        <p:nvSpPr>
          <p:cNvPr id="49" name="Text 47"/>
          <p:cNvSpPr/>
          <p:nvPr/>
        </p:nvSpPr>
        <p:spPr>
          <a:xfrm>
            <a:off x="8229600" y="425196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safe_derivations_summary</a:t>
            </a:r>
            <a:endParaRPr lang="en-US" sz="1150" dirty="0"/>
          </a:p>
        </p:txBody>
      </p:sp>
      <p:sp>
        <p:nvSpPr>
          <p:cNvPr id="50" name="Text 48"/>
          <p:cNvSpPr/>
          <p:nvPr/>
        </p:nvSpPr>
        <p:spPr>
          <a:xfrm>
            <a:off x="8229600" y="452628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Pre-compute the Writer's safe-values list</a:t>
            </a:r>
            <a:endParaRPr lang="en-US" sz="1200" dirty="0"/>
          </a:p>
        </p:txBody>
      </p:sp>
      <p:sp>
        <p:nvSpPr>
          <p:cNvPr id="51" name="Shape 49"/>
          <p:cNvSpPr/>
          <p:nvPr/>
        </p:nvSpPr>
        <p:spPr>
          <a:xfrm>
            <a:off x="457200" y="4983480"/>
            <a:ext cx="3657600" cy="868680"/>
          </a:xfrm>
          <a:prstGeom prst="rect">
            <a:avLst/>
          </a:prstGeom>
          <a:solidFill>
            <a:srgbClr val="FFFFFF"/>
          </a:solidFill>
          <a:ln w="9525">
            <a:solidFill>
              <a:srgbClr val="E2E8F0"/>
            </a:solidFill>
            <a:prstDash val="solid"/>
          </a:ln>
        </p:spPr>
        <p:txBody>
          <a:bodyPr/>
          <a:lstStyle/>
          <a:p>
            <a:endParaRPr lang="en-US"/>
          </a:p>
        </p:txBody>
      </p:sp>
      <p:sp>
        <p:nvSpPr>
          <p:cNvPr id="52" name="Shape 50"/>
          <p:cNvSpPr/>
          <p:nvPr/>
        </p:nvSpPr>
        <p:spPr>
          <a:xfrm>
            <a:off x="457200" y="4983480"/>
            <a:ext cx="73152" cy="868680"/>
          </a:xfrm>
          <a:prstGeom prst="rect">
            <a:avLst/>
          </a:prstGeom>
          <a:solidFill>
            <a:srgbClr val="1E293B"/>
          </a:solidFill>
          <a:ln w="12700">
            <a:solidFill>
              <a:srgbClr val="1E293B"/>
            </a:solidFill>
            <a:prstDash val="solid"/>
          </a:ln>
        </p:spPr>
        <p:txBody>
          <a:bodyPr/>
          <a:lstStyle/>
          <a:p>
            <a:endParaRPr lang="en-US"/>
          </a:p>
        </p:txBody>
      </p:sp>
      <p:sp>
        <p:nvSpPr>
          <p:cNvPr id="53" name="Text 51"/>
          <p:cNvSpPr/>
          <p:nvPr/>
        </p:nvSpPr>
        <p:spPr>
          <a:xfrm>
            <a:off x="640080" y="5074920"/>
            <a:ext cx="3383280" cy="201168"/>
          </a:xfrm>
          <a:prstGeom prst="rect">
            <a:avLst/>
          </a:prstGeom>
          <a:noFill/>
          <a:ln/>
        </p:spPr>
        <p:txBody>
          <a:bodyPr wrap="square" lIns="0" tIns="0" rIns="0" bIns="0" rtlCol="0" anchor="ctr"/>
          <a:lstStyle/>
          <a:p>
            <a:pPr marL="0" indent="0">
              <a:buNone/>
            </a:pPr>
            <a:r>
              <a:rPr lang="en-US" sz="1400" b="1" kern="0" spc="200" dirty="0">
                <a:solidFill>
                  <a:srgbClr val="1E293B"/>
                </a:solidFill>
                <a:latin typeface="Calibri" pitchFamily="34" charset="0"/>
                <a:ea typeface="Calibri" pitchFamily="34" charset="-122"/>
                <a:cs typeface="Calibri" pitchFamily="34" charset="-120"/>
              </a:rPr>
              <a:t>OBS</a:t>
            </a:r>
            <a:endParaRPr lang="en-US" sz="1400" dirty="0"/>
          </a:p>
        </p:txBody>
      </p:sp>
      <p:sp>
        <p:nvSpPr>
          <p:cNvPr id="54" name="Text 52"/>
          <p:cNvSpPr/>
          <p:nvPr/>
        </p:nvSpPr>
        <p:spPr>
          <a:xfrm>
            <a:off x="640080" y="525780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log_turn  /  ensure_table</a:t>
            </a:r>
            <a:endParaRPr lang="en-US" sz="1150" dirty="0"/>
          </a:p>
        </p:txBody>
      </p:sp>
      <p:sp>
        <p:nvSpPr>
          <p:cNvPr id="55" name="Text 53"/>
          <p:cNvSpPr/>
          <p:nvPr/>
        </p:nvSpPr>
        <p:spPr>
          <a:xfrm>
            <a:off x="640080" y="553212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Persist one row to chat_trace · idempotent schema</a:t>
            </a:r>
            <a:endParaRPr lang="en-US" sz="1200" dirty="0"/>
          </a:p>
        </p:txBody>
      </p:sp>
      <p:sp>
        <p:nvSpPr>
          <p:cNvPr id="56" name="Shape 54"/>
          <p:cNvSpPr/>
          <p:nvPr/>
        </p:nvSpPr>
        <p:spPr>
          <a:xfrm>
            <a:off x="4251960" y="4983480"/>
            <a:ext cx="3657600" cy="868680"/>
          </a:xfrm>
          <a:prstGeom prst="rect">
            <a:avLst/>
          </a:prstGeom>
          <a:solidFill>
            <a:srgbClr val="FFFFFF"/>
          </a:solidFill>
          <a:ln w="9525">
            <a:solidFill>
              <a:srgbClr val="E2E8F0"/>
            </a:solidFill>
            <a:prstDash val="solid"/>
          </a:ln>
        </p:spPr>
        <p:txBody>
          <a:bodyPr/>
          <a:lstStyle/>
          <a:p>
            <a:endParaRPr lang="en-US"/>
          </a:p>
        </p:txBody>
      </p:sp>
      <p:sp>
        <p:nvSpPr>
          <p:cNvPr id="57" name="Shape 55"/>
          <p:cNvSpPr/>
          <p:nvPr/>
        </p:nvSpPr>
        <p:spPr>
          <a:xfrm>
            <a:off x="4251960" y="4983480"/>
            <a:ext cx="73152" cy="868680"/>
          </a:xfrm>
          <a:prstGeom prst="rect">
            <a:avLst/>
          </a:prstGeom>
          <a:solidFill>
            <a:srgbClr val="64748B"/>
          </a:solidFill>
          <a:ln w="12700">
            <a:solidFill>
              <a:srgbClr val="64748B"/>
            </a:solidFill>
            <a:prstDash val="solid"/>
          </a:ln>
        </p:spPr>
        <p:txBody>
          <a:bodyPr/>
          <a:lstStyle/>
          <a:p>
            <a:endParaRPr lang="en-US"/>
          </a:p>
        </p:txBody>
      </p:sp>
      <p:sp>
        <p:nvSpPr>
          <p:cNvPr id="58" name="Text 56"/>
          <p:cNvSpPr/>
          <p:nvPr/>
        </p:nvSpPr>
        <p:spPr>
          <a:xfrm>
            <a:off x="4434840" y="5074920"/>
            <a:ext cx="3383280" cy="201168"/>
          </a:xfrm>
          <a:prstGeom prst="rect">
            <a:avLst/>
          </a:prstGeom>
          <a:noFill/>
          <a:ln/>
        </p:spPr>
        <p:txBody>
          <a:bodyPr wrap="square" lIns="0" tIns="0" rIns="0" bIns="0" rtlCol="0" anchor="ctr"/>
          <a:lstStyle/>
          <a:p>
            <a:pPr marL="0" indent="0">
              <a:buNone/>
            </a:pPr>
            <a:r>
              <a:rPr lang="en-US" sz="1400" b="1" kern="0" spc="200" dirty="0">
                <a:solidFill>
                  <a:srgbClr val="64748B"/>
                </a:solidFill>
                <a:latin typeface="Calibri" pitchFamily="34" charset="0"/>
                <a:ea typeface="Calibri" pitchFamily="34" charset="-122"/>
                <a:cs typeface="Calibri" pitchFamily="34" charset="-120"/>
              </a:rPr>
              <a:t>META</a:t>
            </a:r>
            <a:endParaRPr lang="en-US" sz="1400" dirty="0"/>
          </a:p>
        </p:txBody>
      </p:sp>
      <p:sp>
        <p:nvSpPr>
          <p:cNvPr id="59" name="Text 57"/>
          <p:cNvSpPr/>
          <p:nvPr/>
        </p:nvSpPr>
        <p:spPr>
          <a:xfrm>
            <a:off x="4434840" y="5257800"/>
            <a:ext cx="3383280" cy="274320"/>
          </a:xfrm>
          <a:prstGeom prst="rect">
            <a:avLst/>
          </a:prstGeom>
          <a:noFill/>
          <a:ln/>
        </p:spPr>
        <p:txBody>
          <a:bodyPr wrap="square" lIns="0" tIns="0" rIns="0" bIns="0" rtlCol="0" anchor="ctr"/>
          <a:lstStyle/>
          <a:p>
            <a:pPr marL="0" indent="0">
              <a:buNone/>
            </a:pPr>
            <a:r>
              <a:rPr lang="en-US" sz="1150" b="1" dirty="0">
                <a:solidFill>
                  <a:srgbClr val="0F172A"/>
                </a:solidFill>
                <a:latin typeface="Consolas" pitchFamily="34" charset="0"/>
                <a:ea typeface="Consolas" pitchFamily="34" charset="-122"/>
                <a:cs typeface="Consolas" pitchFamily="34" charset="-120"/>
              </a:rPr>
              <a:t>SCHEMA_TEXT  /  get_schema_for_prompt</a:t>
            </a:r>
            <a:endParaRPr lang="en-US" sz="1150" dirty="0"/>
          </a:p>
        </p:txBody>
      </p:sp>
      <p:sp>
        <p:nvSpPr>
          <p:cNvPr id="60" name="Text 58"/>
          <p:cNvSpPr/>
          <p:nvPr/>
        </p:nvSpPr>
        <p:spPr>
          <a:xfrm>
            <a:off x="4434840" y="5532120"/>
            <a:ext cx="3383280" cy="3200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Canonical schema as a string constant</a:t>
            </a:r>
            <a:endParaRPr lang="en-US" sz="1200" dirty="0"/>
          </a:p>
        </p:txBody>
      </p:sp>
      <p:sp>
        <p:nvSpPr>
          <p:cNvPr id="61" name="Shape 59"/>
          <p:cNvSpPr/>
          <p:nvPr/>
        </p:nvSpPr>
        <p:spPr>
          <a:xfrm>
            <a:off x="457200" y="6035040"/>
            <a:ext cx="11247120" cy="502920"/>
          </a:xfrm>
          <a:prstGeom prst="rect">
            <a:avLst/>
          </a:prstGeom>
          <a:solidFill>
            <a:srgbClr val="FEF3C7"/>
          </a:solidFill>
          <a:ln w="6350">
            <a:solidFill>
              <a:srgbClr val="B45309"/>
            </a:solidFill>
            <a:prstDash val="solid"/>
          </a:ln>
        </p:spPr>
        <p:txBody>
          <a:bodyPr/>
          <a:lstStyle/>
          <a:p>
            <a:endParaRPr lang="en-US"/>
          </a:p>
        </p:txBody>
      </p:sp>
      <p:sp>
        <p:nvSpPr>
          <p:cNvPr id="62" name="Text 60"/>
          <p:cNvSpPr/>
          <p:nvPr/>
        </p:nvSpPr>
        <p:spPr>
          <a:xfrm>
            <a:off x="685800" y="6080760"/>
            <a:ext cx="10789920" cy="411480"/>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Why deterministic, not agent-driven tool-use?  </a:t>
            </a:r>
            <a:r>
              <a:rPr lang="en-US" sz="1400" dirty="0">
                <a:solidFill>
                  <a:srgbClr val="334155"/>
                </a:solidFill>
                <a:latin typeface="Calibri" pitchFamily="34" charset="0"/>
                <a:ea typeface="Calibri" pitchFamily="34" charset="-122"/>
                <a:cs typeface="Calibri" pitchFamily="34" charset="-120"/>
              </a:rPr>
              <a:t>Tools receive Python values, not raw model text.  Each tool is trivially unit-testable and free of any model-specific assumption.  This is what makes worst-case cost bounded.</a:t>
            </a:r>
            <a:endParaRPr lang="en-US" sz="1400" dirty="0"/>
          </a:p>
        </p:txBody>
      </p:sp>
      <p:sp>
        <p:nvSpPr>
          <p:cNvPr id="63" name="Text 61"/>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27</a:t>
            </a:r>
            <a:endParaRPr lang="en-US" sz="900" dirty="0"/>
          </a:p>
        </p:txBody>
      </p:sp>
      <p:sp>
        <p:nvSpPr>
          <p:cNvPr id="64" name="Text 62"/>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TEMPORAL AGENTIC WORKFLOW</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End-to-End Workflow — One SQL-Path Chat Turn</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pic>
        <p:nvPicPr>
          <p:cNvPr id="5" name="Image 0" descr="/home/claude/deck/workflow_diagram.png"/>
          <p:cNvPicPr>
            <a:picLocks noChangeAspect="1"/>
          </p:cNvPicPr>
          <p:nvPr/>
        </p:nvPicPr>
        <p:blipFill>
          <a:blip r:embed="rId3"/>
          <a:stretch>
            <a:fillRect/>
          </a:stretch>
        </p:blipFill>
        <p:spPr>
          <a:xfrm>
            <a:off x="457200" y="1417320"/>
            <a:ext cx="4520762" cy="5074920"/>
          </a:xfrm>
          <a:prstGeom prst="rect">
            <a:avLst/>
          </a:prstGeom>
        </p:spPr>
      </p:pic>
      <p:sp>
        <p:nvSpPr>
          <p:cNvPr id="6" name="Text 3"/>
          <p:cNvSpPr/>
          <p:nvPr/>
        </p:nvSpPr>
        <p:spPr>
          <a:xfrm>
            <a:off x="5252282" y="1417320"/>
            <a:ext cx="6482213"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THE FIVE NESTED LOOPS</a:t>
            </a:r>
            <a:endParaRPr lang="en-US" sz="1400" dirty="0"/>
          </a:p>
        </p:txBody>
      </p:sp>
      <p:sp>
        <p:nvSpPr>
          <p:cNvPr id="7" name="Shape 4"/>
          <p:cNvSpPr/>
          <p:nvPr/>
        </p:nvSpPr>
        <p:spPr>
          <a:xfrm>
            <a:off x="5252282" y="1828800"/>
            <a:ext cx="6482213" cy="548640"/>
          </a:xfrm>
          <a:prstGeom prst="rect">
            <a:avLst/>
          </a:prstGeom>
          <a:solidFill>
            <a:srgbClr val="F8FAFC"/>
          </a:solidFill>
          <a:ln w="9525">
            <a:solidFill>
              <a:srgbClr val="E2E8F0"/>
            </a:solidFill>
            <a:prstDash val="solid"/>
          </a:ln>
        </p:spPr>
        <p:txBody>
          <a:bodyPr/>
          <a:lstStyle/>
          <a:p>
            <a:endParaRPr lang="en-US"/>
          </a:p>
        </p:txBody>
      </p:sp>
      <p:sp>
        <p:nvSpPr>
          <p:cNvPr id="8" name="Shape 5"/>
          <p:cNvSpPr/>
          <p:nvPr/>
        </p:nvSpPr>
        <p:spPr>
          <a:xfrm>
            <a:off x="5343722" y="1920240"/>
            <a:ext cx="365760" cy="365760"/>
          </a:xfrm>
          <a:prstGeom prst="ellipse">
            <a:avLst/>
          </a:prstGeom>
          <a:solidFill>
            <a:srgbClr val="1E293B"/>
          </a:solidFill>
          <a:ln w="12700">
            <a:solidFill>
              <a:srgbClr val="333333"/>
            </a:solidFill>
            <a:prstDash val="solid"/>
          </a:ln>
        </p:spPr>
        <p:txBody>
          <a:bodyPr/>
          <a:lstStyle/>
          <a:p>
            <a:endParaRPr lang="en-US"/>
          </a:p>
        </p:txBody>
      </p:sp>
      <p:sp>
        <p:nvSpPr>
          <p:cNvPr id="9" name="Text 6"/>
          <p:cNvSpPr/>
          <p:nvPr/>
        </p:nvSpPr>
        <p:spPr>
          <a:xfrm>
            <a:off x="5343722" y="19202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0" name="Text 7"/>
          <p:cNvSpPr/>
          <p:nvPr/>
        </p:nvSpPr>
        <p:spPr>
          <a:xfrm>
            <a:off x="5755202" y="1865376"/>
            <a:ext cx="5933573" cy="25603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Inner SQL loop</a:t>
            </a:r>
            <a:endParaRPr lang="en-US" sz="1600" dirty="0"/>
          </a:p>
        </p:txBody>
      </p:sp>
      <p:sp>
        <p:nvSpPr>
          <p:cNvPr id="11" name="Text 8"/>
          <p:cNvSpPr/>
          <p:nvPr/>
        </p:nvSpPr>
        <p:spPr>
          <a:xfrm>
            <a:off x="5755202" y="2103120"/>
            <a:ext cx="5933573" cy="25603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Coder ↔ Code Reviewer ↔ sql_executor</a:t>
            </a:r>
            <a:endParaRPr lang="en-US" sz="1050" dirty="0"/>
          </a:p>
        </p:txBody>
      </p:sp>
      <p:sp>
        <p:nvSpPr>
          <p:cNvPr id="12" name="Shape 9"/>
          <p:cNvSpPr/>
          <p:nvPr/>
        </p:nvSpPr>
        <p:spPr>
          <a:xfrm>
            <a:off x="5252282" y="2468880"/>
            <a:ext cx="6482213" cy="548640"/>
          </a:xfrm>
          <a:prstGeom prst="rect">
            <a:avLst/>
          </a:prstGeom>
          <a:solidFill>
            <a:srgbClr val="F8FAFC"/>
          </a:solidFill>
          <a:ln w="9525">
            <a:solidFill>
              <a:srgbClr val="E2E8F0"/>
            </a:solidFill>
            <a:prstDash val="solid"/>
          </a:ln>
        </p:spPr>
        <p:txBody>
          <a:bodyPr/>
          <a:lstStyle/>
          <a:p>
            <a:endParaRPr lang="en-US"/>
          </a:p>
        </p:txBody>
      </p:sp>
      <p:sp>
        <p:nvSpPr>
          <p:cNvPr id="13" name="Shape 10"/>
          <p:cNvSpPr/>
          <p:nvPr/>
        </p:nvSpPr>
        <p:spPr>
          <a:xfrm>
            <a:off x="5343722" y="2560320"/>
            <a:ext cx="365760" cy="365760"/>
          </a:xfrm>
          <a:prstGeom prst="ellipse">
            <a:avLst/>
          </a:prstGeom>
          <a:solidFill>
            <a:srgbClr val="1E293B"/>
          </a:solidFill>
          <a:ln w="12700">
            <a:solidFill>
              <a:srgbClr val="333333"/>
            </a:solidFill>
            <a:prstDash val="solid"/>
          </a:ln>
        </p:spPr>
        <p:txBody>
          <a:bodyPr/>
          <a:lstStyle/>
          <a:p>
            <a:endParaRPr lang="en-US"/>
          </a:p>
        </p:txBody>
      </p:sp>
      <p:sp>
        <p:nvSpPr>
          <p:cNvPr id="14" name="Text 11"/>
          <p:cNvSpPr/>
          <p:nvPr/>
        </p:nvSpPr>
        <p:spPr>
          <a:xfrm>
            <a:off x="5343722" y="25603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5755202" y="2505456"/>
            <a:ext cx="5933573" cy="25603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Output review loop</a:t>
            </a:r>
            <a:endParaRPr lang="en-US" sz="1600" dirty="0"/>
          </a:p>
        </p:txBody>
      </p:sp>
      <p:sp>
        <p:nvSpPr>
          <p:cNvPr id="16" name="Text 13"/>
          <p:cNvSpPr/>
          <p:nvPr/>
        </p:nvSpPr>
        <p:spPr>
          <a:xfrm>
            <a:off x="5755202" y="2743200"/>
            <a:ext cx="5933573" cy="25603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Output Reviewer ↔ Coder</a:t>
            </a:r>
            <a:endParaRPr lang="en-US" sz="1050" dirty="0"/>
          </a:p>
        </p:txBody>
      </p:sp>
      <p:sp>
        <p:nvSpPr>
          <p:cNvPr id="17" name="Shape 14"/>
          <p:cNvSpPr/>
          <p:nvPr/>
        </p:nvSpPr>
        <p:spPr>
          <a:xfrm>
            <a:off x="5252282" y="3108960"/>
            <a:ext cx="6482213" cy="548640"/>
          </a:xfrm>
          <a:prstGeom prst="rect">
            <a:avLst/>
          </a:prstGeom>
          <a:solidFill>
            <a:srgbClr val="F8FAFC"/>
          </a:solidFill>
          <a:ln w="9525">
            <a:solidFill>
              <a:srgbClr val="E2E8F0"/>
            </a:solidFill>
            <a:prstDash val="solid"/>
          </a:ln>
        </p:spPr>
        <p:txBody>
          <a:bodyPr/>
          <a:lstStyle/>
          <a:p>
            <a:endParaRPr lang="en-US"/>
          </a:p>
        </p:txBody>
      </p:sp>
      <p:sp>
        <p:nvSpPr>
          <p:cNvPr id="18" name="Shape 15"/>
          <p:cNvSpPr/>
          <p:nvPr/>
        </p:nvSpPr>
        <p:spPr>
          <a:xfrm>
            <a:off x="5343722" y="3200400"/>
            <a:ext cx="365760" cy="365760"/>
          </a:xfrm>
          <a:prstGeom prst="ellipse">
            <a:avLst/>
          </a:prstGeom>
          <a:solidFill>
            <a:srgbClr val="1E293B"/>
          </a:solidFill>
          <a:ln w="12700">
            <a:solidFill>
              <a:srgbClr val="333333"/>
            </a:solidFill>
            <a:prstDash val="solid"/>
          </a:ln>
        </p:spPr>
        <p:txBody>
          <a:bodyPr/>
          <a:lstStyle/>
          <a:p>
            <a:endParaRPr lang="en-US"/>
          </a:p>
        </p:txBody>
      </p:sp>
      <p:sp>
        <p:nvSpPr>
          <p:cNvPr id="19" name="Text 16"/>
          <p:cNvSpPr/>
          <p:nvPr/>
        </p:nvSpPr>
        <p:spPr>
          <a:xfrm>
            <a:off x="5343722" y="32004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7"/>
          <p:cNvSpPr/>
          <p:nvPr/>
        </p:nvSpPr>
        <p:spPr>
          <a:xfrm>
            <a:off x="5755202" y="3145536"/>
            <a:ext cx="5933573" cy="25603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Writer grounding loop</a:t>
            </a:r>
            <a:endParaRPr lang="en-US" sz="1600" dirty="0"/>
          </a:p>
        </p:txBody>
      </p:sp>
      <p:sp>
        <p:nvSpPr>
          <p:cNvPr id="21" name="Text 18"/>
          <p:cNvSpPr/>
          <p:nvPr/>
        </p:nvSpPr>
        <p:spPr>
          <a:xfrm>
            <a:off x="5755202" y="3383280"/>
            <a:ext cx="5933573" cy="25603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Writer ↔ groundedness_check</a:t>
            </a:r>
            <a:endParaRPr lang="en-US" sz="1050" dirty="0"/>
          </a:p>
        </p:txBody>
      </p:sp>
      <p:sp>
        <p:nvSpPr>
          <p:cNvPr id="22" name="Shape 19"/>
          <p:cNvSpPr/>
          <p:nvPr/>
        </p:nvSpPr>
        <p:spPr>
          <a:xfrm>
            <a:off x="5252282" y="3749040"/>
            <a:ext cx="6482213" cy="548640"/>
          </a:xfrm>
          <a:prstGeom prst="rect">
            <a:avLst/>
          </a:prstGeom>
          <a:solidFill>
            <a:srgbClr val="F8FAFC"/>
          </a:solidFill>
          <a:ln w="9525">
            <a:solidFill>
              <a:srgbClr val="E2E8F0"/>
            </a:solidFill>
            <a:prstDash val="solid"/>
          </a:ln>
        </p:spPr>
        <p:txBody>
          <a:bodyPr/>
          <a:lstStyle/>
          <a:p>
            <a:endParaRPr lang="en-US"/>
          </a:p>
        </p:txBody>
      </p:sp>
      <p:sp>
        <p:nvSpPr>
          <p:cNvPr id="23" name="Shape 20"/>
          <p:cNvSpPr/>
          <p:nvPr/>
        </p:nvSpPr>
        <p:spPr>
          <a:xfrm>
            <a:off x="5343722" y="3840480"/>
            <a:ext cx="365760" cy="365760"/>
          </a:xfrm>
          <a:prstGeom prst="ellipse">
            <a:avLst/>
          </a:prstGeom>
          <a:solidFill>
            <a:srgbClr val="1E293B"/>
          </a:solidFill>
          <a:ln w="12700">
            <a:solidFill>
              <a:srgbClr val="333333"/>
            </a:solidFill>
            <a:prstDash val="solid"/>
          </a:ln>
        </p:spPr>
        <p:txBody>
          <a:bodyPr/>
          <a:lstStyle/>
          <a:p>
            <a:endParaRPr lang="en-US"/>
          </a:p>
        </p:txBody>
      </p:sp>
      <p:sp>
        <p:nvSpPr>
          <p:cNvPr id="24" name="Text 21"/>
          <p:cNvSpPr/>
          <p:nvPr/>
        </p:nvSpPr>
        <p:spPr>
          <a:xfrm>
            <a:off x="5343722" y="38404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2"/>
          <p:cNvSpPr/>
          <p:nvPr/>
        </p:nvSpPr>
        <p:spPr>
          <a:xfrm>
            <a:off x="5755202" y="3785616"/>
            <a:ext cx="5933573" cy="25603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Viz code loop</a:t>
            </a:r>
            <a:endParaRPr lang="en-US" sz="1600" dirty="0"/>
          </a:p>
        </p:txBody>
      </p:sp>
      <p:sp>
        <p:nvSpPr>
          <p:cNvPr id="26" name="Text 23"/>
          <p:cNvSpPr/>
          <p:nvPr/>
        </p:nvSpPr>
        <p:spPr>
          <a:xfrm>
            <a:off x="5755202" y="4023360"/>
            <a:ext cx="5933573" cy="25603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Viz Coder ↔ Viz Code Reviewer</a:t>
            </a:r>
            <a:endParaRPr lang="en-US" sz="1050" dirty="0"/>
          </a:p>
        </p:txBody>
      </p:sp>
      <p:sp>
        <p:nvSpPr>
          <p:cNvPr id="27" name="Shape 24"/>
          <p:cNvSpPr/>
          <p:nvPr/>
        </p:nvSpPr>
        <p:spPr>
          <a:xfrm>
            <a:off x="5252282" y="4389120"/>
            <a:ext cx="6482213" cy="548640"/>
          </a:xfrm>
          <a:prstGeom prst="rect">
            <a:avLst/>
          </a:prstGeom>
          <a:solidFill>
            <a:srgbClr val="F8FAFC"/>
          </a:solidFill>
          <a:ln w="9525">
            <a:solidFill>
              <a:srgbClr val="E2E8F0"/>
            </a:solidFill>
            <a:prstDash val="solid"/>
          </a:ln>
        </p:spPr>
        <p:txBody>
          <a:bodyPr/>
          <a:lstStyle/>
          <a:p>
            <a:endParaRPr lang="en-US"/>
          </a:p>
        </p:txBody>
      </p:sp>
      <p:sp>
        <p:nvSpPr>
          <p:cNvPr id="28" name="Shape 25"/>
          <p:cNvSpPr/>
          <p:nvPr/>
        </p:nvSpPr>
        <p:spPr>
          <a:xfrm>
            <a:off x="5343722" y="4480560"/>
            <a:ext cx="365760" cy="365760"/>
          </a:xfrm>
          <a:prstGeom prst="ellipse">
            <a:avLst/>
          </a:prstGeom>
          <a:solidFill>
            <a:srgbClr val="1E293B"/>
          </a:solidFill>
          <a:ln w="12700">
            <a:solidFill>
              <a:srgbClr val="333333"/>
            </a:solidFill>
            <a:prstDash val="solid"/>
          </a:ln>
        </p:spPr>
        <p:txBody>
          <a:bodyPr/>
          <a:lstStyle/>
          <a:p>
            <a:endParaRPr lang="en-US"/>
          </a:p>
        </p:txBody>
      </p:sp>
      <p:sp>
        <p:nvSpPr>
          <p:cNvPr id="29" name="Text 26"/>
          <p:cNvSpPr/>
          <p:nvPr/>
        </p:nvSpPr>
        <p:spPr>
          <a:xfrm>
            <a:off x="5343722" y="44805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Text 27"/>
          <p:cNvSpPr/>
          <p:nvPr/>
        </p:nvSpPr>
        <p:spPr>
          <a:xfrm>
            <a:off x="5755202" y="4425696"/>
            <a:ext cx="5933573" cy="256032"/>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Viz revise loop</a:t>
            </a:r>
            <a:endParaRPr lang="en-US" sz="1600" dirty="0"/>
          </a:p>
        </p:txBody>
      </p:sp>
      <p:sp>
        <p:nvSpPr>
          <p:cNvPr id="31" name="Text 28"/>
          <p:cNvSpPr/>
          <p:nvPr/>
        </p:nvSpPr>
        <p:spPr>
          <a:xfrm>
            <a:off x="5755202" y="4663440"/>
            <a:ext cx="5933573" cy="25603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Viz Reviewer (multimodal)</a:t>
            </a:r>
            <a:endParaRPr lang="en-US" sz="1050" dirty="0"/>
          </a:p>
        </p:txBody>
      </p:sp>
      <p:sp>
        <p:nvSpPr>
          <p:cNvPr id="32" name="Text 29"/>
          <p:cNvSpPr/>
          <p:nvPr/>
        </p:nvSpPr>
        <p:spPr>
          <a:xfrm>
            <a:off x="457200" y="6441579"/>
            <a:ext cx="11247120" cy="274320"/>
          </a:xfrm>
          <a:prstGeom prst="rect">
            <a:avLst/>
          </a:prstGeom>
          <a:noFill/>
          <a:ln/>
        </p:spPr>
        <p:txBody>
          <a:bodyPr wrap="square" lIns="0" tIns="0" rIns="0" bIns="0" rtlCol="0" anchor="ctr"/>
          <a:lstStyle/>
          <a:p>
            <a:pPr marL="0" indent="0" algn="ctr">
              <a:buNone/>
            </a:pPr>
            <a:r>
              <a:rPr lang="en-US" sz="1400" i="1" dirty="0">
                <a:solidFill>
                  <a:srgbClr val="64748B"/>
                </a:solidFill>
                <a:latin typeface="Calibri" pitchFamily="34" charset="0"/>
                <a:ea typeface="Calibri" pitchFamily="34" charset="-122"/>
                <a:cs typeface="Calibri" pitchFamily="34" charset="-120"/>
              </a:rPr>
              <a:t>Three loops escalate to the Supervisor on exhaustion (SQL strategy can plausibly change).  Two do not (Writer grounding → hard-block refusal; Viz pipeline → drop chart, ship text).</a:t>
            </a:r>
            <a:endParaRPr lang="en-US" sz="1400" dirty="0"/>
          </a:p>
        </p:txBody>
      </p:sp>
      <p:sp>
        <p:nvSpPr>
          <p:cNvPr id="33" name="Text 30"/>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27</a:t>
            </a:r>
            <a:endParaRPr lang="en-US" sz="900" dirty="0"/>
          </a:p>
        </p:txBody>
      </p:sp>
      <p:sp>
        <p:nvSpPr>
          <p:cNvPr id="34" name="Text 31"/>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WORST-CASE COST IS BOUNDED BY DESIGN</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Retry Budgets  &amp;  Supervisor Recovery</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Every retry budget lives as a module-level constant at the top of orchestrator.py.  No magic numbers buried in functions.</a:t>
            </a:r>
            <a:endParaRPr lang="en-US" sz="1400" dirty="0"/>
          </a:p>
        </p:txBody>
      </p:sp>
      <p:sp>
        <p:nvSpPr>
          <p:cNvPr id="6" name="Shape 4"/>
          <p:cNvSpPr/>
          <p:nvPr/>
        </p:nvSpPr>
        <p:spPr>
          <a:xfrm>
            <a:off x="457200" y="1920240"/>
            <a:ext cx="11265408" cy="365760"/>
          </a:xfrm>
          <a:prstGeom prst="rect">
            <a:avLst/>
          </a:prstGeom>
          <a:solidFill>
            <a:srgbClr val="1E293B"/>
          </a:solidFill>
          <a:ln w="12700">
            <a:solidFill>
              <a:srgbClr val="333333"/>
            </a:solidFill>
            <a:prstDash val="solid"/>
          </a:ln>
        </p:spPr>
        <p:txBody>
          <a:bodyPr/>
          <a:lstStyle/>
          <a:p>
            <a:endParaRPr lang="en-US"/>
          </a:p>
        </p:txBody>
      </p:sp>
      <p:sp>
        <p:nvSpPr>
          <p:cNvPr id="7" name="Text 5"/>
          <p:cNvSpPr/>
          <p:nvPr/>
        </p:nvSpPr>
        <p:spPr>
          <a:xfrm>
            <a:off x="594360" y="1920240"/>
            <a:ext cx="39319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Loop</a:t>
            </a:r>
            <a:endParaRPr lang="en-US" sz="1600" dirty="0"/>
          </a:p>
        </p:txBody>
      </p:sp>
      <p:sp>
        <p:nvSpPr>
          <p:cNvPr id="8" name="Text 6"/>
          <p:cNvSpPr/>
          <p:nvPr/>
        </p:nvSpPr>
        <p:spPr>
          <a:xfrm>
            <a:off x="4709160" y="1920240"/>
            <a:ext cx="39319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Max</a:t>
            </a:r>
            <a:endParaRPr lang="en-US" sz="1600" dirty="0"/>
          </a:p>
        </p:txBody>
      </p:sp>
      <p:sp>
        <p:nvSpPr>
          <p:cNvPr id="9" name="Text 7"/>
          <p:cNvSpPr/>
          <p:nvPr/>
        </p:nvSpPr>
        <p:spPr>
          <a:xfrm>
            <a:off x="8823960" y="1920240"/>
            <a:ext cx="2852928"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Exhaustion behaviour</a:t>
            </a:r>
            <a:endParaRPr lang="en-US" sz="1600" dirty="0"/>
          </a:p>
        </p:txBody>
      </p:sp>
      <p:sp>
        <p:nvSpPr>
          <p:cNvPr id="10" name="Shape 8"/>
          <p:cNvSpPr/>
          <p:nvPr/>
        </p:nvSpPr>
        <p:spPr>
          <a:xfrm>
            <a:off x="457200" y="2286000"/>
            <a:ext cx="11265408" cy="457200"/>
          </a:xfrm>
          <a:prstGeom prst="rect">
            <a:avLst/>
          </a:prstGeom>
          <a:solidFill>
            <a:srgbClr val="F8FAFC"/>
          </a:solidFill>
          <a:ln w="6350">
            <a:solidFill>
              <a:srgbClr val="E2E8F0"/>
            </a:solidFill>
            <a:prstDash val="solid"/>
          </a:ln>
        </p:spPr>
        <p:txBody>
          <a:bodyPr/>
          <a:lstStyle/>
          <a:p>
            <a:endParaRPr lang="en-US"/>
          </a:p>
        </p:txBody>
      </p:sp>
      <p:sp>
        <p:nvSpPr>
          <p:cNvPr id="11" name="Text 9"/>
          <p:cNvSpPr/>
          <p:nvPr/>
        </p:nvSpPr>
        <p:spPr>
          <a:xfrm>
            <a:off x="640080" y="2286000"/>
            <a:ext cx="3840480" cy="457200"/>
          </a:xfrm>
          <a:prstGeom prst="rect">
            <a:avLst/>
          </a:prstGeom>
          <a:noFill/>
          <a:ln/>
        </p:spPr>
        <p:txBody>
          <a:bodyPr wrap="square" lIns="0" tIns="0" rIns="0" bIns="0" rtlCol="0" anchor="ctr"/>
          <a:lstStyle/>
          <a:p>
            <a:pPr marL="0" indent="0">
              <a:buNone/>
            </a:pPr>
            <a:r>
              <a:rPr lang="en-US" sz="1600" dirty="0">
                <a:solidFill>
                  <a:srgbClr val="0F172A"/>
                </a:solidFill>
                <a:latin typeface="Calibri" pitchFamily="34" charset="0"/>
                <a:ea typeface="Calibri" pitchFamily="34" charset="-122"/>
                <a:cs typeface="Calibri" pitchFamily="34" charset="-120"/>
              </a:rPr>
              <a:t>Coder ↔ Code Reviewer ↔ sql_executor</a:t>
            </a:r>
            <a:endParaRPr lang="en-US" sz="1600" dirty="0"/>
          </a:p>
        </p:txBody>
      </p:sp>
      <p:sp>
        <p:nvSpPr>
          <p:cNvPr id="12" name="Shape 10"/>
          <p:cNvSpPr/>
          <p:nvPr/>
        </p:nvSpPr>
        <p:spPr>
          <a:xfrm>
            <a:off x="4754880" y="2377440"/>
            <a:ext cx="502920" cy="274320"/>
          </a:xfrm>
          <a:prstGeom prst="roundRect">
            <a:avLst>
              <a:gd name="adj" fmla="val 16667"/>
            </a:avLst>
          </a:prstGeom>
          <a:solidFill>
            <a:srgbClr val="1E293B"/>
          </a:solidFill>
          <a:ln w="12700">
            <a:solidFill>
              <a:srgbClr val="333333"/>
            </a:solidFill>
            <a:prstDash val="solid"/>
          </a:ln>
        </p:spPr>
        <p:txBody>
          <a:bodyPr/>
          <a:lstStyle/>
          <a:p>
            <a:endParaRPr lang="en-US" sz="2400"/>
          </a:p>
        </p:txBody>
      </p:sp>
      <p:sp>
        <p:nvSpPr>
          <p:cNvPr id="13" name="Text 11"/>
          <p:cNvSpPr/>
          <p:nvPr/>
        </p:nvSpPr>
        <p:spPr>
          <a:xfrm>
            <a:off x="4754880" y="2377440"/>
            <a:ext cx="5029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4" name="Text 12"/>
          <p:cNvSpPr/>
          <p:nvPr/>
        </p:nvSpPr>
        <p:spPr>
          <a:xfrm>
            <a:off x="8778240" y="2286000"/>
            <a:ext cx="2852928" cy="457200"/>
          </a:xfrm>
          <a:prstGeom prst="rect">
            <a:avLst/>
          </a:prstGeom>
          <a:noFill/>
          <a:ln/>
        </p:spPr>
        <p:txBody>
          <a:bodyPr wrap="square" lIns="0" tIns="0" rIns="0" bIns="0" rtlCol="0" anchor="ctr"/>
          <a:lstStyle/>
          <a:p>
            <a:pPr marL="0" indent="0">
              <a:buNone/>
            </a:pPr>
            <a:r>
              <a:rPr lang="en-US" sz="1400" dirty="0">
                <a:solidFill>
                  <a:srgbClr val="B45309"/>
                </a:solidFill>
                <a:latin typeface="Calibri" pitchFamily="34" charset="0"/>
                <a:ea typeface="Calibri" pitchFamily="34" charset="-122"/>
                <a:cs typeface="Calibri" pitchFamily="34" charset="-120"/>
              </a:rPr>
              <a:t>Escalate to Supervisor</a:t>
            </a:r>
            <a:endParaRPr lang="en-US" sz="1400" dirty="0"/>
          </a:p>
        </p:txBody>
      </p:sp>
      <p:sp>
        <p:nvSpPr>
          <p:cNvPr id="15" name="Shape 13"/>
          <p:cNvSpPr/>
          <p:nvPr/>
        </p:nvSpPr>
        <p:spPr>
          <a:xfrm>
            <a:off x="457200" y="2743200"/>
            <a:ext cx="11265408" cy="457200"/>
          </a:xfrm>
          <a:prstGeom prst="rect">
            <a:avLst/>
          </a:prstGeom>
          <a:solidFill>
            <a:srgbClr val="FFFFFF"/>
          </a:solidFill>
          <a:ln w="6350">
            <a:solidFill>
              <a:srgbClr val="E2E8F0"/>
            </a:solidFill>
            <a:prstDash val="solid"/>
          </a:ln>
        </p:spPr>
        <p:txBody>
          <a:bodyPr/>
          <a:lstStyle/>
          <a:p>
            <a:endParaRPr lang="en-US"/>
          </a:p>
        </p:txBody>
      </p:sp>
      <p:sp>
        <p:nvSpPr>
          <p:cNvPr id="16" name="Text 14"/>
          <p:cNvSpPr/>
          <p:nvPr/>
        </p:nvSpPr>
        <p:spPr>
          <a:xfrm>
            <a:off x="640080" y="2743200"/>
            <a:ext cx="3840480" cy="457200"/>
          </a:xfrm>
          <a:prstGeom prst="rect">
            <a:avLst/>
          </a:prstGeom>
          <a:noFill/>
          <a:ln/>
        </p:spPr>
        <p:txBody>
          <a:bodyPr wrap="square" lIns="0" tIns="0" rIns="0" bIns="0" rtlCol="0" anchor="ctr"/>
          <a:lstStyle/>
          <a:p>
            <a:pPr marL="0" indent="0">
              <a:buNone/>
            </a:pPr>
            <a:r>
              <a:rPr lang="en-US" sz="1600" dirty="0">
                <a:solidFill>
                  <a:srgbClr val="0F172A"/>
                </a:solidFill>
                <a:latin typeface="Calibri" pitchFamily="34" charset="0"/>
                <a:ea typeface="Calibri" pitchFamily="34" charset="-122"/>
                <a:cs typeface="Calibri" pitchFamily="34" charset="-120"/>
              </a:rPr>
              <a:t>Output Reviewer ↔ Coder</a:t>
            </a:r>
            <a:endParaRPr lang="en-US" sz="1600" dirty="0"/>
          </a:p>
        </p:txBody>
      </p:sp>
      <p:sp>
        <p:nvSpPr>
          <p:cNvPr id="17" name="Shape 15"/>
          <p:cNvSpPr/>
          <p:nvPr/>
        </p:nvSpPr>
        <p:spPr>
          <a:xfrm>
            <a:off x="4754880" y="2834640"/>
            <a:ext cx="502920" cy="274320"/>
          </a:xfrm>
          <a:prstGeom prst="roundRect">
            <a:avLst>
              <a:gd name="adj" fmla="val 16667"/>
            </a:avLst>
          </a:prstGeom>
          <a:solidFill>
            <a:srgbClr val="1E293B"/>
          </a:solidFill>
          <a:ln w="12700">
            <a:solidFill>
              <a:srgbClr val="333333"/>
            </a:solidFill>
            <a:prstDash val="solid"/>
          </a:ln>
        </p:spPr>
        <p:txBody>
          <a:bodyPr/>
          <a:lstStyle/>
          <a:p>
            <a:endParaRPr lang="en-US" sz="2400"/>
          </a:p>
        </p:txBody>
      </p:sp>
      <p:sp>
        <p:nvSpPr>
          <p:cNvPr id="18" name="Text 16"/>
          <p:cNvSpPr/>
          <p:nvPr/>
        </p:nvSpPr>
        <p:spPr>
          <a:xfrm>
            <a:off x="4754880" y="2834640"/>
            <a:ext cx="5029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8778240" y="2743200"/>
            <a:ext cx="2852928" cy="457200"/>
          </a:xfrm>
          <a:prstGeom prst="rect">
            <a:avLst/>
          </a:prstGeom>
          <a:noFill/>
          <a:ln/>
        </p:spPr>
        <p:txBody>
          <a:bodyPr wrap="square" lIns="0" tIns="0" rIns="0" bIns="0" rtlCol="0" anchor="ctr"/>
          <a:lstStyle/>
          <a:p>
            <a:pPr marL="0" indent="0">
              <a:buNone/>
            </a:pPr>
            <a:r>
              <a:rPr lang="en-US" sz="1400" dirty="0">
                <a:solidFill>
                  <a:srgbClr val="B45309"/>
                </a:solidFill>
                <a:latin typeface="Calibri" pitchFamily="34" charset="0"/>
                <a:ea typeface="Calibri" pitchFamily="34" charset="-122"/>
                <a:cs typeface="Calibri" pitchFamily="34" charset="-120"/>
              </a:rPr>
              <a:t>Escalate to Supervisor</a:t>
            </a:r>
            <a:endParaRPr lang="en-US" sz="1400" dirty="0"/>
          </a:p>
        </p:txBody>
      </p:sp>
      <p:sp>
        <p:nvSpPr>
          <p:cNvPr id="20" name="Shape 18"/>
          <p:cNvSpPr/>
          <p:nvPr/>
        </p:nvSpPr>
        <p:spPr>
          <a:xfrm>
            <a:off x="457200" y="3200400"/>
            <a:ext cx="11265408" cy="457200"/>
          </a:xfrm>
          <a:prstGeom prst="rect">
            <a:avLst/>
          </a:prstGeom>
          <a:solidFill>
            <a:srgbClr val="F8FAFC"/>
          </a:solidFill>
          <a:ln w="6350">
            <a:solidFill>
              <a:srgbClr val="E2E8F0"/>
            </a:solidFill>
            <a:prstDash val="solid"/>
          </a:ln>
        </p:spPr>
        <p:txBody>
          <a:bodyPr/>
          <a:lstStyle/>
          <a:p>
            <a:endParaRPr lang="en-US"/>
          </a:p>
        </p:txBody>
      </p:sp>
      <p:sp>
        <p:nvSpPr>
          <p:cNvPr id="21" name="Text 19"/>
          <p:cNvSpPr/>
          <p:nvPr/>
        </p:nvSpPr>
        <p:spPr>
          <a:xfrm>
            <a:off x="640080" y="3200400"/>
            <a:ext cx="3840480" cy="457200"/>
          </a:xfrm>
          <a:prstGeom prst="rect">
            <a:avLst/>
          </a:prstGeom>
          <a:noFill/>
          <a:ln/>
        </p:spPr>
        <p:txBody>
          <a:bodyPr wrap="square" lIns="0" tIns="0" rIns="0" bIns="0" rtlCol="0" anchor="ctr"/>
          <a:lstStyle/>
          <a:p>
            <a:pPr marL="0" indent="0">
              <a:buNone/>
            </a:pPr>
            <a:r>
              <a:rPr lang="en-US" sz="1600" dirty="0">
                <a:solidFill>
                  <a:srgbClr val="0F172A"/>
                </a:solidFill>
                <a:latin typeface="Calibri" pitchFamily="34" charset="0"/>
                <a:ea typeface="Calibri" pitchFamily="34" charset="-122"/>
                <a:cs typeface="Calibri" pitchFamily="34" charset="-120"/>
              </a:rPr>
              <a:t>Writer ↔ groundedness_check</a:t>
            </a:r>
            <a:endParaRPr lang="en-US" sz="1600" dirty="0"/>
          </a:p>
        </p:txBody>
      </p:sp>
      <p:sp>
        <p:nvSpPr>
          <p:cNvPr id="22" name="Shape 20"/>
          <p:cNvSpPr/>
          <p:nvPr/>
        </p:nvSpPr>
        <p:spPr>
          <a:xfrm>
            <a:off x="4754880" y="3291840"/>
            <a:ext cx="502920" cy="274320"/>
          </a:xfrm>
          <a:prstGeom prst="roundRect">
            <a:avLst>
              <a:gd name="adj" fmla="val 16667"/>
            </a:avLst>
          </a:prstGeom>
          <a:solidFill>
            <a:srgbClr val="1E293B"/>
          </a:solidFill>
          <a:ln w="12700">
            <a:solidFill>
              <a:srgbClr val="333333"/>
            </a:solidFill>
            <a:prstDash val="solid"/>
          </a:ln>
        </p:spPr>
        <p:txBody>
          <a:bodyPr/>
          <a:lstStyle/>
          <a:p>
            <a:endParaRPr lang="en-US" sz="2400"/>
          </a:p>
        </p:txBody>
      </p:sp>
      <p:sp>
        <p:nvSpPr>
          <p:cNvPr id="23" name="Text 21"/>
          <p:cNvSpPr/>
          <p:nvPr/>
        </p:nvSpPr>
        <p:spPr>
          <a:xfrm>
            <a:off x="4754880" y="3291840"/>
            <a:ext cx="5029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p:nvPr/>
        </p:nvSpPr>
        <p:spPr>
          <a:xfrm>
            <a:off x="8778240" y="3200400"/>
            <a:ext cx="2852928" cy="457200"/>
          </a:xfrm>
          <a:prstGeom prst="rect">
            <a:avLst/>
          </a:prstGeom>
          <a:noFill/>
          <a:ln/>
        </p:spPr>
        <p:txBody>
          <a:bodyPr wrap="square" lIns="0" tIns="0" rIns="0" bIns="0" rtlCol="0" anchor="ctr"/>
          <a:lstStyle/>
          <a:p>
            <a:pPr marL="0" indent="0">
              <a:buNone/>
            </a:pPr>
            <a:r>
              <a:rPr lang="en-US" sz="1400" b="1" dirty="0">
                <a:solidFill>
                  <a:srgbClr val="B91C1C"/>
                </a:solidFill>
                <a:latin typeface="Calibri" pitchFamily="34" charset="0"/>
                <a:ea typeface="Calibri" pitchFamily="34" charset="-122"/>
                <a:cs typeface="Calibri" pitchFamily="34" charset="-120"/>
              </a:rPr>
              <a:t>Ship GROUNDEDNESS_FAIL_TEXT (hard-block)</a:t>
            </a:r>
            <a:endParaRPr lang="en-US" sz="1400" dirty="0"/>
          </a:p>
        </p:txBody>
      </p:sp>
      <p:sp>
        <p:nvSpPr>
          <p:cNvPr id="25" name="Shape 23"/>
          <p:cNvSpPr/>
          <p:nvPr/>
        </p:nvSpPr>
        <p:spPr>
          <a:xfrm>
            <a:off x="457200" y="3657600"/>
            <a:ext cx="11265408" cy="457200"/>
          </a:xfrm>
          <a:prstGeom prst="rect">
            <a:avLst/>
          </a:prstGeom>
          <a:solidFill>
            <a:srgbClr val="FFFFFF"/>
          </a:solidFill>
          <a:ln w="6350">
            <a:solidFill>
              <a:srgbClr val="E2E8F0"/>
            </a:solidFill>
            <a:prstDash val="solid"/>
          </a:ln>
        </p:spPr>
        <p:txBody>
          <a:bodyPr/>
          <a:lstStyle/>
          <a:p>
            <a:endParaRPr lang="en-US"/>
          </a:p>
        </p:txBody>
      </p:sp>
      <p:sp>
        <p:nvSpPr>
          <p:cNvPr id="26" name="Text 24"/>
          <p:cNvSpPr/>
          <p:nvPr/>
        </p:nvSpPr>
        <p:spPr>
          <a:xfrm>
            <a:off x="640080" y="3657600"/>
            <a:ext cx="3840480" cy="457200"/>
          </a:xfrm>
          <a:prstGeom prst="rect">
            <a:avLst/>
          </a:prstGeom>
          <a:noFill/>
          <a:ln/>
        </p:spPr>
        <p:txBody>
          <a:bodyPr wrap="square" lIns="0" tIns="0" rIns="0" bIns="0" rtlCol="0" anchor="ctr"/>
          <a:lstStyle/>
          <a:p>
            <a:pPr marL="0" indent="0">
              <a:buNone/>
            </a:pPr>
            <a:r>
              <a:rPr lang="en-US" sz="1600" dirty="0">
                <a:solidFill>
                  <a:srgbClr val="0F172A"/>
                </a:solidFill>
                <a:latin typeface="Calibri" pitchFamily="34" charset="0"/>
                <a:ea typeface="Calibri" pitchFamily="34" charset="-122"/>
                <a:cs typeface="Calibri" pitchFamily="34" charset="-120"/>
              </a:rPr>
              <a:t>Viz Coder ↔ Viz Code Reviewer</a:t>
            </a:r>
            <a:endParaRPr lang="en-US" sz="1600" dirty="0"/>
          </a:p>
        </p:txBody>
      </p:sp>
      <p:sp>
        <p:nvSpPr>
          <p:cNvPr id="27" name="Shape 25"/>
          <p:cNvSpPr/>
          <p:nvPr/>
        </p:nvSpPr>
        <p:spPr>
          <a:xfrm>
            <a:off x="4754880" y="3749040"/>
            <a:ext cx="502920" cy="274320"/>
          </a:xfrm>
          <a:prstGeom prst="roundRect">
            <a:avLst>
              <a:gd name="adj" fmla="val 16667"/>
            </a:avLst>
          </a:prstGeom>
          <a:solidFill>
            <a:srgbClr val="1E293B"/>
          </a:solidFill>
          <a:ln w="12700">
            <a:solidFill>
              <a:srgbClr val="333333"/>
            </a:solidFill>
            <a:prstDash val="solid"/>
          </a:ln>
        </p:spPr>
        <p:txBody>
          <a:bodyPr/>
          <a:lstStyle/>
          <a:p>
            <a:endParaRPr lang="en-US" sz="2400"/>
          </a:p>
        </p:txBody>
      </p:sp>
      <p:sp>
        <p:nvSpPr>
          <p:cNvPr id="28" name="Text 26"/>
          <p:cNvSpPr/>
          <p:nvPr/>
        </p:nvSpPr>
        <p:spPr>
          <a:xfrm>
            <a:off x="4754880" y="3749040"/>
            <a:ext cx="5029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7"/>
          <p:cNvSpPr/>
          <p:nvPr/>
        </p:nvSpPr>
        <p:spPr>
          <a:xfrm>
            <a:off x="8778240" y="3657600"/>
            <a:ext cx="2852928"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Drop chart · ship text-only</a:t>
            </a:r>
            <a:endParaRPr lang="en-US" sz="1400" dirty="0"/>
          </a:p>
        </p:txBody>
      </p:sp>
      <p:sp>
        <p:nvSpPr>
          <p:cNvPr id="30" name="Shape 28"/>
          <p:cNvSpPr/>
          <p:nvPr/>
        </p:nvSpPr>
        <p:spPr>
          <a:xfrm>
            <a:off x="457200" y="4114800"/>
            <a:ext cx="11265408" cy="457200"/>
          </a:xfrm>
          <a:prstGeom prst="rect">
            <a:avLst/>
          </a:prstGeom>
          <a:solidFill>
            <a:srgbClr val="F8FAFC"/>
          </a:solidFill>
          <a:ln w="6350">
            <a:solidFill>
              <a:srgbClr val="E2E8F0"/>
            </a:solidFill>
            <a:prstDash val="solid"/>
          </a:ln>
        </p:spPr>
        <p:txBody>
          <a:bodyPr/>
          <a:lstStyle/>
          <a:p>
            <a:endParaRPr lang="en-US"/>
          </a:p>
        </p:txBody>
      </p:sp>
      <p:sp>
        <p:nvSpPr>
          <p:cNvPr id="31" name="Text 29"/>
          <p:cNvSpPr/>
          <p:nvPr/>
        </p:nvSpPr>
        <p:spPr>
          <a:xfrm>
            <a:off x="640080" y="4114800"/>
            <a:ext cx="3840480" cy="457200"/>
          </a:xfrm>
          <a:prstGeom prst="rect">
            <a:avLst/>
          </a:prstGeom>
          <a:noFill/>
          <a:ln/>
        </p:spPr>
        <p:txBody>
          <a:bodyPr wrap="square" lIns="0" tIns="0" rIns="0" bIns="0" rtlCol="0" anchor="ctr"/>
          <a:lstStyle/>
          <a:p>
            <a:pPr marL="0" indent="0">
              <a:buNone/>
            </a:pPr>
            <a:r>
              <a:rPr lang="en-US" sz="1600" dirty="0">
                <a:solidFill>
                  <a:srgbClr val="0F172A"/>
                </a:solidFill>
                <a:latin typeface="Calibri" pitchFamily="34" charset="0"/>
                <a:ea typeface="Calibri" pitchFamily="34" charset="-122"/>
                <a:cs typeface="Calibri" pitchFamily="34" charset="-120"/>
              </a:rPr>
              <a:t>Viz Reviewer revise round</a:t>
            </a:r>
            <a:endParaRPr lang="en-US" sz="1600" dirty="0"/>
          </a:p>
        </p:txBody>
      </p:sp>
      <p:sp>
        <p:nvSpPr>
          <p:cNvPr id="32" name="Shape 30"/>
          <p:cNvSpPr/>
          <p:nvPr/>
        </p:nvSpPr>
        <p:spPr>
          <a:xfrm>
            <a:off x="4754880" y="4206240"/>
            <a:ext cx="502920" cy="274320"/>
          </a:xfrm>
          <a:prstGeom prst="roundRect">
            <a:avLst>
              <a:gd name="adj" fmla="val 16667"/>
            </a:avLst>
          </a:prstGeom>
          <a:solidFill>
            <a:srgbClr val="1E293B"/>
          </a:solidFill>
          <a:ln w="12700">
            <a:solidFill>
              <a:srgbClr val="333333"/>
            </a:solidFill>
            <a:prstDash val="solid"/>
          </a:ln>
        </p:spPr>
        <p:txBody>
          <a:bodyPr/>
          <a:lstStyle/>
          <a:p>
            <a:endParaRPr lang="en-US"/>
          </a:p>
        </p:txBody>
      </p:sp>
      <p:sp>
        <p:nvSpPr>
          <p:cNvPr id="33" name="Text 31"/>
          <p:cNvSpPr/>
          <p:nvPr/>
        </p:nvSpPr>
        <p:spPr>
          <a:xfrm>
            <a:off x="4754880" y="4206240"/>
            <a:ext cx="502920"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34" name="Text 32"/>
          <p:cNvSpPr/>
          <p:nvPr/>
        </p:nvSpPr>
        <p:spPr>
          <a:xfrm>
            <a:off x="8778240" y="4114800"/>
            <a:ext cx="2852928"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Ship last PNG or drop</a:t>
            </a:r>
            <a:endParaRPr lang="en-US" sz="1400" dirty="0"/>
          </a:p>
        </p:txBody>
      </p:sp>
      <p:sp>
        <p:nvSpPr>
          <p:cNvPr id="35" name="Text 33"/>
          <p:cNvSpPr/>
          <p:nvPr/>
        </p:nvSpPr>
        <p:spPr>
          <a:xfrm>
            <a:off x="457200" y="4617720"/>
            <a:ext cx="1124712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WHEN A SQL LOOP EXHAUSTS: SUPERVISOR'S FOUR ACTIONS</a:t>
            </a:r>
            <a:endParaRPr lang="en-US" sz="1400" dirty="0"/>
          </a:p>
        </p:txBody>
      </p:sp>
      <p:sp>
        <p:nvSpPr>
          <p:cNvPr id="36" name="Shape 34"/>
          <p:cNvSpPr/>
          <p:nvPr/>
        </p:nvSpPr>
        <p:spPr>
          <a:xfrm>
            <a:off x="457200" y="4974831"/>
            <a:ext cx="2743200" cy="1097280"/>
          </a:xfrm>
          <a:prstGeom prst="rect">
            <a:avLst/>
          </a:prstGeom>
          <a:solidFill>
            <a:srgbClr val="F8FAFC"/>
          </a:solidFill>
          <a:ln w="9525">
            <a:solidFill>
              <a:srgbClr val="E2E8F0"/>
            </a:solidFill>
            <a:prstDash val="solid"/>
          </a:ln>
        </p:spPr>
        <p:txBody>
          <a:bodyPr/>
          <a:lstStyle/>
          <a:p>
            <a:endParaRPr lang="en-US"/>
          </a:p>
        </p:txBody>
      </p:sp>
      <p:sp>
        <p:nvSpPr>
          <p:cNvPr id="37" name="Shape 35"/>
          <p:cNvSpPr/>
          <p:nvPr/>
        </p:nvSpPr>
        <p:spPr>
          <a:xfrm>
            <a:off x="457200" y="4974831"/>
            <a:ext cx="73152" cy="1097280"/>
          </a:xfrm>
          <a:prstGeom prst="rect">
            <a:avLst/>
          </a:prstGeom>
          <a:solidFill>
            <a:srgbClr val="0F766E"/>
          </a:solidFill>
          <a:ln w="12700">
            <a:solidFill>
              <a:srgbClr val="0F766E"/>
            </a:solidFill>
            <a:prstDash val="solid"/>
          </a:ln>
        </p:spPr>
        <p:txBody>
          <a:bodyPr/>
          <a:lstStyle/>
          <a:p>
            <a:endParaRPr lang="en-US"/>
          </a:p>
        </p:txBody>
      </p:sp>
      <p:sp>
        <p:nvSpPr>
          <p:cNvPr id="38" name="Text 36"/>
          <p:cNvSpPr/>
          <p:nvPr/>
        </p:nvSpPr>
        <p:spPr>
          <a:xfrm>
            <a:off x="640080" y="5047488"/>
            <a:ext cx="2468880" cy="320040"/>
          </a:xfrm>
          <a:prstGeom prst="rect">
            <a:avLst/>
          </a:prstGeom>
          <a:noFill/>
          <a:ln/>
        </p:spPr>
        <p:txBody>
          <a:bodyPr wrap="square" lIns="0" tIns="0" rIns="0" bIns="0" rtlCol="0" anchor="ctr"/>
          <a:lstStyle/>
          <a:p>
            <a:pPr marL="0" indent="0">
              <a:buNone/>
            </a:pPr>
            <a:r>
              <a:rPr lang="en-US" sz="1400" b="1" dirty="0">
                <a:solidFill>
                  <a:srgbClr val="0F766E"/>
                </a:solidFill>
                <a:latin typeface="Consolas" pitchFamily="34" charset="0"/>
                <a:ea typeface="Consolas" pitchFamily="34" charset="-122"/>
                <a:cs typeface="Consolas" pitchFamily="34" charset="-120"/>
              </a:rPr>
              <a:t>abort_gracefully</a:t>
            </a:r>
            <a:endParaRPr lang="en-US" sz="1400" dirty="0"/>
          </a:p>
        </p:txBody>
      </p:sp>
      <p:sp>
        <p:nvSpPr>
          <p:cNvPr id="39" name="Text 37"/>
          <p:cNvSpPr/>
          <p:nvPr/>
        </p:nvSpPr>
        <p:spPr>
          <a:xfrm>
            <a:off x="640080" y="5394960"/>
            <a:ext cx="2468880" cy="91440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Question is genuinely unanswerable.  Ship a polite explanation.</a:t>
            </a:r>
            <a:endParaRPr lang="en-US" sz="1200" dirty="0"/>
          </a:p>
        </p:txBody>
      </p:sp>
      <p:sp>
        <p:nvSpPr>
          <p:cNvPr id="40" name="Shape 38"/>
          <p:cNvSpPr/>
          <p:nvPr/>
        </p:nvSpPr>
        <p:spPr>
          <a:xfrm>
            <a:off x="3291840" y="4974831"/>
            <a:ext cx="2743200" cy="1097280"/>
          </a:xfrm>
          <a:prstGeom prst="rect">
            <a:avLst/>
          </a:prstGeom>
          <a:solidFill>
            <a:srgbClr val="F8FAFC"/>
          </a:solidFill>
          <a:ln w="9525">
            <a:solidFill>
              <a:srgbClr val="E2E8F0"/>
            </a:solidFill>
            <a:prstDash val="solid"/>
          </a:ln>
        </p:spPr>
        <p:txBody>
          <a:bodyPr/>
          <a:lstStyle/>
          <a:p>
            <a:endParaRPr lang="en-US"/>
          </a:p>
        </p:txBody>
      </p:sp>
      <p:sp>
        <p:nvSpPr>
          <p:cNvPr id="41" name="Shape 39"/>
          <p:cNvSpPr/>
          <p:nvPr/>
        </p:nvSpPr>
        <p:spPr>
          <a:xfrm>
            <a:off x="3291840" y="4974831"/>
            <a:ext cx="73152" cy="1097280"/>
          </a:xfrm>
          <a:prstGeom prst="rect">
            <a:avLst/>
          </a:prstGeom>
          <a:solidFill>
            <a:srgbClr val="0F766E"/>
          </a:solidFill>
          <a:ln w="12700">
            <a:solidFill>
              <a:srgbClr val="0F766E"/>
            </a:solidFill>
            <a:prstDash val="solid"/>
          </a:ln>
        </p:spPr>
        <p:txBody>
          <a:bodyPr/>
          <a:lstStyle/>
          <a:p>
            <a:endParaRPr lang="en-US"/>
          </a:p>
        </p:txBody>
      </p:sp>
      <p:sp>
        <p:nvSpPr>
          <p:cNvPr id="42" name="Text 40"/>
          <p:cNvSpPr/>
          <p:nvPr/>
        </p:nvSpPr>
        <p:spPr>
          <a:xfrm>
            <a:off x="3474720" y="5047488"/>
            <a:ext cx="2468880" cy="320040"/>
          </a:xfrm>
          <a:prstGeom prst="rect">
            <a:avLst/>
          </a:prstGeom>
          <a:noFill/>
          <a:ln/>
        </p:spPr>
        <p:txBody>
          <a:bodyPr wrap="square" lIns="0" tIns="0" rIns="0" bIns="0" rtlCol="0" anchor="ctr"/>
          <a:lstStyle/>
          <a:p>
            <a:pPr marL="0" indent="0">
              <a:buNone/>
            </a:pPr>
            <a:r>
              <a:rPr lang="en-US" sz="1400" b="1" dirty="0">
                <a:solidFill>
                  <a:srgbClr val="0F766E"/>
                </a:solidFill>
                <a:latin typeface="Consolas" pitchFamily="34" charset="0"/>
                <a:ea typeface="Consolas" pitchFamily="34" charset="-122"/>
                <a:cs typeface="Consolas" pitchFamily="34" charset="-120"/>
              </a:rPr>
              <a:t>retry_with_strategy</a:t>
            </a:r>
            <a:endParaRPr lang="en-US" sz="1400" dirty="0"/>
          </a:p>
        </p:txBody>
      </p:sp>
      <p:sp>
        <p:nvSpPr>
          <p:cNvPr id="43" name="Text 41"/>
          <p:cNvSpPr/>
          <p:nvPr/>
        </p:nvSpPr>
        <p:spPr>
          <a:xfrm>
            <a:off x="3474720" y="5394960"/>
            <a:ext cx="2468880" cy="91440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Propose a fundamentally different SQL approach. One-shot only.</a:t>
            </a:r>
            <a:endParaRPr lang="en-US" sz="1200" dirty="0"/>
          </a:p>
        </p:txBody>
      </p:sp>
      <p:sp>
        <p:nvSpPr>
          <p:cNvPr id="44" name="Shape 42"/>
          <p:cNvSpPr/>
          <p:nvPr/>
        </p:nvSpPr>
        <p:spPr>
          <a:xfrm>
            <a:off x="6126480" y="4974831"/>
            <a:ext cx="2743200" cy="1097280"/>
          </a:xfrm>
          <a:prstGeom prst="rect">
            <a:avLst/>
          </a:prstGeom>
          <a:solidFill>
            <a:srgbClr val="F8FAFC"/>
          </a:solidFill>
          <a:ln w="9525">
            <a:solidFill>
              <a:srgbClr val="E2E8F0"/>
            </a:solidFill>
            <a:prstDash val="solid"/>
          </a:ln>
        </p:spPr>
        <p:txBody>
          <a:bodyPr/>
          <a:lstStyle/>
          <a:p>
            <a:endParaRPr lang="en-US"/>
          </a:p>
        </p:txBody>
      </p:sp>
      <p:sp>
        <p:nvSpPr>
          <p:cNvPr id="45" name="Shape 43"/>
          <p:cNvSpPr/>
          <p:nvPr/>
        </p:nvSpPr>
        <p:spPr>
          <a:xfrm>
            <a:off x="6126480" y="4974831"/>
            <a:ext cx="73152" cy="1097280"/>
          </a:xfrm>
          <a:prstGeom prst="rect">
            <a:avLst/>
          </a:prstGeom>
          <a:solidFill>
            <a:srgbClr val="0F766E"/>
          </a:solidFill>
          <a:ln w="12700">
            <a:solidFill>
              <a:srgbClr val="0F766E"/>
            </a:solidFill>
            <a:prstDash val="solid"/>
          </a:ln>
        </p:spPr>
        <p:txBody>
          <a:bodyPr/>
          <a:lstStyle/>
          <a:p>
            <a:endParaRPr lang="en-US"/>
          </a:p>
        </p:txBody>
      </p:sp>
      <p:sp>
        <p:nvSpPr>
          <p:cNvPr id="46" name="Text 44"/>
          <p:cNvSpPr/>
          <p:nvPr/>
        </p:nvSpPr>
        <p:spPr>
          <a:xfrm>
            <a:off x="6309360" y="5047488"/>
            <a:ext cx="2468880" cy="320040"/>
          </a:xfrm>
          <a:prstGeom prst="rect">
            <a:avLst/>
          </a:prstGeom>
          <a:noFill/>
          <a:ln/>
        </p:spPr>
        <p:txBody>
          <a:bodyPr wrap="square" lIns="0" tIns="0" rIns="0" bIns="0" rtlCol="0" anchor="ctr"/>
          <a:lstStyle/>
          <a:p>
            <a:pPr marL="0" indent="0">
              <a:buNone/>
            </a:pPr>
            <a:r>
              <a:rPr lang="en-US" sz="1400" b="1" dirty="0">
                <a:solidFill>
                  <a:srgbClr val="0F766E"/>
                </a:solidFill>
                <a:latin typeface="Consolas" pitchFamily="34" charset="0"/>
                <a:ea typeface="Consolas" pitchFamily="34" charset="-122"/>
                <a:cs typeface="Consolas" pitchFamily="34" charset="-120"/>
              </a:rPr>
              <a:t>ship_partial</a:t>
            </a:r>
            <a:endParaRPr lang="en-US" sz="1400" dirty="0"/>
          </a:p>
        </p:txBody>
      </p:sp>
      <p:sp>
        <p:nvSpPr>
          <p:cNvPr id="47" name="Text 45"/>
          <p:cNvSpPr/>
          <p:nvPr/>
        </p:nvSpPr>
        <p:spPr>
          <a:xfrm>
            <a:off x="6309360" y="5394960"/>
            <a:ext cx="2468880" cy="91440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Useful result exists.  Ship it with a caveat about limits.</a:t>
            </a:r>
            <a:endParaRPr lang="en-US" sz="1200" dirty="0"/>
          </a:p>
        </p:txBody>
      </p:sp>
      <p:sp>
        <p:nvSpPr>
          <p:cNvPr id="48" name="Shape 46"/>
          <p:cNvSpPr/>
          <p:nvPr/>
        </p:nvSpPr>
        <p:spPr>
          <a:xfrm>
            <a:off x="8961120" y="4974831"/>
            <a:ext cx="2743200" cy="1097280"/>
          </a:xfrm>
          <a:prstGeom prst="rect">
            <a:avLst/>
          </a:prstGeom>
          <a:solidFill>
            <a:srgbClr val="F8FAFC"/>
          </a:solidFill>
          <a:ln w="9525">
            <a:solidFill>
              <a:srgbClr val="E2E8F0"/>
            </a:solidFill>
            <a:prstDash val="solid"/>
          </a:ln>
        </p:spPr>
        <p:txBody>
          <a:bodyPr/>
          <a:lstStyle/>
          <a:p>
            <a:endParaRPr lang="en-US"/>
          </a:p>
        </p:txBody>
      </p:sp>
      <p:sp>
        <p:nvSpPr>
          <p:cNvPr id="49" name="Shape 47"/>
          <p:cNvSpPr/>
          <p:nvPr/>
        </p:nvSpPr>
        <p:spPr>
          <a:xfrm>
            <a:off x="8961120" y="4974831"/>
            <a:ext cx="73152" cy="1097280"/>
          </a:xfrm>
          <a:prstGeom prst="rect">
            <a:avLst/>
          </a:prstGeom>
          <a:solidFill>
            <a:srgbClr val="0F766E"/>
          </a:solidFill>
          <a:ln w="12700">
            <a:solidFill>
              <a:srgbClr val="0F766E"/>
            </a:solidFill>
            <a:prstDash val="solid"/>
          </a:ln>
        </p:spPr>
        <p:txBody>
          <a:bodyPr/>
          <a:lstStyle/>
          <a:p>
            <a:endParaRPr lang="en-US"/>
          </a:p>
        </p:txBody>
      </p:sp>
      <p:sp>
        <p:nvSpPr>
          <p:cNvPr id="50" name="Text 48"/>
          <p:cNvSpPr/>
          <p:nvPr/>
        </p:nvSpPr>
        <p:spPr>
          <a:xfrm>
            <a:off x="9144000" y="5047488"/>
            <a:ext cx="2468880" cy="320040"/>
          </a:xfrm>
          <a:prstGeom prst="rect">
            <a:avLst/>
          </a:prstGeom>
          <a:noFill/>
          <a:ln/>
        </p:spPr>
        <p:txBody>
          <a:bodyPr wrap="square" lIns="0" tIns="0" rIns="0" bIns="0" rtlCol="0" anchor="ctr"/>
          <a:lstStyle/>
          <a:p>
            <a:pPr marL="0" indent="0">
              <a:buNone/>
            </a:pPr>
            <a:r>
              <a:rPr lang="en-US" sz="1400" b="1" dirty="0">
                <a:solidFill>
                  <a:srgbClr val="0F766E"/>
                </a:solidFill>
                <a:latin typeface="Consolas" pitchFamily="34" charset="0"/>
                <a:ea typeface="Consolas" pitchFamily="34" charset="-122"/>
                <a:cs typeface="Consolas" pitchFamily="34" charset="-120"/>
              </a:rPr>
              <a:t>ask_user</a:t>
            </a:r>
            <a:endParaRPr lang="en-US" sz="1400" dirty="0"/>
          </a:p>
        </p:txBody>
      </p:sp>
      <p:sp>
        <p:nvSpPr>
          <p:cNvPr id="51" name="Text 49"/>
          <p:cNvSpPr/>
          <p:nvPr/>
        </p:nvSpPr>
        <p:spPr>
          <a:xfrm>
            <a:off x="9144000" y="5394960"/>
            <a:ext cx="2468880" cy="91440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Question is ambiguous.  Return a focused clarifying question.</a:t>
            </a:r>
            <a:endParaRPr lang="en-US" sz="1200" dirty="0"/>
          </a:p>
        </p:txBody>
      </p:sp>
      <p:sp>
        <p:nvSpPr>
          <p:cNvPr id="52" name="Text 50"/>
          <p:cNvSpPr/>
          <p:nvPr/>
        </p:nvSpPr>
        <p:spPr>
          <a:xfrm>
            <a:off x="457200" y="6231510"/>
            <a:ext cx="11247120" cy="274320"/>
          </a:xfrm>
          <a:prstGeom prst="rect">
            <a:avLst/>
          </a:prstGeom>
          <a:noFill/>
          <a:ln/>
        </p:spPr>
        <p:txBody>
          <a:bodyPr wrap="square" lIns="0" tIns="0" rIns="0" bIns="0" rtlCol="0" anchor="ctr"/>
          <a:lstStyle/>
          <a:p>
            <a:pPr marL="0" indent="0" algn="ctr">
              <a:buNone/>
            </a:pPr>
            <a:r>
              <a:rPr lang="en-US" sz="1400" i="1" dirty="0">
                <a:solidFill>
                  <a:srgbClr val="64748B"/>
                </a:solidFill>
                <a:latin typeface="Calibri" pitchFamily="34" charset="0"/>
                <a:ea typeface="Calibri" pitchFamily="34" charset="-122"/>
                <a:cs typeface="Calibri" pitchFamily="34" charset="-120"/>
              </a:rPr>
              <a:t>Hard-block vs soft-block is deliberate.  </a:t>
            </a:r>
            <a:r>
              <a:rPr lang="en-US" sz="1400" b="1" i="1" dirty="0">
                <a:solidFill>
                  <a:srgbClr val="B91C1C"/>
                </a:solidFill>
                <a:latin typeface="Calibri" pitchFamily="34" charset="0"/>
                <a:ea typeface="Calibri" pitchFamily="34" charset="-122"/>
                <a:cs typeface="Calibri" pitchFamily="34" charset="-120"/>
              </a:rPr>
              <a:t>Writer grounding → hard-block: </a:t>
            </a:r>
            <a:r>
              <a:rPr lang="en-US" sz="1400" i="1" dirty="0">
                <a:solidFill>
                  <a:srgbClr val="64748B"/>
                </a:solidFill>
                <a:latin typeface="Calibri" pitchFamily="34" charset="0"/>
                <a:ea typeface="Calibri" pitchFamily="34" charset="-122"/>
                <a:cs typeface="Calibri" pitchFamily="34" charset="-120"/>
              </a:rPr>
              <a:t>a strategy change does not help; refuse with a fixed message.  </a:t>
            </a:r>
            <a:r>
              <a:rPr lang="en-US" sz="1400" b="1" i="1" dirty="0">
                <a:solidFill>
                  <a:srgbClr val="B45309"/>
                </a:solidFill>
                <a:latin typeface="Calibri" pitchFamily="34" charset="0"/>
                <a:ea typeface="Calibri" pitchFamily="34" charset="-122"/>
                <a:cs typeface="Calibri" pitchFamily="34" charset="-120"/>
              </a:rPr>
              <a:t>SQL loops → soft-block to Supervisor: </a:t>
            </a:r>
            <a:r>
              <a:rPr lang="en-US" sz="1400" i="1" dirty="0">
                <a:solidFill>
                  <a:srgbClr val="64748B"/>
                </a:solidFill>
                <a:latin typeface="Calibri" pitchFamily="34" charset="0"/>
                <a:ea typeface="Calibri" pitchFamily="34" charset="-122"/>
                <a:cs typeface="Calibri" pitchFamily="34" charset="-120"/>
              </a:rPr>
              <a:t>different SQL might actually answer.</a:t>
            </a:r>
            <a:endParaRPr lang="en-US" sz="1400" dirty="0"/>
          </a:p>
        </p:txBody>
      </p:sp>
      <p:sp>
        <p:nvSpPr>
          <p:cNvPr id="53" name="Text 51"/>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27</a:t>
            </a:r>
            <a:endParaRPr lang="en-US" sz="900" dirty="0"/>
          </a:p>
        </p:txBody>
      </p:sp>
      <p:sp>
        <p:nvSpPr>
          <p:cNvPr id="54" name="Text 52"/>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PROMPT ENGINEERING: HOW THE PIPELINE STAYS GROUNDED</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Three Coordinated CoT Scaffolds</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5486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Chain-of-thought is not a single prompt trick in this system. It is a triplet of mechanisms that guard a distinct failure surface each.  Removing any one of them produces measurable regression on the manual eval suite.</a:t>
            </a:r>
            <a:endParaRPr lang="en-US" sz="1400" dirty="0"/>
          </a:p>
        </p:txBody>
      </p:sp>
      <p:sp>
        <p:nvSpPr>
          <p:cNvPr id="6" name="Shape 4"/>
          <p:cNvSpPr/>
          <p:nvPr/>
        </p:nvSpPr>
        <p:spPr>
          <a:xfrm>
            <a:off x="457200" y="2103120"/>
            <a:ext cx="3703320" cy="384048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685800" y="2286000"/>
            <a:ext cx="502920" cy="502920"/>
          </a:xfrm>
          <a:prstGeom prst="ellipse">
            <a:avLst/>
          </a:prstGeom>
          <a:solidFill>
            <a:srgbClr val="0F766E"/>
          </a:solidFill>
          <a:ln w="12700">
            <a:solidFill>
              <a:srgbClr val="333333"/>
            </a:solidFill>
            <a:prstDash val="solid"/>
          </a:ln>
        </p:spPr>
        <p:txBody>
          <a:bodyPr/>
          <a:lstStyle/>
          <a:p>
            <a:endParaRPr lang="en-US"/>
          </a:p>
        </p:txBody>
      </p:sp>
      <p:sp>
        <p:nvSpPr>
          <p:cNvPr id="8" name="Text 6"/>
          <p:cNvSpPr/>
          <p:nvPr/>
        </p:nvSpPr>
        <p:spPr>
          <a:xfrm>
            <a:off x="685800" y="22860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325880" y="2304288"/>
            <a:ext cx="2697480" cy="45720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Coder's &lt;reasoning&gt; block</a:t>
            </a:r>
            <a:endParaRPr lang="en-US" sz="1600" dirty="0"/>
          </a:p>
        </p:txBody>
      </p:sp>
      <p:sp>
        <p:nvSpPr>
          <p:cNvPr id="10" name="Text 8"/>
          <p:cNvSpPr/>
          <p:nvPr/>
        </p:nvSpPr>
        <p:spPr>
          <a:xfrm>
            <a:off x="685800" y="2926080"/>
            <a:ext cx="3246120" cy="22860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GUARDS AGAINST</a:t>
            </a:r>
            <a:endParaRPr lang="en-US" sz="1400" dirty="0"/>
          </a:p>
        </p:txBody>
      </p:sp>
      <p:sp>
        <p:nvSpPr>
          <p:cNvPr id="11" name="Text 9"/>
          <p:cNvSpPr/>
          <p:nvPr/>
        </p:nvSpPr>
        <p:spPr>
          <a:xfrm>
            <a:off x="685800" y="3154680"/>
            <a:ext cx="3246120" cy="50292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Coder writes SQL that ignores its own intent</a:t>
            </a:r>
            <a:endParaRPr lang="en-US" sz="1200" dirty="0"/>
          </a:p>
        </p:txBody>
      </p:sp>
      <p:sp>
        <p:nvSpPr>
          <p:cNvPr id="12" name="Text 10"/>
          <p:cNvSpPr/>
          <p:nvPr/>
        </p:nvSpPr>
        <p:spPr>
          <a:xfrm>
            <a:off x="685800" y="3703320"/>
            <a:ext cx="3246120" cy="22860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MECHANISM</a:t>
            </a:r>
            <a:endParaRPr lang="en-US" sz="1400" dirty="0"/>
          </a:p>
        </p:txBody>
      </p:sp>
      <p:sp>
        <p:nvSpPr>
          <p:cNvPr id="13" name="Text 11"/>
          <p:cNvSpPr/>
          <p:nvPr/>
        </p:nvSpPr>
        <p:spPr>
          <a:xfrm>
            <a:off x="685800" y="3931920"/>
            <a:ext cx="3246120" cy="15544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Before any SQL is emitted, the Coder is required to produce four named lines: Dimensions / Filters / Aggregation / Completeness.  Once the structure is committed in text, the model's own consistency bias makes it linguistically jarring to contradict it in the SQL that follows.</a:t>
            </a:r>
            <a:endParaRPr lang="en-US" sz="1200" dirty="0"/>
          </a:p>
        </p:txBody>
      </p:sp>
      <p:sp>
        <p:nvSpPr>
          <p:cNvPr id="14" name="Text 12"/>
          <p:cNvSpPr/>
          <p:nvPr/>
        </p:nvSpPr>
        <p:spPr>
          <a:xfrm>
            <a:off x="685800" y="5235556"/>
            <a:ext cx="3246120" cy="201168"/>
          </a:xfrm>
          <a:prstGeom prst="rect">
            <a:avLst/>
          </a:prstGeom>
          <a:noFill/>
          <a:ln/>
        </p:spPr>
        <p:txBody>
          <a:bodyPr wrap="square" lIns="0" tIns="0" rIns="0" bIns="0" rtlCol="0" anchor="ctr"/>
          <a:lstStyle/>
          <a:p>
            <a:pPr marL="0" indent="0">
              <a:buNone/>
            </a:pPr>
            <a:r>
              <a:rPr lang="en-US" sz="1400" b="1" kern="0" spc="300" dirty="0">
                <a:solidFill>
                  <a:srgbClr val="64748B"/>
                </a:solidFill>
                <a:latin typeface="Calibri" pitchFamily="34" charset="0"/>
                <a:ea typeface="Calibri" pitchFamily="34" charset="-122"/>
                <a:cs typeface="Calibri" pitchFamily="34" charset="-120"/>
              </a:rPr>
              <a:t>LIVES IN</a:t>
            </a:r>
            <a:endParaRPr lang="en-US" sz="1400" dirty="0"/>
          </a:p>
        </p:txBody>
      </p:sp>
      <p:sp>
        <p:nvSpPr>
          <p:cNvPr id="15" name="Text 13"/>
          <p:cNvSpPr/>
          <p:nvPr/>
        </p:nvSpPr>
        <p:spPr>
          <a:xfrm>
            <a:off x="685800" y="5430791"/>
            <a:ext cx="3246120" cy="201168"/>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Coder agent</a:t>
            </a:r>
            <a:endParaRPr lang="en-US" sz="1200" dirty="0"/>
          </a:p>
        </p:txBody>
      </p:sp>
      <p:sp>
        <p:nvSpPr>
          <p:cNvPr id="16" name="Shape 14"/>
          <p:cNvSpPr/>
          <p:nvPr/>
        </p:nvSpPr>
        <p:spPr>
          <a:xfrm>
            <a:off x="4297680" y="2103120"/>
            <a:ext cx="3703320" cy="3840480"/>
          </a:xfrm>
          <a:prstGeom prst="rect">
            <a:avLst/>
          </a:prstGeom>
          <a:solidFill>
            <a:srgbClr val="F8FAFC"/>
          </a:solidFill>
          <a:ln w="9525">
            <a:solidFill>
              <a:srgbClr val="E2E8F0"/>
            </a:solidFill>
            <a:prstDash val="solid"/>
          </a:ln>
        </p:spPr>
        <p:txBody>
          <a:bodyPr/>
          <a:lstStyle/>
          <a:p>
            <a:endParaRPr lang="en-US"/>
          </a:p>
        </p:txBody>
      </p:sp>
      <p:sp>
        <p:nvSpPr>
          <p:cNvPr id="17" name="Shape 15"/>
          <p:cNvSpPr/>
          <p:nvPr/>
        </p:nvSpPr>
        <p:spPr>
          <a:xfrm>
            <a:off x="4526280" y="2286000"/>
            <a:ext cx="502920" cy="502920"/>
          </a:xfrm>
          <a:prstGeom prst="ellipse">
            <a:avLst/>
          </a:prstGeom>
          <a:solidFill>
            <a:srgbClr val="0F766E"/>
          </a:solidFill>
          <a:ln w="12700">
            <a:solidFill>
              <a:srgbClr val="333333"/>
            </a:solidFill>
            <a:prstDash val="solid"/>
          </a:ln>
        </p:spPr>
        <p:txBody>
          <a:bodyPr/>
          <a:lstStyle/>
          <a:p>
            <a:endParaRPr lang="en-US"/>
          </a:p>
        </p:txBody>
      </p:sp>
      <p:sp>
        <p:nvSpPr>
          <p:cNvPr id="18" name="Text 16"/>
          <p:cNvSpPr/>
          <p:nvPr/>
        </p:nvSpPr>
        <p:spPr>
          <a:xfrm>
            <a:off x="4526280" y="22860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5166360" y="2304288"/>
            <a:ext cx="2697480" cy="45720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Pre-computed safe-values list</a:t>
            </a:r>
            <a:endParaRPr lang="en-US" sz="1600" dirty="0"/>
          </a:p>
        </p:txBody>
      </p:sp>
      <p:sp>
        <p:nvSpPr>
          <p:cNvPr id="20" name="Text 18"/>
          <p:cNvSpPr/>
          <p:nvPr/>
        </p:nvSpPr>
        <p:spPr>
          <a:xfrm>
            <a:off x="4526280" y="2926080"/>
            <a:ext cx="3246120" cy="22860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GUARDS AGAINST</a:t>
            </a:r>
            <a:endParaRPr lang="en-US" sz="1400" dirty="0"/>
          </a:p>
        </p:txBody>
      </p:sp>
      <p:sp>
        <p:nvSpPr>
          <p:cNvPr id="21" name="Text 19"/>
          <p:cNvSpPr/>
          <p:nvPr/>
        </p:nvSpPr>
        <p:spPr>
          <a:xfrm>
            <a:off x="4526280" y="3154680"/>
            <a:ext cx="3246120" cy="50292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Writer fabricates a subtotal that misses the candidate set</a:t>
            </a:r>
            <a:endParaRPr lang="en-US" sz="1200" dirty="0"/>
          </a:p>
        </p:txBody>
      </p:sp>
      <p:sp>
        <p:nvSpPr>
          <p:cNvPr id="22" name="Text 20"/>
          <p:cNvSpPr/>
          <p:nvPr/>
        </p:nvSpPr>
        <p:spPr>
          <a:xfrm>
            <a:off x="4526280" y="3703320"/>
            <a:ext cx="3246120" cy="22860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MECHANISM</a:t>
            </a:r>
            <a:endParaRPr lang="en-US" sz="1400" dirty="0"/>
          </a:p>
        </p:txBody>
      </p:sp>
      <p:sp>
        <p:nvSpPr>
          <p:cNvPr id="23" name="Text 21"/>
          <p:cNvSpPr/>
          <p:nvPr/>
        </p:nvSpPr>
        <p:spPr>
          <a:xfrm>
            <a:off x="4526280" y="3931920"/>
            <a:ext cx="3246120" cy="15544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After SQL runs, </a:t>
            </a:r>
            <a:r>
              <a:rPr lang="en-US" sz="1200" dirty="0" err="1">
                <a:solidFill>
                  <a:srgbClr val="334155"/>
                </a:solidFill>
                <a:latin typeface="Calibri" pitchFamily="34" charset="0"/>
                <a:ea typeface="Calibri" pitchFamily="34" charset="-122"/>
                <a:cs typeface="Calibri" pitchFamily="34" charset="-120"/>
              </a:rPr>
              <a:t>safe_derivations_summary</a:t>
            </a:r>
            <a:r>
              <a:rPr lang="en-US" sz="1200" dirty="0">
                <a:solidFill>
                  <a:srgbClr val="334155"/>
                </a:solidFill>
                <a:latin typeface="Calibri" pitchFamily="34" charset="0"/>
                <a:ea typeface="Calibri" pitchFamily="34" charset="-122"/>
                <a:cs typeface="Calibri" pitchFamily="34" charset="-120"/>
              </a:rPr>
              <a:t> computes in plain Python and every legitimate numeric derivation: grand totals, top-N partial sums, per-group subtotals, per-group row counts.  The Writer is instructed to pick numbers from this list rather than compute its own.</a:t>
            </a:r>
            <a:endParaRPr lang="en-US" sz="1200" dirty="0"/>
          </a:p>
        </p:txBody>
      </p:sp>
      <p:sp>
        <p:nvSpPr>
          <p:cNvPr id="24" name="Text 22"/>
          <p:cNvSpPr/>
          <p:nvPr/>
        </p:nvSpPr>
        <p:spPr>
          <a:xfrm>
            <a:off x="4526280" y="5235556"/>
            <a:ext cx="3246120" cy="201168"/>
          </a:xfrm>
          <a:prstGeom prst="rect">
            <a:avLst/>
          </a:prstGeom>
          <a:noFill/>
          <a:ln/>
        </p:spPr>
        <p:txBody>
          <a:bodyPr wrap="square" lIns="0" tIns="0" rIns="0" bIns="0" rtlCol="0" anchor="ctr"/>
          <a:lstStyle/>
          <a:p>
            <a:pPr marL="0" indent="0">
              <a:buNone/>
            </a:pPr>
            <a:r>
              <a:rPr lang="en-US" sz="1400" b="1" kern="0" spc="300" dirty="0">
                <a:solidFill>
                  <a:srgbClr val="64748B"/>
                </a:solidFill>
                <a:latin typeface="Calibri" pitchFamily="34" charset="0"/>
                <a:ea typeface="Calibri" pitchFamily="34" charset="-122"/>
                <a:cs typeface="Calibri" pitchFamily="34" charset="-120"/>
              </a:rPr>
              <a:t>LIVES IN</a:t>
            </a:r>
            <a:endParaRPr lang="en-US" sz="1400" dirty="0"/>
          </a:p>
        </p:txBody>
      </p:sp>
      <p:sp>
        <p:nvSpPr>
          <p:cNvPr id="25" name="Text 23"/>
          <p:cNvSpPr/>
          <p:nvPr/>
        </p:nvSpPr>
        <p:spPr>
          <a:xfrm>
            <a:off x="4526280" y="5430791"/>
            <a:ext cx="3246120" cy="201168"/>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Orchestrator (Python) → Writer agent</a:t>
            </a:r>
            <a:endParaRPr lang="en-US" sz="1200" dirty="0"/>
          </a:p>
        </p:txBody>
      </p:sp>
      <p:sp>
        <p:nvSpPr>
          <p:cNvPr id="26" name="Shape 24"/>
          <p:cNvSpPr/>
          <p:nvPr/>
        </p:nvSpPr>
        <p:spPr>
          <a:xfrm>
            <a:off x="8138160" y="2103120"/>
            <a:ext cx="3703320" cy="3840480"/>
          </a:xfrm>
          <a:prstGeom prst="rect">
            <a:avLst/>
          </a:prstGeom>
          <a:solidFill>
            <a:srgbClr val="F8FAFC"/>
          </a:solidFill>
          <a:ln w="9525">
            <a:solidFill>
              <a:srgbClr val="E2E8F0"/>
            </a:solidFill>
            <a:prstDash val="solid"/>
          </a:ln>
        </p:spPr>
        <p:txBody>
          <a:bodyPr/>
          <a:lstStyle/>
          <a:p>
            <a:endParaRPr lang="en-US"/>
          </a:p>
        </p:txBody>
      </p:sp>
      <p:sp>
        <p:nvSpPr>
          <p:cNvPr id="27" name="Shape 25"/>
          <p:cNvSpPr/>
          <p:nvPr/>
        </p:nvSpPr>
        <p:spPr>
          <a:xfrm>
            <a:off x="8366760" y="2286000"/>
            <a:ext cx="502920" cy="502920"/>
          </a:xfrm>
          <a:prstGeom prst="ellipse">
            <a:avLst/>
          </a:prstGeom>
          <a:solidFill>
            <a:srgbClr val="0F766E"/>
          </a:solidFill>
          <a:ln w="12700">
            <a:solidFill>
              <a:srgbClr val="333333"/>
            </a:solidFill>
            <a:prstDash val="solid"/>
          </a:ln>
        </p:spPr>
        <p:txBody>
          <a:bodyPr/>
          <a:lstStyle/>
          <a:p>
            <a:endParaRPr lang="en-US"/>
          </a:p>
        </p:txBody>
      </p:sp>
      <p:sp>
        <p:nvSpPr>
          <p:cNvPr id="28" name="Text 26"/>
          <p:cNvSpPr/>
          <p:nvPr/>
        </p:nvSpPr>
        <p:spPr>
          <a:xfrm>
            <a:off x="8366760" y="22860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7"/>
          <p:cNvSpPr/>
          <p:nvPr/>
        </p:nvSpPr>
        <p:spPr>
          <a:xfrm>
            <a:off x="9006840" y="2304288"/>
            <a:ext cx="2697480" cy="45720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Reasoning-vs-SQL verification</a:t>
            </a:r>
            <a:endParaRPr lang="en-US" sz="1600" dirty="0"/>
          </a:p>
        </p:txBody>
      </p:sp>
      <p:sp>
        <p:nvSpPr>
          <p:cNvPr id="30" name="Text 28"/>
          <p:cNvSpPr/>
          <p:nvPr/>
        </p:nvSpPr>
        <p:spPr>
          <a:xfrm>
            <a:off x="8366760" y="2926080"/>
            <a:ext cx="3246120" cy="22860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GUARDS AGAINST</a:t>
            </a:r>
            <a:endParaRPr lang="en-US" sz="1400" dirty="0"/>
          </a:p>
        </p:txBody>
      </p:sp>
      <p:sp>
        <p:nvSpPr>
          <p:cNvPr id="31" name="Text 29"/>
          <p:cNvSpPr/>
          <p:nvPr/>
        </p:nvSpPr>
        <p:spPr>
          <a:xfrm>
            <a:off x="8366760" y="3154680"/>
            <a:ext cx="3246120" cy="502920"/>
          </a:xfrm>
          <a:prstGeom prst="rect">
            <a:avLst/>
          </a:prstGeom>
          <a:noFill/>
          <a:ln/>
        </p:spPr>
        <p:txBody>
          <a:bodyPr wrap="square" lIns="0" tIns="0" rIns="0" bIns="0" rtlCol="0" anchor="t"/>
          <a:lstStyle/>
          <a:p>
            <a:pPr marL="0" indent="0">
              <a:buNone/>
            </a:pPr>
            <a:r>
              <a:rPr lang="en-US" sz="1200" i="1" dirty="0">
                <a:solidFill>
                  <a:srgbClr val="0F172A"/>
                </a:solidFill>
                <a:latin typeface="Calibri" pitchFamily="34" charset="0"/>
                <a:ea typeface="Calibri" pitchFamily="34" charset="-122"/>
                <a:cs typeface="Calibri" pitchFamily="34" charset="-120"/>
              </a:rPr>
              <a:t>Plausible-looking SQL that quietly contradicts the reasoning</a:t>
            </a:r>
            <a:endParaRPr lang="en-US" sz="1200" dirty="0"/>
          </a:p>
        </p:txBody>
      </p:sp>
      <p:sp>
        <p:nvSpPr>
          <p:cNvPr id="32" name="Text 30"/>
          <p:cNvSpPr/>
          <p:nvPr/>
        </p:nvSpPr>
        <p:spPr>
          <a:xfrm>
            <a:off x="8366760" y="3703320"/>
            <a:ext cx="3246120" cy="22860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MECHANISM</a:t>
            </a:r>
            <a:endParaRPr lang="en-US" sz="1400" dirty="0"/>
          </a:p>
        </p:txBody>
      </p:sp>
      <p:sp>
        <p:nvSpPr>
          <p:cNvPr id="33" name="Text 31"/>
          <p:cNvSpPr/>
          <p:nvPr/>
        </p:nvSpPr>
        <p:spPr>
          <a:xfrm>
            <a:off x="8366760" y="3931920"/>
            <a:ext cx="3246120" cy="155448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The Code Reviewer reads both the &lt;reasoning&gt; block and the SQL, and verifies one against the other.  Reasoning says “three dimensions” but SQL groups by two → retry.  Reasoning says “no LIMIT” but SQL has LIMIT 30 → retry.</a:t>
            </a:r>
            <a:endParaRPr lang="en-US" sz="1200" dirty="0"/>
          </a:p>
        </p:txBody>
      </p:sp>
      <p:sp>
        <p:nvSpPr>
          <p:cNvPr id="34" name="Text 32"/>
          <p:cNvSpPr/>
          <p:nvPr/>
        </p:nvSpPr>
        <p:spPr>
          <a:xfrm>
            <a:off x="8366760" y="5235556"/>
            <a:ext cx="3246120" cy="201168"/>
          </a:xfrm>
          <a:prstGeom prst="rect">
            <a:avLst/>
          </a:prstGeom>
          <a:noFill/>
          <a:ln/>
        </p:spPr>
        <p:txBody>
          <a:bodyPr wrap="square" lIns="0" tIns="0" rIns="0" bIns="0" rtlCol="0" anchor="ctr"/>
          <a:lstStyle/>
          <a:p>
            <a:pPr marL="0" indent="0">
              <a:buNone/>
            </a:pPr>
            <a:r>
              <a:rPr lang="en-US" sz="1400" b="1" kern="0" spc="300" dirty="0">
                <a:solidFill>
                  <a:srgbClr val="64748B"/>
                </a:solidFill>
                <a:latin typeface="Calibri" pitchFamily="34" charset="0"/>
                <a:ea typeface="Calibri" pitchFamily="34" charset="-122"/>
                <a:cs typeface="Calibri" pitchFamily="34" charset="-120"/>
              </a:rPr>
              <a:t>LIVES IN</a:t>
            </a:r>
            <a:endParaRPr lang="en-US" sz="1400" dirty="0"/>
          </a:p>
        </p:txBody>
      </p:sp>
      <p:sp>
        <p:nvSpPr>
          <p:cNvPr id="35" name="Text 33"/>
          <p:cNvSpPr/>
          <p:nvPr/>
        </p:nvSpPr>
        <p:spPr>
          <a:xfrm>
            <a:off x="8366760" y="5430791"/>
            <a:ext cx="3246120" cy="201168"/>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Code Reviewer agent</a:t>
            </a:r>
            <a:endParaRPr lang="en-US" sz="1200" dirty="0"/>
          </a:p>
        </p:txBody>
      </p:sp>
      <p:sp>
        <p:nvSpPr>
          <p:cNvPr id="36" name="Shape 34"/>
          <p:cNvSpPr/>
          <p:nvPr/>
        </p:nvSpPr>
        <p:spPr>
          <a:xfrm>
            <a:off x="457200" y="6126480"/>
            <a:ext cx="11247120" cy="365760"/>
          </a:xfrm>
          <a:prstGeom prst="rect">
            <a:avLst/>
          </a:prstGeom>
          <a:solidFill>
            <a:srgbClr val="CCFBF1"/>
          </a:solidFill>
          <a:ln w="6350">
            <a:solidFill>
              <a:srgbClr val="0F766E"/>
            </a:solidFill>
            <a:prstDash val="solid"/>
          </a:ln>
        </p:spPr>
        <p:txBody>
          <a:bodyPr/>
          <a:lstStyle/>
          <a:p>
            <a:endParaRPr lang="en-US"/>
          </a:p>
        </p:txBody>
      </p:sp>
      <p:sp>
        <p:nvSpPr>
          <p:cNvPr id="37" name="Text 35"/>
          <p:cNvSpPr/>
          <p:nvPr/>
        </p:nvSpPr>
        <p:spPr>
          <a:xfrm>
            <a:off x="685800" y="6172200"/>
            <a:ext cx="107899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Scaffold 1 prevents missed dimensions.  Scaffold 2 prevents fabricated subtotals.  Scaffold 3 catches Scaffold 1 being ignored.  </a:t>
            </a:r>
            <a:r>
              <a:rPr lang="en-US" sz="1200" b="1" dirty="0">
                <a:solidFill>
                  <a:srgbClr val="0F766E"/>
                </a:solidFill>
                <a:latin typeface="Calibri" pitchFamily="34" charset="0"/>
                <a:ea typeface="Calibri" pitchFamily="34" charset="-122"/>
                <a:cs typeface="Calibri" pitchFamily="34" charset="-120"/>
              </a:rPr>
              <a:t>Defence in depth, by design.</a:t>
            </a:r>
            <a:endParaRPr lang="en-US" sz="1200" dirty="0"/>
          </a:p>
        </p:txBody>
      </p:sp>
      <p:sp>
        <p:nvSpPr>
          <p:cNvPr id="38" name="Text 36"/>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17 / 27</a:t>
            </a:r>
            <a:endParaRPr lang="en-US" sz="900" dirty="0"/>
          </a:p>
        </p:txBody>
      </p:sp>
      <p:sp>
        <p:nvSpPr>
          <p:cNvPr id="39" name="Text 37"/>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WHY REVIEWER ≠ GENERATOR</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Reflection: Cross-Review, Not Self-Critique</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5029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Each reviewer's verdict is a closed enum and each </a:t>
            </a:r>
            <a:r>
              <a:rPr lang="en-US" sz="1400" i="1" dirty="0">
                <a:solidFill>
                  <a:srgbClr val="64748B"/>
                </a:solidFill>
                <a:latin typeface="Calibri" pitchFamily="34" charset="0"/>
                <a:ea typeface="Calibri" pitchFamily="34" charset="-122"/>
                <a:cs typeface="Calibri" pitchFamily="34" charset="-120"/>
              </a:rPr>
              <a:t>reviewer's</a:t>
            </a:r>
            <a:r>
              <a:rPr lang="en-US" sz="1300" i="1" dirty="0">
                <a:solidFill>
                  <a:srgbClr val="64748B"/>
                </a:solidFill>
                <a:latin typeface="Calibri" pitchFamily="34" charset="0"/>
                <a:ea typeface="Calibri" pitchFamily="34" charset="-122"/>
                <a:cs typeface="Calibri" pitchFamily="34" charset="-120"/>
              </a:rPr>
              <a:t> feedback is a concise, concrete suggestion.  The reasoning-vs-reflection split was chosen for two specific reasons.</a:t>
            </a:r>
            <a:endParaRPr lang="en-US" sz="1300" dirty="0"/>
          </a:p>
        </p:txBody>
      </p:sp>
      <p:sp>
        <p:nvSpPr>
          <p:cNvPr id="6" name="Shape 4"/>
          <p:cNvSpPr/>
          <p:nvPr/>
        </p:nvSpPr>
        <p:spPr>
          <a:xfrm>
            <a:off x="457200" y="2011680"/>
            <a:ext cx="5486400" cy="146304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2011680"/>
            <a:ext cx="73152" cy="1463040"/>
          </a:xfrm>
          <a:prstGeom prst="rect">
            <a:avLst/>
          </a:prstGeom>
          <a:solidFill>
            <a:srgbClr val="B45309"/>
          </a:solidFill>
          <a:ln w="12700">
            <a:solidFill>
              <a:srgbClr val="B45309"/>
            </a:solidFill>
            <a:prstDash val="solid"/>
          </a:ln>
        </p:spPr>
        <p:txBody>
          <a:bodyPr/>
          <a:lstStyle/>
          <a:p>
            <a:endParaRPr lang="en-US"/>
          </a:p>
        </p:txBody>
      </p:sp>
      <p:sp>
        <p:nvSpPr>
          <p:cNvPr id="8" name="Text 6"/>
          <p:cNvSpPr/>
          <p:nvPr/>
        </p:nvSpPr>
        <p:spPr>
          <a:xfrm>
            <a:off x="685800" y="2121408"/>
            <a:ext cx="5029200" cy="27432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REASON 1 — DILUTED ATTENTION</a:t>
            </a:r>
            <a:endParaRPr lang="en-US" sz="1400" dirty="0"/>
          </a:p>
        </p:txBody>
      </p:sp>
      <p:sp>
        <p:nvSpPr>
          <p:cNvPr id="9" name="Text 7"/>
          <p:cNvSpPr/>
          <p:nvPr/>
        </p:nvSpPr>
        <p:spPr>
          <a:xfrm>
            <a:off x="685800" y="2395728"/>
            <a:ext cx="5074920" cy="100584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Prompting one agent to both produce and critique its own output dilutes the system prompt and produces measurably worse criticism.  The generator's prior toward its own output overwhelms the critic's job.</a:t>
            </a:r>
            <a:endParaRPr lang="en-US" sz="1400" dirty="0"/>
          </a:p>
        </p:txBody>
      </p:sp>
      <p:sp>
        <p:nvSpPr>
          <p:cNvPr id="10" name="Shape 8"/>
          <p:cNvSpPr/>
          <p:nvPr/>
        </p:nvSpPr>
        <p:spPr>
          <a:xfrm>
            <a:off x="6263640" y="2011680"/>
            <a:ext cx="5486400" cy="1463040"/>
          </a:xfrm>
          <a:prstGeom prst="rect">
            <a:avLst/>
          </a:prstGeom>
          <a:solidFill>
            <a:srgbClr val="F8FAFC"/>
          </a:solidFill>
          <a:ln w="9525">
            <a:solidFill>
              <a:srgbClr val="E2E8F0"/>
            </a:solidFill>
            <a:prstDash val="solid"/>
          </a:ln>
        </p:spPr>
        <p:txBody>
          <a:bodyPr/>
          <a:lstStyle/>
          <a:p>
            <a:endParaRPr lang="en-US"/>
          </a:p>
        </p:txBody>
      </p:sp>
      <p:sp>
        <p:nvSpPr>
          <p:cNvPr id="11" name="Shape 9"/>
          <p:cNvSpPr/>
          <p:nvPr/>
        </p:nvSpPr>
        <p:spPr>
          <a:xfrm>
            <a:off x="6263640" y="2011680"/>
            <a:ext cx="73152" cy="1463040"/>
          </a:xfrm>
          <a:prstGeom prst="rect">
            <a:avLst/>
          </a:prstGeom>
          <a:solidFill>
            <a:srgbClr val="B45309"/>
          </a:solidFill>
          <a:ln w="12700">
            <a:solidFill>
              <a:srgbClr val="B45309"/>
            </a:solidFill>
            <a:prstDash val="solid"/>
          </a:ln>
        </p:spPr>
        <p:txBody>
          <a:bodyPr/>
          <a:lstStyle/>
          <a:p>
            <a:endParaRPr lang="en-US"/>
          </a:p>
        </p:txBody>
      </p:sp>
      <p:sp>
        <p:nvSpPr>
          <p:cNvPr id="12" name="Text 10"/>
          <p:cNvSpPr/>
          <p:nvPr/>
        </p:nvSpPr>
        <p:spPr>
          <a:xfrm>
            <a:off x="6492240" y="2121408"/>
            <a:ext cx="5029200" cy="27432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REASON 2 — CLEAN BUDGET BOUNDARY</a:t>
            </a:r>
            <a:endParaRPr lang="en-US" sz="1400" dirty="0"/>
          </a:p>
        </p:txBody>
      </p:sp>
      <p:sp>
        <p:nvSpPr>
          <p:cNvPr id="13" name="Text 11"/>
          <p:cNvSpPr/>
          <p:nvPr/>
        </p:nvSpPr>
        <p:spPr>
          <a:xfrm>
            <a:off x="6492240" y="2395728"/>
            <a:ext cx="5074920" cy="100584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The reviewer's verdict is what determines whether the loop continues or terminates.  That decision belongs in its own agent with its own narrow prompt and its own line in the retry-budget table.</a:t>
            </a:r>
            <a:endParaRPr lang="en-US" sz="1400" dirty="0"/>
          </a:p>
        </p:txBody>
      </p:sp>
      <p:sp>
        <p:nvSpPr>
          <p:cNvPr id="14" name="Text 12"/>
          <p:cNvSpPr/>
          <p:nvPr/>
        </p:nvSpPr>
        <p:spPr>
          <a:xfrm>
            <a:off x="457200" y="3703320"/>
            <a:ext cx="1124712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FOUR DEDICATED REVIEWERS — EACH WITH ITS OWN GUARD</a:t>
            </a:r>
            <a:endParaRPr lang="en-US" sz="1400" dirty="0"/>
          </a:p>
        </p:txBody>
      </p:sp>
      <p:sp>
        <p:nvSpPr>
          <p:cNvPr id="15" name="Shape 13"/>
          <p:cNvSpPr/>
          <p:nvPr/>
        </p:nvSpPr>
        <p:spPr>
          <a:xfrm>
            <a:off x="457200" y="4069080"/>
            <a:ext cx="2743200" cy="1828800"/>
          </a:xfrm>
          <a:prstGeom prst="rect">
            <a:avLst/>
          </a:prstGeom>
          <a:solidFill>
            <a:srgbClr val="F8FAFC"/>
          </a:solidFill>
          <a:ln w="9525">
            <a:solidFill>
              <a:srgbClr val="E2E8F0"/>
            </a:solidFill>
            <a:prstDash val="solid"/>
          </a:ln>
        </p:spPr>
        <p:txBody>
          <a:bodyPr/>
          <a:lstStyle/>
          <a:p>
            <a:endParaRPr lang="en-US"/>
          </a:p>
        </p:txBody>
      </p:sp>
      <p:sp>
        <p:nvSpPr>
          <p:cNvPr id="16" name="Shape 14"/>
          <p:cNvSpPr/>
          <p:nvPr/>
        </p:nvSpPr>
        <p:spPr>
          <a:xfrm>
            <a:off x="457200" y="4069080"/>
            <a:ext cx="73152" cy="1828800"/>
          </a:xfrm>
          <a:prstGeom prst="rect">
            <a:avLst/>
          </a:prstGeom>
          <a:solidFill>
            <a:srgbClr val="B45309"/>
          </a:solidFill>
          <a:ln w="12700">
            <a:solidFill>
              <a:srgbClr val="B45309"/>
            </a:solidFill>
            <a:prstDash val="solid"/>
          </a:ln>
        </p:spPr>
        <p:txBody>
          <a:bodyPr/>
          <a:lstStyle/>
          <a:p>
            <a:endParaRPr lang="en-US"/>
          </a:p>
        </p:txBody>
      </p:sp>
      <p:sp>
        <p:nvSpPr>
          <p:cNvPr id="17" name="Text 15"/>
          <p:cNvSpPr/>
          <p:nvPr/>
        </p:nvSpPr>
        <p:spPr>
          <a:xfrm>
            <a:off x="640080" y="4160520"/>
            <a:ext cx="24688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Code Reviewer</a:t>
            </a:r>
            <a:endParaRPr lang="en-US" sz="1600" dirty="0"/>
          </a:p>
        </p:txBody>
      </p:sp>
      <p:sp>
        <p:nvSpPr>
          <p:cNvPr id="18" name="Text 16"/>
          <p:cNvSpPr/>
          <p:nvPr/>
        </p:nvSpPr>
        <p:spPr>
          <a:xfrm>
            <a:off x="640080" y="452628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Guards against</a:t>
            </a:r>
            <a:endParaRPr lang="en-US" sz="1200" dirty="0"/>
          </a:p>
        </p:txBody>
      </p:sp>
      <p:sp>
        <p:nvSpPr>
          <p:cNvPr id="19" name="Text 17"/>
          <p:cNvSpPr/>
          <p:nvPr/>
        </p:nvSpPr>
        <p:spPr>
          <a:xfrm>
            <a:off x="640080" y="4754880"/>
            <a:ext cx="2468880" cy="5943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SQL correctness + reasoning consistency</a:t>
            </a:r>
            <a:endParaRPr lang="en-US" sz="1200" dirty="0"/>
          </a:p>
        </p:txBody>
      </p:sp>
      <p:sp>
        <p:nvSpPr>
          <p:cNvPr id="20" name="Text 18"/>
          <p:cNvSpPr/>
          <p:nvPr/>
        </p:nvSpPr>
        <p:spPr>
          <a:xfrm>
            <a:off x="640080" y="534924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Verdict enum</a:t>
            </a:r>
            <a:endParaRPr lang="en-US" sz="1200" dirty="0"/>
          </a:p>
        </p:txBody>
      </p:sp>
      <p:sp>
        <p:nvSpPr>
          <p:cNvPr id="21" name="Text 19"/>
          <p:cNvSpPr/>
          <p:nvPr/>
        </p:nvSpPr>
        <p:spPr>
          <a:xfrm>
            <a:off x="640080" y="5559552"/>
            <a:ext cx="2468880" cy="292608"/>
          </a:xfrm>
          <a:prstGeom prst="rect">
            <a:avLst/>
          </a:prstGeom>
          <a:noFill/>
          <a:ln/>
        </p:spPr>
        <p:txBody>
          <a:bodyPr wrap="square" lIns="0" tIns="0" rIns="0" bIns="0" rtlCol="0" anchor="ctr"/>
          <a:lstStyle/>
          <a:p>
            <a:pPr marL="0" indent="0">
              <a:buNone/>
            </a:pPr>
            <a:r>
              <a:rPr lang="en-US" sz="1200" dirty="0">
                <a:solidFill>
                  <a:srgbClr val="B45309"/>
                </a:solidFill>
                <a:latin typeface="Consolas" pitchFamily="34" charset="0"/>
                <a:ea typeface="Consolas" pitchFamily="34" charset="-122"/>
                <a:cs typeface="Consolas" pitchFamily="34" charset="-120"/>
              </a:rPr>
              <a:t>{ ok · retry }</a:t>
            </a:r>
            <a:endParaRPr lang="en-US" sz="1200" dirty="0"/>
          </a:p>
        </p:txBody>
      </p:sp>
      <p:sp>
        <p:nvSpPr>
          <p:cNvPr id="22" name="Shape 20"/>
          <p:cNvSpPr/>
          <p:nvPr/>
        </p:nvSpPr>
        <p:spPr>
          <a:xfrm>
            <a:off x="3291840" y="4069080"/>
            <a:ext cx="2743200" cy="1828800"/>
          </a:xfrm>
          <a:prstGeom prst="rect">
            <a:avLst/>
          </a:prstGeom>
          <a:solidFill>
            <a:srgbClr val="F8FAFC"/>
          </a:solidFill>
          <a:ln w="9525">
            <a:solidFill>
              <a:srgbClr val="E2E8F0"/>
            </a:solidFill>
            <a:prstDash val="solid"/>
          </a:ln>
        </p:spPr>
        <p:txBody>
          <a:bodyPr/>
          <a:lstStyle/>
          <a:p>
            <a:endParaRPr lang="en-US"/>
          </a:p>
        </p:txBody>
      </p:sp>
      <p:sp>
        <p:nvSpPr>
          <p:cNvPr id="23" name="Shape 21"/>
          <p:cNvSpPr/>
          <p:nvPr/>
        </p:nvSpPr>
        <p:spPr>
          <a:xfrm>
            <a:off x="3291840" y="4069080"/>
            <a:ext cx="73152" cy="1828800"/>
          </a:xfrm>
          <a:prstGeom prst="rect">
            <a:avLst/>
          </a:prstGeom>
          <a:solidFill>
            <a:srgbClr val="0F766E"/>
          </a:solidFill>
          <a:ln w="12700">
            <a:solidFill>
              <a:srgbClr val="0F766E"/>
            </a:solidFill>
            <a:prstDash val="solid"/>
          </a:ln>
        </p:spPr>
        <p:txBody>
          <a:bodyPr/>
          <a:lstStyle/>
          <a:p>
            <a:endParaRPr lang="en-US"/>
          </a:p>
        </p:txBody>
      </p:sp>
      <p:sp>
        <p:nvSpPr>
          <p:cNvPr id="24" name="Text 22"/>
          <p:cNvSpPr/>
          <p:nvPr/>
        </p:nvSpPr>
        <p:spPr>
          <a:xfrm>
            <a:off x="3474720" y="4160520"/>
            <a:ext cx="24688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Output Reviewer</a:t>
            </a:r>
            <a:endParaRPr lang="en-US" sz="1600" dirty="0"/>
          </a:p>
        </p:txBody>
      </p:sp>
      <p:sp>
        <p:nvSpPr>
          <p:cNvPr id="25" name="Text 23"/>
          <p:cNvSpPr/>
          <p:nvPr/>
        </p:nvSpPr>
        <p:spPr>
          <a:xfrm>
            <a:off x="3474720" y="452628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Guards against</a:t>
            </a:r>
            <a:endParaRPr lang="en-US" sz="1200" dirty="0"/>
          </a:p>
        </p:txBody>
      </p:sp>
      <p:sp>
        <p:nvSpPr>
          <p:cNvPr id="26" name="Text 24"/>
          <p:cNvSpPr/>
          <p:nvPr/>
        </p:nvSpPr>
        <p:spPr>
          <a:xfrm>
            <a:off x="3474720" y="4754880"/>
            <a:ext cx="2468880" cy="5943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Do the rows answer the question?</a:t>
            </a:r>
            <a:endParaRPr lang="en-US" sz="1200" dirty="0"/>
          </a:p>
        </p:txBody>
      </p:sp>
      <p:sp>
        <p:nvSpPr>
          <p:cNvPr id="27" name="Text 25"/>
          <p:cNvSpPr/>
          <p:nvPr/>
        </p:nvSpPr>
        <p:spPr>
          <a:xfrm>
            <a:off x="3474720" y="534924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Verdict enum</a:t>
            </a:r>
            <a:endParaRPr lang="en-US" sz="1200" dirty="0"/>
          </a:p>
        </p:txBody>
      </p:sp>
      <p:sp>
        <p:nvSpPr>
          <p:cNvPr id="28" name="Text 26"/>
          <p:cNvSpPr/>
          <p:nvPr/>
        </p:nvSpPr>
        <p:spPr>
          <a:xfrm>
            <a:off x="3474720" y="5559552"/>
            <a:ext cx="2468880" cy="292608"/>
          </a:xfrm>
          <a:prstGeom prst="rect">
            <a:avLst/>
          </a:prstGeom>
          <a:noFill/>
          <a:ln/>
        </p:spPr>
        <p:txBody>
          <a:bodyPr wrap="square" lIns="0" tIns="0" rIns="0" bIns="0" rtlCol="0" anchor="ctr"/>
          <a:lstStyle/>
          <a:p>
            <a:pPr marL="0" indent="0">
              <a:buNone/>
            </a:pPr>
            <a:r>
              <a:rPr lang="en-US" sz="1200" dirty="0">
                <a:solidFill>
                  <a:srgbClr val="0F766E"/>
                </a:solidFill>
                <a:latin typeface="Consolas" pitchFamily="34" charset="0"/>
                <a:ea typeface="Consolas" pitchFamily="34" charset="-122"/>
                <a:cs typeface="Consolas" pitchFamily="34" charset="-120"/>
              </a:rPr>
              <a:t>{ ok · retry } + viz_applies</a:t>
            </a:r>
            <a:endParaRPr lang="en-US" sz="1200" dirty="0"/>
          </a:p>
        </p:txBody>
      </p:sp>
      <p:sp>
        <p:nvSpPr>
          <p:cNvPr id="29" name="Shape 27"/>
          <p:cNvSpPr/>
          <p:nvPr/>
        </p:nvSpPr>
        <p:spPr>
          <a:xfrm>
            <a:off x="6126480" y="4069080"/>
            <a:ext cx="2743200" cy="1828800"/>
          </a:xfrm>
          <a:prstGeom prst="rect">
            <a:avLst/>
          </a:prstGeom>
          <a:solidFill>
            <a:srgbClr val="F8FAFC"/>
          </a:solidFill>
          <a:ln w="9525">
            <a:solidFill>
              <a:srgbClr val="E2E8F0"/>
            </a:solidFill>
            <a:prstDash val="solid"/>
          </a:ln>
        </p:spPr>
        <p:txBody>
          <a:bodyPr/>
          <a:lstStyle/>
          <a:p>
            <a:endParaRPr lang="en-US"/>
          </a:p>
        </p:txBody>
      </p:sp>
      <p:sp>
        <p:nvSpPr>
          <p:cNvPr id="30" name="Shape 28"/>
          <p:cNvSpPr/>
          <p:nvPr/>
        </p:nvSpPr>
        <p:spPr>
          <a:xfrm>
            <a:off x="6126480" y="4069080"/>
            <a:ext cx="73152" cy="1828800"/>
          </a:xfrm>
          <a:prstGeom prst="rect">
            <a:avLst/>
          </a:prstGeom>
          <a:solidFill>
            <a:srgbClr val="15803D"/>
          </a:solidFill>
          <a:ln w="12700">
            <a:solidFill>
              <a:srgbClr val="15803D"/>
            </a:solidFill>
            <a:prstDash val="solid"/>
          </a:ln>
        </p:spPr>
        <p:txBody>
          <a:bodyPr/>
          <a:lstStyle/>
          <a:p>
            <a:endParaRPr lang="en-US"/>
          </a:p>
        </p:txBody>
      </p:sp>
      <p:sp>
        <p:nvSpPr>
          <p:cNvPr id="31" name="Text 29"/>
          <p:cNvSpPr/>
          <p:nvPr/>
        </p:nvSpPr>
        <p:spPr>
          <a:xfrm>
            <a:off x="6309360" y="4160520"/>
            <a:ext cx="24688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Viz Code Reviewer</a:t>
            </a:r>
            <a:endParaRPr lang="en-US" sz="1600" dirty="0"/>
          </a:p>
        </p:txBody>
      </p:sp>
      <p:sp>
        <p:nvSpPr>
          <p:cNvPr id="32" name="Text 30"/>
          <p:cNvSpPr/>
          <p:nvPr/>
        </p:nvSpPr>
        <p:spPr>
          <a:xfrm>
            <a:off x="6309360" y="452628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Guards against</a:t>
            </a:r>
            <a:endParaRPr lang="en-US" sz="1200" dirty="0"/>
          </a:p>
        </p:txBody>
      </p:sp>
      <p:sp>
        <p:nvSpPr>
          <p:cNvPr id="33" name="Text 31"/>
          <p:cNvSpPr/>
          <p:nvPr/>
        </p:nvSpPr>
        <p:spPr>
          <a:xfrm>
            <a:off x="6309360" y="4754880"/>
            <a:ext cx="2468880" cy="5943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Static safety check on viz code</a:t>
            </a:r>
            <a:endParaRPr lang="en-US" sz="1200" dirty="0"/>
          </a:p>
        </p:txBody>
      </p:sp>
      <p:sp>
        <p:nvSpPr>
          <p:cNvPr id="34" name="Text 32"/>
          <p:cNvSpPr/>
          <p:nvPr/>
        </p:nvSpPr>
        <p:spPr>
          <a:xfrm>
            <a:off x="6309360" y="534924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Verdict enum</a:t>
            </a:r>
            <a:endParaRPr lang="en-US" sz="1200" dirty="0"/>
          </a:p>
        </p:txBody>
      </p:sp>
      <p:sp>
        <p:nvSpPr>
          <p:cNvPr id="35" name="Text 33"/>
          <p:cNvSpPr/>
          <p:nvPr/>
        </p:nvSpPr>
        <p:spPr>
          <a:xfrm>
            <a:off x="6309360" y="5559552"/>
            <a:ext cx="2468880" cy="292608"/>
          </a:xfrm>
          <a:prstGeom prst="rect">
            <a:avLst/>
          </a:prstGeom>
          <a:noFill/>
          <a:ln/>
        </p:spPr>
        <p:txBody>
          <a:bodyPr wrap="square" lIns="0" tIns="0" rIns="0" bIns="0" rtlCol="0" anchor="ctr"/>
          <a:lstStyle/>
          <a:p>
            <a:pPr marL="0" indent="0">
              <a:buNone/>
            </a:pPr>
            <a:r>
              <a:rPr lang="en-US" sz="1200" dirty="0">
                <a:solidFill>
                  <a:srgbClr val="15803D"/>
                </a:solidFill>
                <a:latin typeface="Consolas" pitchFamily="34" charset="0"/>
                <a:ea typeface="Consolas" pitchFamily="34" charset="-122"/>
                <a:cs typeface="Consolas" pitchFamily="34" charset="-120"/>
              </a:rPr>
              <a:t>{ ok · retry }</a:t>
            </a:r>
            <a:endParaRPr lang="en-US" sz="1200" dirty="0"/>
          </a:p>
        </p:txBody>
      </p:sp>
      <p:sp>
        <p:nvSpPr>
          <p:cNvPr id="36" name="Shape 34"/>
          <p:cNvSpPr/>
          <p:nvPr/>
        </p:nvSpPr>
        <p:spPr>
          <a:xfrm>
            <a:off x="8961120" y="4069080"/>
            <a:ext cx="2743200" cy="1828800"/>
          </a:xfrm>
          <a:prstGeom prst="rect">
            <a:avLst/>
          </a:prstGeom>
          <a:solidFill>
            <a:srgbClr val="F8FAFC"/>
          </a:solidFill>
          <a:ln w="9525">
            <a:solidFill>
              <a:srgbClr val="E2E8F0"/>
            </a:solidFill>
            <a:prstDash val="solid"/>
          </a:ln>
        </p:spPr>
        <p:txBody>
          <a:bodyPr/>
          <a:lstStyle/>
          <a:p>
            <a:endParaRPr lang="en-US"/>
          </a:p>
        </p:txBody>
      </p:sp>
      <p:sp>
        <p:nvSpPr>
          <p:cNvPr id="37" name="Shape 35"/>
          <p:cNvSpPr/>
          <p:nvPr/>
        </p:nvSpPr>
        <p:spPr>
          <a:xfrm>
            <a:off x="8961120" y="4069080"/>
            <a:ext cx="73152" cy="1828800"/>
          </a:xfrm>
          <a:prstGeom prst="rect">
            <a:avLst/>
          </a:prstGeom>
          <a:solidFill>
            <a:srgbClr val="1E293B"/>
          </a:solidFill>
          <a:ln w="12700">
            <a:solidFill>
              <a:srgbClr val="1E293B"/>
            </a:solidFill>
            <a:prstDash val="solid"/>
          </a:ln>
        </p:spPr>
        <p:txBody>
          <a:bodyPr/>
          <a:lstStyle/>
          <a:p>
            <a:endParaRPr lang="en-US"/>
          </a:p>
        </p:txBody>
      </p:sp>
      <p:sp>
        <p:nvSpPr>
          <p:cNvPr id="38" name="Text 36"/>
          <p:cNvSpPr/>
          <p:nvPr/>
        </p:nvSpPr>
        <p:spPr>
          <a:xfrm>
            <a:off x="9144000" y="4160520"/>
            <a:ext cx="246888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Viz Reviewer (mm)</a:t>
            </a:r>
            <a:endParaRPr lang="en-US" sz="1600" dirty="0"/>
          </a:p>
        </p:txBody>
      </p:sp>
      <p:sp>
        <p:nvSpPr>
          <p:cNvPr id="39" name="Text 37"/>
          <p:cNvSpPr/>
          <p:nvPr/>
        </p:nvSpPr>
        <p:spPr>
          <a:xfrm>
            <a:off x="9144000" y="452628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Guards against</a:t>
            </a:r>
            <a:endParaRPr lang="en-US" sz="1200" dirty="0"/>
          </a:p>
        </p:txBody>
      </p:sp>
      <p:sp>
        <p:nvSpPr>
          <p:cNvPr id="40" name="Text 38"/>
          <p:cNvSpPr/>
          <p:nvPr/>
        </p:nvSpPr>
        <p:spPr>
          <a:xfrm>
            <a:off x="9144000" y="4754880"/>
            <a:ext cx="2468880" cy="59436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Multimodal: judges the rendered PNG</a:t>
            </a:r>
            <a:endParaRPr lang="en-US" sz="1200" dirty="0"/>
          </a:p>
        </p:txBody>
      </p:sp>
      <p:sp>
        <p:nvSpPr>
          <p:cNvPr id="41" name="Text 39"/>
          <p:cNvSpPr/>
          <p:nvPr/>
        </p:nvSpPr>
        <p:spPr>
          <a:xfrm>
            <a:off x="9144000" y="5349240"/>
            <a:ext cx="2468880" cy="228600"/>
          </a:xfrm>
          <a:prstGeom prst="rect">
            <a:avLst/>
          </a:prstGeom>
          <a:noFill/>
          <a:ln/>
        </p:spPr>
        <p:txBody>
          <a:bodyPr wrap="square" lIns="0" tIns="0" rIns="0" bIns="0" rtlCol="0" anchor="ctr"/>
          <a:lstStyle/>
          <a:p>
            <a:pPr marL="0" indent="0">
              <a:buNone/>
            </a:pPr>
            <a:r>
              <a:rPr lang="en-US" sz="1200" b="1" kern="0" spc="200" dirty="0">
                <a:solidFill>
                  <a:srgbClr val="64748B"/>
                </a:solidFill>
                <a:latin typeface="Calibri" pitchFamily="34" charset="0"/>
                <a:ea typeface="Calibri" pitchFamily="34" charset="-122"/>
                <a:cs typeface="Calibri" pitchFamily="34" charset="-120"/>
              </a:rPr>
              <a:t>Verdict enum</a:t>
            </a:r>
            <a:endParaRPr lang="en-US" sz="1200" dirty="0"/>
          </a:p>
        </p:txBody>
      </p:sp>
      <p:sp>
        <p:nvSpPr>
          <p:cNvPr id="42" name="Text 40"/>
          <p:cNvSpPr/>
          <p:nvPr/>
        </p:nvSpPr>
        <p:spPr>
          <a:xfrm>
            <a:off x="9144000" y="5559552"/>
            <a:ext cx="2468880" cy="292608"/>
          </a:xfrm>
          <a:prstGeom prst="rect">
            <a:avLst/>
          </a:prstGeom>
          <a:noFill/>
          <a:ln/>
        </p:spPr>
        <p:txBody>
          <a:bodyPr wrap="square" lIns="0" tIns="0" rIns="0" bIns="0" rtlCol="0" anchor="ctr"/>
          <a:lstStyle/>
          <a:p>
            <a:pPr marL="0" indent="0">
              <a:buNone/>
            </a:pPr>
            <a:r>
              <a:rPr lang="en-US" sz="1200" dirty="0">
                <a:solidFill>
                  <a:srgbClr val="1E293B"/>
                </a:solidFill>
                <a:latin typeface="Consolas" pitchFamily="34" charset="0"/>
                <a:ea typeface="Consolas" pitchFamily="34" charset="-122"/>
                <a:cs typeface="Consolas" pitchFamily="34" charset="-120"/>
              </a:rPr>
              <a:t>{ ok · revise · drop }</a:t>
            </a:r>
            <a:endParaRPr lang="en-US" sz="1200" dirty="0"/>
          </a:p>
        </p:txBody>
      </p:sp>
      <p:sp>
        <p:nvSpPr>
          <p:cNvPr id="43" name="Shape 41"/>
          <p:cNvSpPr/>
          <p:nvPr/>
        </p:nvSpPr>
        <p:spPr>
          <a:xfrm>
            <a:off x="457200" y="5989320"/>
            <a:ext cx="11247120" cy="594360"/>
          </a:xfrm>
          <a:prstGeom prst="rect">
            <a:avLst/>
          </a:prstGeom>
          <a:solidFill>
            <a:srgbClr val="FEF3C7"/>
          </a:solidFill>
          <a:ln w="6350">
            <a:solidFill>
              <a:srgbClr val="B45309"/>
            </a:solidFill>
            <a:prstDash val="solid"/>
          </a:ln>
        </p:spPr>
        <p:txBody>
          <a:bodyPr/>
          <a:lstStyle/>
          <a:p>
            <a:endParaRPr lang="en-US"/>
          </a:p>
        </p:txBody>
      </p:sp>
      <p:sp>
        <p:nvSpPr>
          <p:cNvPr id="44" name="Text 42"/>
          <p:cNvSpPr/>
          <p:nvPr/>
        </p:nvSpPr>
        <p:spPr>
          <a:xfrm>
            <a:off x="685800" y="6053328"/>
            <a:ext cx="10789920" cy="502920"/>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Why not a single critic at the end?  </a:t>
            </a:r>
            <a:r>
              <a:rPr lang="en-US" sz="1400" dirty="0">
                <a:solidFill>
                  <a:srgbClr val="334155"/>
                </a:solidFill>
                <a:latin typeface="Calibri" pitchFamily="34" charset="0"/>
                <a:ea typeface="Calibri" pitchFamily="34" charset="-122"/>
                <a:cs typeface="Calibri" pitchFamily="34" charset="-120"/>
              </a:rPr>
              <a:t>By the time a final critic fires, the system has already paid for Coder, sql_executor, Writer, and the viz pipeline.  </a:t>
            </a:r>
            <a:r>
              <a:rPr lang="en-US" sz="1400" b="1" dirty="0">
                <a:solidFill>
                  <a:srgbClr val="0F172A"/>
                </a:solidFill>
                <a:latin typeface="Calibri" pitchFamily="34" charset="0"/>
                <a:ea typeface="Calibri" pitchFamily="34" charset="-122"/>
                <a:cs typeface="Calibri" pitchFamily="34" charset="-120"/>
              </a:rPr>
              <a:t>Critique at each stage means rejection happens at the cheapest point in the pipeline at which the error is detectable.</a:t>
            </a:r>
            <a:endParaRPr lang="en-US" sz="1400" dirty="0"/>
          </a:p>
        </p:txBody>
      </p:sp>
      <p:sp>
        <p:nvSpPr>
          <p:cNvPr id="45" name="Text 43"/>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27</a:t>
            </a:r>
            <a:endParaRPr lang="en-US" sz="900" dirty="0"/>
          </a:p>
        </p:txBody>
      </p:sp>
      <p:sp>
        <p:nvSpPr>
          <p:cNvPr id="46" name="Text 44"/>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IN-BAND  ·  EVERY TURN</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Evaluation: Three Concentric Runtime Rings</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Each ring catches a different class of failure.  Outer rings handle what inner rings cannot see.</a:t>
            </a:r>
            <a:endParaRPr lang="en-US" sz="1400" dirty="0"/>
          </a:p>
        </p:txBody>
      </p:sp>
      <p:sp>
        <p:nvSpPr>
          <p:cNvPr id="6" name="Shape 4"/>
          <p:cNvSpPr/>
          <p:nvPr/>
        </p:nvSpPr>
        <p:spPr>
          <a:xfrm>
            <a:off x="1097280" y="2057400"/>
            <a:ext cx="4389120" cy="4389120"/>
          </a:xfrm>
          <a:prstGeom prst="ellipse">
            <a:avLst/>
          </a:prstGeom>
          <a:solidFill>
            <a:srgbClr val="FEF3C7"/>
          </a:solidFill>
          <a:ln w="25400">
            <a:solidFill>
              <a:srgbClr val="B45309"/>
            </a:solidFill>
            <a:prstDash val="solid"/>
          </a:ln>
        </p:spPr>
        <p:txBody>
          <a:bodyPr/>
          <a:lstStyle/>
          <a:p>
            <a:endParaRPr lang="en-US"/>
          </a:p>
        </p:txBody>
      </p:sp>
      <p:sp>
        <p:nvSpPr>
          <p:cNvPr id="7" name="Shape 5"/>
          <p:cNvSpPr/>
          <p:nvPr/>
        </p:nvSpPr>
        <p:spPr>
          <a:xfrm>
            <a:off x="1783080" y="2743200"/>
            <a:ext cx="3017520" cy="3017520"/>
          </a:xfrm>
          <a:prstGeom prst="ellipse">
            <a:avLst/>
          </a:prstGeom>
          <a:solidFill>
            <a:srgbClr val="CCFBF1"/>
          </a:solidFill>
          <a:ln w="25400">
            <a:solidFill>
              <a:srgbClr val="0F766E"/>
            </a:solidFill>
            <a:prstDash val="solid"/>
          </a:ln>
        </p:spPr>
        <p:txBody>
          <a:bodyPr/>
          <a:lstStyle/>
          <a:p>
            <a:endParaRPr lang="en-US"/>
          </a:p>
        </p:txBody>
      </p:sp>
      <p:sp>
        <p:nvSpPr>
          <p:cNvPr id="8" name="Shape 6"/>
          <p:cNvSpPr/>
          <p:nvPr/>
        </p:nvSpPr>
        <p:spPr>
          <a:xfrm>
            <a:off x="2468880" y="3429000"/>
            <a:ext cx="1645920" cy="1645920"/>
          </a:xfrm>
          <a:prstGeom prst="ellipse">
            <a:avLst/>
          </a:prstGeom>
          <a:solidFill>
            <a:srgbClr val="DCFCE7"/>
          </a:solidFill>
          <a:ln w="25400">
            <a:solidFill>
              <a:srgbClr val="15803D"/>
            </a:solidFill>
            <a:prstDash val="solid"/>
          </a:ln>
        </p:spPr>
        <p:txBody>
          <a:bodyPr/>
          <a:lstStyle/>
          <a:p>
            <a:endParaRPr lang="en-US"/>
          </a:p>
        </p:txBody>
      </p:sp>
      <p:sp>
        <p:nvSpPr>
          <p:cNvPr id="9" name="Text 7"/>
          <p:cNvSpPr/>
          <p:nvPr/>
        </p:nvSpPr>
        <p:spPr>
          <a:xfrm>
            <a:off x="2834640" y="3886200"/>
            <a:ext cx="914400" cy="365760"/>
          </a:xfrm>
          <a:prstGeom prst="rect">
            <a:avLst/>
          </a:prstGeom>
          <a:noFill/>
          <a:ln/>
        </p:spPr>
        <p:txBody>
          <a:bodyPr wrap="square" lIns="0" tIns="0" rIns="0" bIns="0" rtlCol="0" anchor="ctr"/>
          <a:lstStyle/>
          <a:p>
            <a:pPr marL="0" indent="0" algn="ctr">
              <a:buNone/>
            </a:pPr>
            <a:r>
              <a:rPr lang="en-US" sz="2200" b="1" dirty="0">
                <a:solidFill>
                  <a:srgbClr val="15803D"/>
                </a:solidFill>
                <a:latin typeface="Calibri" pitchFamily="34" charset="0"/>
                <a:ea typeface="Calibri" pitchFamily="34" charset="-122"/>
                <a:cs typeface="Calibri" pitchFamily="34" charset="-120"/>
              </a:rPr>
              <a:t>R1</a:t>
            </a:r>
            <a:endParaRPr lang="en-US" sz="2200" dirty="0"/>
          </a:p>
        </p:txBody>
      </p:sp>
      <p:sp>
        <p:nvSpPr>
          <p:cNvPr id="10" name="Text 8"/>
          <p:cNvSpPr/>
          <p:nvPr/>
        </p:nvSpPr>
        <p:spPr>
          <a:xfrm>
            <a:off x="2651760" y="4297680"/>
            <a:ext cx="1280160" cy="274320"/>
          </a:xfrm>
          <a:prstGeom prst="rect">
            <a:avLst/>
          </a:prstGeom>
          <a:noFill/>
          <a:ln/>
        </p:spPr>
        <p:txBody>
          <a:bodyPr wrap="square" lIns="0" tIns="0" rIns="0" bIns="0" rtlCol="0" anchor="ctr"/>
          <a:lstStyle/>
          <a:p>
            <a:pPr marL="0" indent="0" algn="ctr">
              <a:buNone/>
            </a:pPr>
            <a:r>
              <a:rPr lang="en-US" sz="1400" dirty="0">
                <a:solidFill>
                  <a:srgbClr val="15803D"/>
                </a:solidFill>
                <a:latin typeface="Calibri" pitchFamily="34" charset="0"/>
                <a:ea typeface="Calibri" pitchFamily="34" charset="-122"/>
                <a:cs typeface="Calibri" pitchFamily="34" charset="-120"/>
              </a:rPr>
              <a:t>deterministic</a:t>
            </a:r>
            <a:endParaRPr lang="en-US" sz="1400" dirty="0"/>
          </a:p>
        </p:txBody>
      </p:sp>
      <p:sp>
        <p:nvSpPr>
          <p:cNvPr id="11" name="Text 9"/>
          <p:cNvSpPr/>
          <p:nvPr/>
        </p:nvSpPr>
        <p:spPr>
          <a:xfrm>
            <a:off x="1828800" y="3140964"/>
            <a:ext cx="2926080" cy="22860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R2  ·  cross-reviewing agents</a:t>
            </a:r>
            <a:endParaRPr lang="en-US" sz="1400" dirty="0"/>
          </a:p>
        </p:txBody>
      </p:sp>
      <p:sp>
        <p:nvSpPr>
          <p:cNvPr id="12" name="Text 10"/>
          <p:cNvSpPr/>
          <p:nvPr/>
        </p:nvSpPr>
        <p:spPr>
          <a:xfrm>
            <a:off x="1188720" y="2395728"/>
            <a:ext cx="4206240" cy="228600"/>
          </a:xfrm>
          <a:prstGeom prst="rect">
            <a:avLst/>
          </a:prstGeom>
          <a:noFill/>
          <a:ln/>
        </p:spPr>
        <p:txBody>
          <a:bodyPr wrap="square" lIns="0" tIns="0" rIns="0" bIns="0" rtlCol="0" anchor="ctr"/>
          <a:lstStyle/>
          <a:p>
            <a:pPr marL="0" indent="0" algn="ctr">
              <a:buNone/>
            </a:pPr>
            <a:r>
              <a:rPr lang="en-US" sz="1600" b="1" dirty="0">
                <a:solidFill>
                  <a:srgbClr val="B45309"/>
                </a:solidFill>
                <a:latin typeface="Calibri" pitchFamily="34" charset="0"/>
                <a:ea typeface="Calibri" pitchFamily="34" charset="-122"/>
                <a:cs typeface="Calibri" pitchFamily="34" charset="-120"/>
              </a:rPr>
              <a:t>R3  ·  retry loops + Supervisor</a:t>
            </a:r>
            <a:endParaRPr lang="en-US" sz="1600" dirty="0"/>
          </a:p>
        </p:txBody>
      </p:sp>
      <p:sp>
        <p:nvSpPr>
          <p:cNvPr id="13" name="Shape 11"/>
          <p:cNvSpPr/>
          <p:nvPr/>
        </p:nvSpPr>
        <p:spPr>
          <a:xfrm>
            <a:off x="6858000" y="1783080"/>
            <a:ext cx="4846320" cy="1371600"/>
          </a:xfrm>
          <a:prstGeom prst="rect">
            <a:avLst/>
          </a:prstGeom>
          <a:solidFill>
            <a:srgbClr val="F8FAFC"/>
          </a:solidFill>
          <a:ln w="9525">
            <a:solidFill>
              <a:srgbClr val="E2E8F0"/>
            </a:solidFill>
            <a:prstDash val="solid"/>
          </a:ln>
        </p:spPr>
        <p:txBody>
          <a:bodyPr/>
          <a:lstStyle/>
          <a:p>
            <a:endParaRPr lang="en-US"/>
          </a:p>
        </p:txBody>
      </p:sp>
      <p:sp>
        <p:nvSpPr>
          <p:cNvPr id="14" name="Shape 12"/>
          <p:cNvSpPr/>
          <p:nvPr/>
        </p:nvSpPr>
        <p:spPr>
          <a:xfrm>
            <a:off x="6858000" y="1783080"/>
            <a:ext cx="73152" cy="1371600"/>
          </a:xfrm>
          <a:prstGeom prst="rect">
            <a:avLst/>
          </a:prstGeom>
          <a:solidFill>
            <a:srgbClr val="15803D"/>
          </a:solidFill>
          <a:ln w="12700">
            <a:solidFill>
              <a:srgbClr val="15803D"/>
            </a:solidFill>
            <a:prstDash val="solid"/>
          </a:ln>
        </p:spPr>
        <p:txBody>
          <a:bodyPr/>
          <a:lstStyle/>
          <a:p>
            <a:endParaRPr lang="en-US"/>
          </a:p>
        </p:txBody>
      </p:sp>
      <p:sp>
        <p:nvSpPr>
          <p:cNvPr id="15" name="Text 13"/>
          <p:cNvSpPr/>
          <p:nvPr/>
        </p:nvSpPr>
        <p:spPr>
          <a:xfrm>
            <a:off x="7086600" y="1874520"/>
            <a:ext cx="1371600" cy="274320"/>
          </a:xfrm>
          <a:prstGeom prst="rect">
            <a:avLst/>
          </a:prstGeom>
          <a:noFill/>
          <a:ln/>
        </p:spPr>
        <p:txBody>
          <a:bodyPr wrap="square" lIns="0" tIns="0" rIns="0" bIns="0" rtlCol="0" anchor="ctr"/>
          <a:lstStyle/>
          <a:p>
            <a:pPr marL="0" indent="0">
              <a:buNone/>
            </a:pPr>
            <a:r>
              <a:rPr lang="en-US" b="1" kern="0" spc="300" dirty="0">
                <a:solidFill>
                  <a:srgbClr val="15803D"/>
                </a:solidFill>
                <a:latin typeface="Calibri" pitchFamily="34" charset="0"/>
                <a:ea typeface="Calibri" pitchFamily="34" charset="-122"/>
                <a:cs typeface="Calibri" pitchFamily="34" charset="-120"/>
              </a:rPr>
              <a:t>Ring 1</a:t>
            </a:r>
            <a:endParaRPr lang="en-US" dirty="0"/>
          </a:p>
        </p:txBody>
      </p:sp>
      <p:sp>
        <p:nvSpPr>
          <p:cNvPr id="16" name="Text 14"/>
          <p:cNvSpPr/>
          <p:nvPr/>
        </p:nvSpPr>
        <p:spPr>
          <a:xfrm>
            <a:off x="7086600" y="2075688"/>
            <a:ext cx="448056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Deterministic guards</a:t>
            </a:r>
            <a:endParaRPr lang="en-US" sz="1400" dirty="0"/>
          </a:p>
        </p:txBody>
      </p:sp>
      <p:sp>
        <p:nvSpPr>
          <p:cNvPr id="17" name="Text 15"/>
          <p:cNvSpPr/>
          <p:nvPr/>
        </p:nvSpPr>
        <p:spPr>
          <a:xfrm>
            <a:off x="7086600" y="2377440"/>
            <a:ext cx="4617720" cy="5486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sql_parser · sql_safety_guard · viz_code_parser · viz_generator sandbox · groundedness_check · closed-enum validators on every structured output.</a:t>
            </a:r>
            <a:endParaRPr lang="en-US" sz="1200" dirty="0"/>
          </a:p>
        </p:txBody>
      </p:sp>
      <p:sp>
        <p:nvSpPr>
          <p:cNvPr id="18" name="Text 16"/>
          <p:cNvSpPr/>
          <p:nvPr/>
        </p:nvSpPr>
        <p:spPr>
          <a:xfrm>
            <a:off x="7086600" y="2880360"/>
            <a:ext cx="4480560" cy="274320"/>
          </a:xfrm>
          <a:prstGeom prst="rect">
            <a:avLst/>
          </a:prstGeom>
          <a:noFill/>
          <a:ln/>
        </p:spPr>
        <p:txBody>
          <a:bodyPr wrap="square" lIns="0" tIns="0" rIns="0" bIns="0" rtlCol="0" anchor="ctr"/>
          <a:lstStyle/>
          <a:p>
            <a:pPr marL="0" indent="0">
              <a:buNone/>
            </a:pPr>
            <a:r>
              <a:rPr lang="en-US" sz="1400" i="1" dirty="0">
                <a:solidFill>
                  <a:srgbClr val="15803D"/>
                </a:solidFill>
                <a:latin typeface="Calibri" pitchFamily="34" charset="0"/>
                <a:ea typeface="Calibri" pitchFamily="34" charset="-122"/>
                <a:cs typeface="Calibri" pitchFamily="34" charset="-120"/>
              </a:rPr>
              <a:t>Cannot lie — pure Python, unit-testable.</a:t>
            </a:r>
            <a:endParaRPr lang="en-US" sz="1400" dirty="0"/>
          </a:p>
        </p:txBody>
      </p:sp>
      <p:sp>
        <p:nvSpPr>
          <p:cNvPr id="19" name="Shape 17"/>
          <p:cNvSpPr/>
          <p:nvPr/>
        </p:nvSpPr>
        <p:spPr>
          <a:xfrm>
            <a:off x="6858000" y="3291840"/>
            <a:ext cx="4846320" cy="1371600"/>
          </a:xfrm>
          <a:prstGeom prst="rect">
            <a:avLst/>
          </a:prstGeom>
          <a:solidFill>
            <a:srgbClr val="F8FAFC"/>
          </a:solidFill>
          <a:ln w="9525">
            <a:solidFill>
              <a:srgbClr val="E2E8F0"/>
            </a:solidFill>
            <a:prstDash val="solid"/>
          </a:ln>
        </p:spPr>
        <p:txBody>
          <a:bodyPr/>
          <a:lstStyle/>
          <a:p>
            <a:endParaRPr lang="en-US"/>
          </a:p>
        </p:txBody>
      </p:sp>
      <p:sp>
        <p:nvSpPr>
          <p:cNvPr id="20" name="Shape 18"/>
          <p:cNvSpPr/>
          <p:nvPr/>
        </p:nvSpPr>
        <p:spPr>
          <a:xfrm>
            <a:off x="6858000" y="3291840"/>
            <a:ext cx="73152" cy="1371600"/>
          </a:xfrm>
          <a:prstGeom prst="rect">
            <a:avLst/>
          </a:prstGeom>
          <a:solidFill>
            <a:srgbClr val="0F766E"/>
          </a:solidFill>
          <a:ln w="12700">
            <a:solidFill>
              <a:srgbClr val="0F766E"/>
            </a:solidFill>
            <a:prstDash val="solid"/>
          </a:ln>
        </p:spPr>
        <p:txBody>
          <a:bodyPr/>
          <a:lstStyle/>
          <a:p>
            <a:endParaRPr lang="en-US"/>
          </a:p>
        </p:txBody>
      </p:sp>
      <p:sp>
        <p:nvSpPr>
          <p:cNvPr id="21" name="Text 19"/>
          <p:cNvSpPr/>
          <p:nvPr/>
        </p:nvSpPr>
        <p:spPr>
          <a:xfrm>
            <a:off x="7086600" y="3383280"/>
            <a:ext cx="1371600" cy="274320"/>
          </a:xfrm>
          <a:prstGeom prst="rect">
            <a:avLst/>
          </a:prstGeom>
          <a:noFill/>
          <a:ln/>
        </p:spPr>
        <p:txBody>
          <a:bodyPr wrap="square" lIns="0" tIns="0" rIns="0" bIns="0" rtlCol="0" anchor="ctr"/>
          <a:lstStyle/>
          <a:p>
            <a:pPr marL="0" indent="0">
              <a:buNone/>
            </a:pPr>
            <a:r>
              <a:rPr lang="en-US" b="1" kern="0" spc="300" dirty="0">
                <a:solidFill>
                  <a:srgbClr val="0F766E"/>
                </a:solidFill>
                <a:latin typeface="Calibri" pitchFamily="34" charset="0"/>
                <a:ea typeface="Calibri" pitchFamily="34" charset="-122"/>
                <a:cs typeface="Calibri" pitchFamily="34" charset="-120"/>
              </a:rPr>
              <a:t>Ring 2</a:t>
            </a:r>
            <a:endParaRPr lang="en-US" dirty="0"/>
          </a:p>
        </p:txBody>
      </p:sp>
      <p:sp>
        <p:nvSpPr>
          <p:cNvPr id="22" name="Text 20"/>
          <p:cNvSpPr/>
          <p:nvPr/>
        </p:nvSpPr>
        <p:spPr>
          <a:xfrm>
            <a:off x="7086600" y="3584448"/>
            <a:ext cx="448056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Cross-reviewing LLM agents</a:t>
            </a:r>
            <a:endParaRPr lang="en-US" sz="1400" dirty="0"/>
          </a:p>
        </p:txBody>
      </p:sp>
      <p:sp>
        <p:nvSpPr>
          <p:cNvPr id="23" name="Text 21"/>
          <p:cNvSpPr/>
          <p:nvPr/>
        </p:nvSpPr>
        <p:spPr>
          <a:xfrm>
            <a:off x="7086600" y="3886200"/>
            <a:ext cx="4480560" cy="5486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Code Reviewer · Output Reviewer · Viz Code Reviewer · Viz Reviewer.  These are LLMs and can occasionally be wrong.</a:t>
            </a:r>
            <a:endParaRPr lang="en-US" sz="1200" dirty="0"/>
          </a:p>
        </p:txBody>
      </p:sp>
      <p:sp>
        <p:nvSpPr>
          <p:cNvPr id="24" name="Text 22"/>
          <p:cNvSpPr/>
          <p:nvPr/>
        </p:nvSpPr>
        <p:spPr>
          <a:xfrm>
            <a:off x="7086600" y="4389120"/>
            <a:ext cx="4480560" cy="274320"/>
          </a:xfrm>
          <a:prstGeom prst="rect">
            <a:avLst/>
          </a:prstGeom>
          <a:noFill/>
          <a:ln/>
        </p:spPr>
        <p:txBody>
          <a:bodyPr wrap="square" lIns="0" tIns="0" rIns="0" bIns="0" rtlCol="0" anchor="ctr"/>
          <a:lstStyle/>
          <a:p>
            <a:pPr marL="0" indent="0">
              <a:buNone/>
            </a:pPr>
            <a:r>
              <a:rPr lang="en-US" sz="1400" i="1" dirty="0">
                <a:solidFill>
                  <a:srgbClr val="0F766E"/>
                </a:solidFill>
                <a:latin typeface="Calibri" pitchFamily="34" charset="0"/>
                <a:ea typeface="Calibri" pitchFamily="34" charset="-122"/>
                <a:cs typeface="Calibri" pitchFamily="34" charset="-120"/>
              </a:rPr>
              <a:t>Catch subtle errors the deterministic guards cannot see.</a:t>
            </a:r>
            <a:endParaRPr lang="en-US" sz="1400" dirty="0"/>
          </a:p>
        </p:txBody>
      </p:sp>
      <p:sp>
        <p:nvSpPr>
          <p:cNvPr id="25" name="Shape 23"/>
          <p:cNvSpPr/>
          <p:nvPr/>
        </p:nvSpPr>
        <p:spPr>
          <a:xfrm>
            <a:off x="6858000" y="4800600"/>
            <a:ext cx="4846320" cy="1371600"/>
          </a:xfrm>
          <a:prstGeom prst="rect">
            <a:avLst/>
          </a:prstGeom>
          <a:solidFill>
            <a:srgbClr val="F8FAFC"/>
          </a:solidFill>
          <a:ln w="9525">
            <a:solidFill>
              <a:srgbClr val="E2E8F0"/>
            </a:solidFill>
            <a:prstDash val="solid"/>
          </a:ln>
        </p:spPr>
        <p:txBody>
          <a:bodyPr/>
          <a:lstStyle/>
          <a:p>
            <a:endParaRPr lang="en-US"/>
          </a:p>
        </p:txBody>
      </p:sp>
      <p:sp>
        <p:nvSpPr>
          <p:cNvPr id="26" name="Shape 24"/>
          <p:cNvSpPr/>
          <p:nvPr/>
        </p:nvSpPr>
        <p:spPr>
          <a:xfrm>
            <a:off x="6858000" y="4800600"/>
            <a:ext cx="73152" cy="1371600"/>
          </a:xfrm>
          <a:prstGeom prst="rect">
            <a:avLst/>
          </a:prstGeom>
          <a:solidFill>
            <a:srgbClr val="B45309"/>
          </a:solidFill>
          <a:ln w="12700">
            <a:solidFill>
              <a:srgbClr val="B45309"/>
            </a:solidFill>
            <a:prstDash val="solid"/>
          </a:ln>
        </p:spPr>
        <p:txBody>
          <a:bodyPr/>
          <a:lstStyle/>
          <a:p>
            <a:endParaRPr lang="en-US"/>
          </a:p>
        </p:txBody>
      </p:sp>
      <p:sp>
        <p:nvSpPr>
          <p:cNvPr id="27" name="Text 25"/>
          <p:cNvSpPr/>
          <p:nvPr/>
        </p:nvSpPr>
        <p:spPr>
          <a:xfrm>
            <a:off x="7086600" y="4892040"/>
            <a:ext cx="1371600" cy="274320"/>
          </a:xfrm>
          <a:prstGeom prst="rect">
            <a:avLst/>
          </a:prstGeom>
          <a:noFill/>
          <a:ln/>
        </p:spPr>
        <p:txBody>
          <a:bodyPr wrap="square" lIns="0" tIns="0" rIns="0" bIns="0" rtlCol="0" anchor="ctr"/>
          <a:lstStyle/>
          <a:p>
            <a:pPr marL="0" indent="0">
              <a:buNone/>
            </a:pPr>
            <a:r>
              <a:rPr lang="en-US" b="1" kern="0" spc="300" dirty="0">
                <a:solidFill>
                  <a:srgbClr val="B45309"/>
                </a:solidFill>
                <a:latin typeface="Calibri" pitchFamily="34" charset="0"/>
                <a:ea typeface="Calibri" pitchFamily="34" charset="-122"/>
                <a:cs typeface="Calibri" pitchFamily="34" charset="-120"/>
              </a:rPr>
              <a:t>Ring 3</a:t>
            </a:r>
            <a:endParaRPr lang="en-US" dirty="0"/>
          </a:p>
        </p:txBody>
      </p:sp>
      <p:sp>
        <p:nvSpPr>
          <p:cNvPr id="28" name="Text 26"/>
          <p:cNvSpPr/>
          <p:nvPr/>
        </p:nvSpPr>
        <p:spPr>
          <a:xfrm>
            <a:off x="7086600" y="5093208"/>
            <a:ext cx="448056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Retry loops + Supervisor escape hatch</a:t>
            </a:r>
            <a:endParaRPr lang="en-US" sz="1400" dirty="0"/>
          </a:p>
        </p:txBody>
      </p:sp>
      <p:sp>
        <p:nvSpPr>
          <p:cNvPr id="29" name="Text 27"/>
          <p:cNvSpPr/>
          <p:nvPr/>
        </p:nvSpPr>
        <p:spPr>
          <a:xfrm>
            <a:off x="7086600" y="5394960"/>
            <a:ext cx="4480560" cy="548640"/>
          </a:xfrm>
          <a:prstGeom prst="rect">
            <a:avLst/>
          </a:prstGeom>
          <a:noFill/>
          <a:ln/>
        </p:spPr>
        <p:txBody>
          <a:bodyPr wrap="square" lIns="0" tIns="0" rIns="0" bIns="0" rtlCol="0" anchor="t"/>
          <a:lstStyle/>
          <a:p>
            <a:pPr marL="0" indent="0">
              <a:buNone/>
            </a:pPr>
            <a:r>
              <a:rPr lang="en-US" sz="1200" dirty="0">
                <a:solidFill>
                  <a:srgbClr val="334155"/>
                </a:solidFill>
                <a:latin typeface="Calibri" pitchFamily="34" charset="0"/>
                <a:ea typeface="Calibri" pitchFamily="34" charset="-122"/>
                <a:cs typeface="Calibri" pitchFamily="34" charset="-120"/>
              </a:rPr>
              <a:t>Every reviewer veto bounces back to the reasoning agent with feedback as a hint.  Bounded retries protect against infinite loops.</a:t>
            </a:r>
            <a:endParaRPr lang="en-US" sz="1200" dirty="0"/>
          </a:p>
        </p:txBody>
      </p:sp>
      <p:sp>
        <p:nvSpPr>
          <p:cNvPr id="30" name="Text 28"/>
          <p:cNvSpPr/>
          <p:nvPr/>
        </p:nvSpPr>
        <p:spPr>
          <a:xfrm>
            <a:off x="7086600" y="5897880"/>
            <a:ext cx="4480560" cy="274320"/>
          </a:xfrm>
          <a:prstGeom prst="rect">
            <a:avLst/>
          </a:prstGeom>
          <a:noFill/>
          <a:ln/>
        </p:spPr>
        <p:txBody>
          <a:bodyPr wrap="square" lIns="0" tIns="0" rIns="0" bIns="0" rtlCol="0" anchor="ctr"/>
          <a:lstStyle/>
          <a:p>
            <a:pPr marL="0" indent="0">
              <a:buNone/>
            </a:pPr>
            <a:r>
              <a:rPr lang="en-US" sz="1400" i="1" dirty="0">
                <a:solidFill>
                  <a:srgbClr val="B45309"/>
                </a:solidFill>
                <a:latin typeface="Calibri" pitchFamily="34" charset="0"/>
                <a:ea typeface="Calibri" pitchFamily="34" charset="-122"/>
                <a:cs typeface="Calibri" pitchFamily="34" charset="-120"/>
              </a:rPr>
              <a:t>Supervisor recovers when SQL loops exhaust.</a:t>
            </a:r>
            <a:endParaRPr lang="en-US" sz="1400" dirty="0"/>
          </a:p>
        </p:txBody>
      </p:sp>
      <p:sp>
        <p:nvSpPr>
          <p:cNvPr id="31" name="Text 29"/>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19 / 27</a:t>
            </a:r>
            <a:endParaRPr lang="en-US" sz="900" dirty="0"/>
          </a:p>
        </p:txBody>
      </p:sp>
      <p:sp>
        <p:nvSpPr>
          <p:cNvPr id="32" name="Text 30"/>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RUN ON A CADENCE  ·  NOT PER TURN</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Four Out-of-Band Evaluation Suites</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5029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Each suite plays a distinct role in the trust-but-verify story.  Running all four after any prompt or model change is the only reliable way to confirm no regression.</a:t>
            </a:r>
            <a:endParaRPr lang="en-US" sz="1400" dirty="0"/>
          </a:p>
        </p:txBody>
      </p:sp>
      <p:sp>
        <p:nvSpPr>
          <p:cNvPr id="6" name="Shape 4"/>
          <p:cNvSpPr/>
          <p:nvPr/>
        </p:nvSpPr>
        <p:spPr>
          <a:xfrm>
            <a:off x="457200" y="2011680"/>
            <a:ext cx="11247120" cy="969264"/>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457200" y="2011680"/>
            <a:ext cx="777240" cy="969264"/>
          </a:xfrm>
          <a:prstGeom prst="rect">
            <a:avLst/>
          </a:prstGeom>
          <a:solidFill>
            <a:srgbClr val="1E293B"/>
          </a:solidFill>
          <a:ln w="12700">
            <a:solidFill>
              <a:srgbClr val="333333"/>
            </a:solidFill>
            <a:prstDash val="solid"/>
          </a:ln>
        </p:spPr>
        <p:txBody>
          <a:bodyPr/>
          <a:lstStyle/>
          <a:p>
            <a:endParaRPr lang="en-US"/>
          </a:p>
        </p:txBody>
      </p:sp>
      <p:sp>
        <p:nvSpPr>
          <p:cNvPr id="8" name="Text 6"/>
          <p:cNvSpPr/>
          <p:nvPr/>
        </p:nvSpPr>
        <p:spPr>
          <a:xfrm>
            <a:off x="457200" y="2011680"/>
            <a:ext cx="777240" cy="969264"/>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9" name="Text 7"/>
          <p:cNvSpPr/>
          <p:nvPr/>
        </p:nvSpPr>
        <p:spPr>
          <a:xfrm>
            <a:off x="1371600" y="2103120"/>
            <a:ext cx="45720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Integration smoke test</a:t>
            </a:r>
            <a:endParaRPr lang="en-US" sz="1600" dirty="0"/>
          </a:p>
        </p:txBody>
      </p:sp>
      <p:sp>
        <p:nvSpPr>
          <p:cNvPr id="10" name="Text 8"/>
          <p:cNvSpPr/>
          <p:nvPr/>
        </p:nvSpPr>
        <p:spPr>
          <a:xfrm>
            <a:off x="1371600" y="2404872"/>
            <a:ext cx="4572000" cy="274320"/>
          </a:xfrm>
          <a:prstGeom prst="rect">
            <a:avLst/>
          </a:prstGeom>
          <a:noFill/>
          <a:ln/>
        </p:spPr>
        <p:txBody>
          <a:bodyPr wrap="square" lIns="0" tIns="0" rIns="0" bIns="0" rtlCol="0" anchor="ctr"/>
          <a:lstStyle/>
          <a:p>
            <a:pPr marL="0" indent="0">
              <a:buNone/>
            </a:pPr>
            <a:r>
              <a:rPr lang="en-US" sz="1400" dirty="0">
                <a:solidFill>
                  <a:srgbClr val="0F766E"/>
                </a:solidFill>
                <a:latin typeface="Consolas" pitchFamily="34" charset="0"/>
                <a:ea typeface="Consolas" pitchFamily="34" charset="-122"/>
                <a:cs typeface="Consolas" pitchFamily="34" charset="-120"/>
              </a:rPr>
              <a:t>verify_evals.py</a:t>
            </a:r>
            <a:endParaRPr lang="en-US" sz="1400" dirty="0"/>
          </a:p>
        </p:txBody>
      </p:sp>
      <p:sp>
        <p:nvSpPr>
          <p:cNvPr id="11" name="Text 9"/>
          <p:cNvSpPr/>
          <p:nvPr/>
        </p:nvSpPr>
        <p:spPr>
          <a:xfrm>
            <a:off x="1371600" y="2670048"/>
            <a:ext cx="4572000" cy="3200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7 checks confirming groundedness behaviours + trace_logger round-trip</a:t>
            </a:r>
            <a:endParaRPr lang="en-US" sz="1100" dirty="0"/>
          </a:p>
        </p:txBody>
      </p:sp>
      <p:sp>
        <p:nvSpPr>
          <p:cNvPr id="12" name="Text 10"/>
          <p:cNvSpPr/>
          <p:nvPr/>
        </p:nvSpPr>
        <p:spPr>
          <a:xfrm>
            <a:off x="6035040" y="2103120"/>
            <a:ext cx="3657600" cy="201168"/>
          </a:xfrm>
          <a:prstGeom prst="rect">
            <a:avLst/>
          </a:prstGeom>
          <a:noFill/>
          <a:ln/>
        </p:spPr>
        <p:txBody>
          <a:bodyPr wrap="square" lIns="0" tIns="0" rIns="0" bIns="0" rtlCol="0" anchor="ctr"/>
          <a:lstStyle/>
          <a:p>
            <a:pPr marL="0" indent="0">
              <a:buNone/>
            </a:pPr>
            <a:r>
              <a:rPr lang="en-US" sz="1200" b="1" kern="0" spc="200" dirty="0">
                <a:solidFill>
                  <a:srgbClr val="B45309"/>
                </a:solidFill>
                <a:latin typeface="Calibri" pitchFamily="34" charset="0"/>
                <a:ea typeface="Calibri" pitchFamily="34" charset="-122"/>
                <a:cs typeface="Calibri" pitchFamily="34" charset="-120"/>
              </a:rPr>
              <a:t>CATCHES</a:t>
            </a:r>
            <a:endParaRPr lang="en-US" sz="1200" dirty="0"/>
          </a:p>
        </p:txBody>
      </p:sp>
      <p:sp>
        <p:nvSpPr>
          <p:cNvPr id="13" name="Text 11"/>
          <p:cNvSpPr/>
          <p:nvPr/>
        </p:nvSpPr>
        <p:spPr>
          <a:xfrm>
            <a:off x="6035040" y="2304288"/>
            <a:ext cx="365760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Wiring breaks · regressions in the safety-rail seam between agents and tools</a:t>
            </a:r>
            <a:endParaRPr lang="en-US" sz="1100" dirty="0"/>
          </a:p>
        </p:txBody>
      </p:sp>
      <p:sp>
        <p:nvSpPr>
          <p:cNvPr id="14" name="Text 12"/>
          <p:cNvSpPr/>
          <p:nvPr/>
        </p:nvSpPr>
        <p:spPr>
          <a:xfrm>
            <a:off x="9784080" y="2103120"/>
            <a:ext cx="1828800" cy="201168"/>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CADENCE</a:t>
            </a:r>
            <a:endParaRPr lang="en-US" sz="1200" dirty="0"/>
          </a:p>
        </p:txBody>
      </p:sp>
      <p:sp>
        <p:nvSpPr>
          <p:cNvPr id="15" name="Text 13"/>
          <p:cNvSpPr/>
          <p:nvPr/>
        </p:nvSpPr>
        <p:spPr>
          <a:xfrm>
            <a:off x="9784080" y="2304288"/>
            <a:ext cx="187452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After any code or prompt change</a:t>
            </a:r>
            <a:endParaRPr lang="en-US" sz="1100" dirty="0"/>
          </a:p>
        </p:txBody>
      </p:sp>
      <p:sp>
        <p:nvSpPr>
          <p:cNvPr id="16" name="Shape 14"/>
          <p:cNvSpPr/>
          <p:nvPr/>
        </p:nvSpPr>
        <p:spPr>
          <a:xfrm>
            <a:off x="457200" y="3090672"/>
            <a:ext cx="11247120" cy="969264"/>
          </a:xfrm>
          <a:prstGeom prst="rect">
            <a:avLst/>
          </a:prstGeom>
          <a:solidFill>
            <a:srgbClr val="F8FAFC"/>
          </a:solidFill>
          <a:ln w="9525">
            <a:solidFill>
              <a:srgbClr val="E2E8F0"/>
            </a:solidFill>
            <a:prstDash val="solid"/>
          </a:ln>
        </p:spPr>
        <p:txBody>
          <a:bodyPr/>
          <a:lstStyle/>
          <a:p>
            <a:endParaRPr lang="en-US"/>
          </a:p>
        </p:txBody>
      </p:sp>
      <p:sp>
        <p:nvSpPr>
          <p:cNvPr id="17" name="Shape 15"/>
          <p:cNvSpPr/>
          <p:nvPr/>
        </p:nvSpPr>
        <p:spPr>
          <a:xfrm>
            <a:off x="457200" y="3090672"/>
            <a:ext cx="777240" cy="969264"/>
          </a:xfrm>
          <a:prstGeom prst="rect">
            <a:avLst/>
          </a:prstGeom>
          <a:solidFill>
            <a:srgbClr val="1E293B"/>
          </a:solidFill>
          <a:ln w="12700">
            <a:solidFill>
              <a:srgbClr val="333333"/>
            </a:solidFill>
            <a:prstDash val="solid"/>
          </a:ln>
        </p:spPr>
        <p:txBody>
          <a:bodyPr/>
          <a:lstStyle/>
          <a:p>
            <a:endParaRPr lang="en-US"/>
          </a:p>
        </p:txBody>
      </p:sp>
      <p:sp>
        <p:nvSpPr>
          <p:cNvPr id="18" name="Text 16"/>
          <p:cNvSpPr/>
          <p:nvPr/>
        </p:nvSpPr>
        <p:spPr>
          <a:xfrm>
            <a:off x="457200" y="3090672"/>
            <a:ext cx="777240" cy="969264"/>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9" name="Text 17"/>
          <p:cNvSpPr/>
          <p:nvPr/>
        </p:nvSpPr>
        <p:spPr>
          <a:xfrm>
            <a:off x="1371600" y="3182112"/>
            <a:ext cx="45720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Q-to-SQL regression suite</a:t>
            </a:r>
            <a:endParaRPr lang="en-US" sz="1600" dirty="0"/>
          </a:p>
        </p:txBody>
      </p:sp>
      <p:sp>
        <p:nvSpPr>
          <p:cNvPr id="20" name="Text 18"/>
          <p:cNvSpPr/>
          <p:nvPr/>
        </p:nvSpPr>
        <p:spPr>
          <a:xfrm>
            <a:off x="1371600" y="3483864"/>
            <a:ext cx="4572000" cy="274320"/>
          </a:xfrm>
          <a:prstGeom prst="rect">
            <a:avLst/>
          </a:prstGeom>
          <a:noFill/>
          <a:ln/>
        </p:spPr>
        <p:txBody>
          <a:bodyPr wrap="square" lIns="0" tIns="0" rIns="0" bIns="0" rtlCol="0" anchor="ctr"/>
          <a:lstStyle/>
          <a:p>
            <a:pPr marL="0" indent="0">
              <a:buNone/>
            </a:pPr>
            <a:r>
              <a:rPr lang="en-US" sz="1400" dirty="0">
                <a:solidFill>
                  <a:srgbClr val="0F766E"/>
                </a:solidFill>
                <a:latin typeface="Consolas" pitchFamily="34" charset="0"/>
                <a:ea typeface="Consolas" pitchFamily="34" charset="-122"/>
                <a:cs typeface="Consolas" pitchFamily="34" charset="-120"/>
              </a:rPr>
              <a:t>test_golden_sql.py + dataset.jsonl</a:t>
            </a:r>
            <a:endParaRPr lang="en-US" sz="1400" dirty="0"/>
          </a:p>
        </p:txBody>
      </p:sp>
      <p:sp>
        <p:nvSpPr>
          <p:cNvPr id="21" name="Text 19"/>
          <p:cNvSpPr/>
          <p:nvPr/>
        </p:nvSpPr>
        <p:spPr>
          <a:xfrm>
            <a:off x="1371600" y="3749040"/>
            <a:ext cx="4572000" cy="3200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26 entries · automated SHAPE check (path · SQL tokens · row-count bounds)</a:t>
            </a:r>
            <a:endParaRPr lang="en-US" sz="1100" dirty="0"/>
          </a:p>
        </p:txBody>
      </p:sp>
      <p:sp>
        <p:nvSpPr>
          <p:cNvPr id="22" name="Text 20"/>
          <p:cNvSpPr/>
          <p:nvPr/>
        </p:nvSpPr>
        <p:spPr>
          <a:xfrm>
            <a:off x="6035040" y="3182112"/>
            <a:ext cx="3657600" cy="201168"/>
          </a:xfrm>
          <a:prstGeom prst="rect">
            <a:avLst/>
          </a:prstGeom>
          <a:noFill/>
          <a:ln/>
        </p:spPr>
        <p:txBody>
          <a:bodyPr wrap="square" lIns="0" tIns="0" rIns="0" bIns="0" rtlCol="0" anchor="ctr"/>
          <a:lstStyle/>
          <a:p>
            <a:pPr marL="0" indent="0">
              <a:buNone/>
            </a:pPr>
            <a:r>
              <a:rPr lang="en-US" sz="1200" b="1" kern="0" spc="200" dirty="0">
                <a:solidFill>
                  <a:srgbClr val="B45309"/>
                </a:solidFill>
                <a:latin typeface="Calibri" pitchFamily="34" charset="0"/>
                <a:ea typeface="Calibri" pitchFamily="34" charset="-122"/>
                <a:cs typeface="Calibri" pitchFamily="34" charset="-120"/>
              </a:rPr>
              <a:t>CATCHES</a:t>
            </a:r>
            <a:endParaRPr lang="en-US" sz="1200" dirty="0"/>
          </a:p>
        </p:txBody>
      </p:sp>
      <p:sp>
        <p:nvSpPr>
          <p:cNvPr id="23" name="Text 21"/>
          <p:cNvSpPr/>
          <p:nvPr/>
        </p:nvSpPr>
        <p:spPr>
          <a:xfrm>
            <a:off x="6035040" y="3383280"/>
            <a:ext cx="365760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Planner path drift · forbidden columns · missing GROUP BY · removed LIMIT</a:t>
            </a:r>
            <a:endParaRPr lang="en-US" sz="1100" dirty="0"/>
          </a:p>
        </p:txBody>
      </p:sp>
      <p:sp>
        <p:nvSpPr>
          <p:cNvPr id="24" name="Text 22"/>
          <p:cNvSpPr/>
          <p:nvPr/>
        </p:nvSpPr>
        <p:spPr>
          <a:xfrm>
            <a:off x="9784080" y="3182112"/>
            <a:ext cx="1828800" cy="201168"/>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CADENCE</a:t>
            </a:r>
            <a:endParaRPr lang="en-US" sz="1200" dirty="0"/>
          </a:p>
        </p:txBody>
      </p:sp>
      <p:sp>
        <p:nvSpPr>
          <p:cNvPr id="25" name="Text 23"/>
          <p:cNvSpPr/>
          <p:nvPr/>
        </p:nvSpPr>
        <p:spPr>
          <a:xfrm>
            <a:off x="9784080" y="3383280"/>
            <a:ext cx="187452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CI-style on every release</a:t>
            </a:r>
            <a:endParaRPr lang="en-US" sz="1100" dirty="0"/>
          </a:p>
        </p:txBody>
      </p:sp>
      <p:sp>
        <p:nvSpPr>
          <p:cNvPr id="26" name="Shape 24"/>
          <p:cNvSpPr/>
          <p:nvPr/>
        </p:nvSpPr>
        <p:spPr>
          <a:xfrm>
            <a:off x="457200" y="4169664"/>
            <a:ext cx="11247120" cy="969264"/>
          </a:xfrm>
          <a:prstGeom prst="rect">
            <a:avLst/>
          </a:prstGeom>
          <a:solidFill>
            <a:srgbClr val="F8FAFC"/>
          </a:solidFill>
          <a:ln w="9525">
            <a:solidFill>
              <a:srgbClr val="E2E8F0"/>
            </a:solidFill>
            <a:prstDash val="solid"/>
          </a:ln>
        </p:spPr>
        <p:txBody>
          <a:bodyPr/>
          <a:lstStyle/>
          <a:p>
            <a:endParaRPr lang="en-US"/>
          </a:p>
        </p:txBody>
      </p:sp>
      <p:sp>
        <p:nvSpPr>
          <p:cNvPr id="27" name="Shape 25"/>
          <p:cNvSpPr/>
          <p:nvPr/>
        </p:nvSpPr>
        <p:spPr>
          <a:xfrm>
            <a:off x="457200" y="4169664"/>
            <a:ext cx="777240" cy="969264"/>
          </a:xfrm>
          <a:prstGeom prst="rect">
            <a:avLst/>
          </a:prstGeom>
          <a:solidFill>
            <a:srgbClr val="1E293B"/>
          </a:solidFill>
          <a:ln w="12700">
            <a:solidFill>
              <a:srgbClr val="333333"/>
            </a:solidFill>
            <a:prstDash val="solid"/>
          </a:ln>
        </p:spPr>
        <p:txBody>
          <a:bodyPr/>
          <a:lstStyle/>
          <a:p>
            <a:endParaRPr lang="en-US"/>
          </a:p>
        </p:txBody>
      </p:sp>
      <p:sp>
        <p:nvSpPr>
          <p:cNvPr id="28" name="Text 26"/>
          <p:cNvSpPr/>
          <p:nvPr/>
        </p:nvSpPr>
        <p:spPr>
          <a:xfrm>
            <a:off x="457200" y="4169664"/>
            <a:ext cx="777240" cy="969264"/>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29" name="Text 27"/>
          <p:cNvSpPr/>
          <p:nvPr/>
        </p:nvSpPr>
        <p:spPr>
          <a:xfrm>
            <a:off x="1371600" y="4261104"/>
            <a:ext cx="45720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Manual answer-correctness suite</a:t>
            </a:r>
            <a:endParaRPr lang="en-US" sz="1600" dirty="0"/>
          </a:p>
        </p:txBody>
      </p:sp>
      <p:sp>
        <p:nvSpPr>
          <p:cNvPr id="30" name="Text 28"/>
          <p:cNvSpPr/>
          <p:nvPr/>
        </p:nvSpPr>
        <p:spPr>
          <a:xfrm>
            <a:off x="1371600" y="4562856"/>
            <a:ext cx="4572000" cy="274320"/>
          </a:xfrm>
          <a:prstGeom prst="rect">
            <a:avLst/>
          </a:prstGeom>
          <a:noFill/>
          <a:ln/>
        </p:spPr>
        <p:txBody>
          <a:bodyPr wrap="square" lIns="0" tIns="0" rIns="0" bIns="0" rtlCol="0" anchor="ctr"/>
          <a:lstStyle/>
          <a:p>
            <a:pPr marL="0" indent="0">
              <a:buNone/>
            </a:pPr>
            <a:r>
              <a:rPr lang="en-US" sz="1400" dirty="0">
                <a:solidFill>
                  <a:srgbClr val="0F766E"/>
                </a:solidFill>
                <a:latin typeface="Consolas" pitchFamily="34" charset="0"/>
                <a:ea typeface="Consolas" pitchFamily="34" charset="-122"/>
                <a:cs typeface="Consolas" pitchFamily="34" charset="-120"/>
              </a:rPr>
              <a:t>eval_prompts.md</a:t>
            </a:r>
            <a:endParaRPr lang="en-US" sz="1400" dirty="0"/>
          </a:p>
        </p:txBody>
      </p:sp>
      <p:sp>
        <p:nvSpPr>
          <p:cNvPr id="31" name="Text 29"/>
          <p:cNvSpPr/>
          <p:nvPr/>
        </p:nvSpPr>
        <p:spPr>
          <a:xfrm>
            <a:off x="1371600" y="4828032"/>
            <a:ext cx="4572000" cy="3200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15 prompts at 3 difficulty tiers · numbers compared against Excel pivots</a:t>
            </a:r>
            <a:endParaRPr lang="en-US" sz="1100" dirty="0"/>
          </a:p>
        </p:txBody>
      </p:sp>
      <p:sp>
        <p:nvSpPr>
          <p:cNvPr id="32" name="Text 30"/>
          <p:cNvSpPr/>
          <p:nvPr/>
        </p:nvSpPr>
        <p:spPr>
          <a:xfrm>
            <a:off x="6035040" y="4261104"/>
            <a:ext cx="3657600" cy="201168"/>
          </a:xfrm>
          <a:prstGeom prst="rect">
            <a:avLst/>
          </a:prstGeom>
          <a:noFill/>
          <a:ln/>
        </p:spPr>
        <p:txBody>
          <a:bodyPr wrap="square" lIns="0" tIns="0" rIns="0" bIns="0" rtlCol="0" anchor="ctr"/>
          <a:lstStyle/>
          <a:p>
            <a:pPr marL="0" indent="0">
              <a:buNone/>
            </a:pPr>
            <a:r>
              <a:rPr lang="en-US" sz="1200" b="1" kern="0" spc="200" dirty="0">
                <a:solidFill>
                  <a:srgbClr val="B45309"/>
                </a:solidFill>
                <a:latin typeface="Calibri" pitchFamily="34" charset="0"/>
                <a:ea typeface="Calibri" pitchFamily="34" charset="-122"/>
                <a:cs typeface="Calibri" pitchFamily="34" charset="-120"/>
              </a:rPr>
              <a:t>CATCHES</a:t>
            </a:r>
            <a:endParaRPr lang="en-US" sz="1200" dirty="0"/>
          </a:p>
        </p:txBody>
      </p:sp>
      <p:sp>
        <p:nvSpPr>
          <p:cNvPr id="33" name="Text 31"/>
          <p:cNvSpPr/>
          <p:nvPr/>
        </p:nvSpPr>
        <p:spPr>
          <a:xfrm>
            <a:off x="6035040" y="4462272"/>
            <a:ext cx="365760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Subtle aggregation errors that pass the shape check but produce wrong numbers</a:t>
            </a:r>
            <a:endParaRPr lang="en-US" sz="1100" dirty="0"/>
          </a:p>
        </p:txBody>
      </p:sp>
      <p:sp>
        <p:nvSpPr>
          <p:cNvPr id="34" name="Text 32"/>
          <p:cNvSpPr/>
          <p:nvPr/>
        </p:nvSpPr>
        <p:spPr>
          <a:xfrm>
            <a:off x="9784080" y="4261104"/>
            <a:ext cx="1828800" cy="201168"/>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CADENCE</a:t>
            </a:r>
            <a:endParaRPr lang="en-US" sz="1200" dirty="0"/>
          </a:p>
        </p:txBody>
      </p:sp>
      <p:sp>
        <p:nvSpPr>
          <p:cNvPr id="35" name="Text 33"/>
          <p:cNvSpPr/>
          <p:nvPr/>
        </p:nvSpPr>
        <p:spPr>
          <a:xfrm>
            <a:off x="9784080" y="4462272"/>
            <a:ext cx="187452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Human-driven · before any major release</a:t>
            </a:r>
            <a:endParaRPr lang="en-US" sz="1100" dirty="0"/>
          </a:p>
        </p:txBody>
      </p:sp>
      <p:sp>
        <p:nvSpPr>
          <p:cNvPr id="36" name="Shape 34"/>
          <p:cNvSpPr/>
          <p:nvPr/>
        </p:nvSpPr>
        <p:spPr>
          <a:xfrm>
            <a:off x="457200" y="5248656"/>
            <a:ext cx="11247120" cy="969264"/>
          </a:xfrm>
          <a:prstGeom prst="rect">
            <a:avLst/>
          </a:prstGeom>
          <a:solidFill>
            <a:srgbClr val="F8FAFC"/>
          </a:solidFill>
          <a:ln w="9525">
            <a:solidFill>
              <a:srgbClr val="E2E8F0"/>
            </a:solidFill>
            <a:prstDash val="solid"/>
          </a:ln>
        </p:spPr>
        <p:txBody>
          <a:bodyPr/>
          <a:lstStyle/>
          <a:p>
            <a:endParaRPr lang="en-US"/>
          </a:p>
        </p:txBody>
      </p:sp>
      <p:sp>
        <p:nvSpPr>
          <p:cNvPr id="37" name="Shape 35"/>
          <p:cNvSpPr/>
          <p:nvPr/>
        </p:nvSpPr>
        <p:spPr>
          <a:xfrm>
            <a:off x="457200" y="5248656"/>
            <a:ext cx="777240" cy="969264"/>
          </a:xfrm>
          <a:prstGeom prst="rect">
            <a:avLst/>
          </a:prstGeom>
          <a:solidFill>
            <a:srgbClr val="1E293B"/>
          </a:solidFill>
          <a:ln w="12700">
            <a:solidFill>
              <a:srgbClr val="333333"/>
            </a:solidFill>
            <a:prstDash val="solid"/>
          </a:ln>
        </p:spPr>
        <p:txBody>
          <a:bodyPr/>
          <a:lstStyle/>
          <a:p>
            <a:endParaRPr lang="en-US"/>
          </a:p>
        </p:txBody>
      </p:sp>
      <p:sp>
        <p:nvSpPr>
          <p:cNvPr id="38" name="Text 36"/>
          <p:cNvSpPr/>
          <p:nvPr/>
        </p:nvSpPr>
        <p:spPr>
          <a:xfrm>
            <a:off x="457200" y="5248656"/>
            <a:ext cx="777240" cy="969264"/>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39" name="Text 37"/>
          <p:cNvSpPr/>
          <p:nvPr/>
        </p:nvSpPr>
        <p:spPr>
          <a:xfrm>
            <a:off x="1371600" y="5340096"/>
            <a:ext cx="4572000" cy="32004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Topic classifier accuracy</a:t>
            </a:r>
            <a:endParaRPr lang="en-US" sz="1600" dirty="0"/>
          </a:p>
        </p:txBody>
      </p:sp>
      <p:sp>
        <p:nvSpPr>
          <p:cNvPr id="40" name="Text 38"/>
          <p:cNvSpPr/>
          <p:nvPr/>
        </p:nvSpPr>
        <p:spPr>
          <a:xfrm>
            <a:off x="1371600" y="5641848"/>
            <a:ext cx="4572000" cy="274320"/>
          </a:xfrm>
          <a:prstGeom prst="rect">
            <a:avLst/>
          </a:prstGeom>
          <a:noFill/>
          <a:ln/>
        </p:spPr>
        <p:txBody>
          <a:bodyPr wrap="square" lIns="0" tIns="0" rIns="0" bIns="0" rtlCol="0" anchor="ctr"/>
          <a:lstStyle/>
          <a:p>
            <a:pPr marL="0" indent="0">
              <a:buNone/>
            </a:pPr>
            <a:r>
              <a:rPr lang="en-US" sz="1400" dirty="0">
                <a:solidFill>
                  <a:srgbClr val="0F766E"/>
                </a:solidFill>
                <a:latin typeface="Consolas" pitchFamily="34" charset="0"/>
                <a:ea typeface="Consolas" pitchFamily="34" charset="-122"/>
                <a:cs typeface="Consolas" pitchFamily="34" charset="-120"/>
              </a:rPr>
              <a:t>03_eval_topic_classifier.py</a:t>
            </a:r>
            <a:endParaRPr lang="en-US" sz="1400" dirty="0"/>
          </a:p>
        </p:txBody>
      </p:sp>
      <p:sp>
        <p:nvSpPr>
          <p:cNvPr id="41" name="Text 39"/>
          <p:cNvSpPr/>
          <p:nvPr/>
        </p:nvSpPr>
        <p:spPr>
          <a:xfrm>
            <a:off x="1371600" y="5907024"/>
            <a:ext cx="4572000" cy="32004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Precision · Recall · F1 per topic + full confusion matrix + low-confidence triage</a:t>
            </a:r>
            <a:endParaRPr lang="en-US" sz="1100" dirty="0"/>
          </a:p>
        </p:txBody>
      </p:sp>
      <p:sp>
        <p:nvSpPr>
          <p:cNvPr id="42" name="Text 40"/>
          <p:cNvSpPr/>
          <p:nvPr/>
        </p:nvSpPr>
        <p:spPr>
          <a:xfrm>
            <a:off x="6035040" y="5340096"/>
            <a:ext cx="3657600" cy="201168"/>
          </a:xfrm>
          <a:prstGeom prst="rect">
            <a:avLst/>
          </a:prstGeom>
          <a:noFill/>
          <a:ln/>
        </p:spPr>
        <p:txBody>
          <a:bodyPr wrap="square" lIns="0" tIns="0" rIns="0" bIns="0" rtlCol="0" anchor="ctr"/>
          <a:lstStyle/>
          <a:p>
            <a:pPr marL="0" indent="0">
              <a:buNone/>
            </a:pPr>
            <a:r>
              <a:rPr lang="en-US" sz="1200" b="1" kern="0" spc="200" dirty="0">
                <a:solidFill>
                  <a:srgbClr val="B45309"/>
                </a:solidFill>
                <a:latin typeface="Calibri" pitchFamily="34" charset="0"/>
                <a:ea typeface="Calibri" pitchFamily="34" charset="-122"/>
                <a:cs typeface="Calibri" pitchFamily="34" charset="-120"/>
              </a:rPr>
              <a:t>CATCHES</a:t>
            </a:r>
            <a:endParaRPr lang="en-US" sz="1200" dirty="0"/>
          </a:p>
        </p:txBody>
      </p:sp>
      <p:sp>
        <p:nvSpPr>
          <p:cNvPr id="43" name="Text 41"/>
          <p:cNvSpPr/>
          <p:nvPr/>
        </p:nvSpPr>
        <p:spPr>
          <a:xfrm>
            <a:off x="6035040" y="5541264"/>
            <a:ext cx="365760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Drift in the offline enrichment that quietly biases all downstream aggregation</a:t>
            </a:r>
            <a:endParaRPr lang="en-US" sz="1100" dirty="0"/>
          </a:p>
        </p:txBody>
      </p:sp>
      <p:sp>
        <p:nvSpPr>
          <p:cNvPr id="44" name="Text 42"/>
          <p:cNvSpPr/>
          <p:nvPr/>
        </p:nvSpPr>
        <p:spPr>
          <a:xfrm>
            <a:off x="9784080" y="5340096"/>
            <a:ext cx="1828800" cy="201168"/>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CADENCE</a:t>
            </a:r>
            <a:endParaRPr lang="en-US" sz="1200" dirty="0"/>
          </a:p>
        </p:txBody>
      </p:sp>
      <p:sp>
        <p:nvSpPr>
          <p:cNvPr id="45" name="Text 43"/>
          <p:cNvSpPr/>
          <p:nvPr/>
        </p:nvSpPr>
        <p:spPr>
          <a:xfrm>
            <a:off x="9784080" y="5541264"/>
            <a:ext cx="1874520" cy="6858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After any enrichment-prompt change</a:t>
            </a:r>
            <a:endParaRPr lang="en-US" sz="1100" dirty="0"/>
          </a:p>
        </p:txBody>
      </p:sp>
      <p:sp>
        <p:nvSpPr>
          <p:cNvPr id="46" name="Text 44"/>
          <p:cNvSpPr/>
          <p:nvPr/>
        </p:nvSpPr>
        <p:spPr>
          <a:xfrm>
            <a:off x="457200" y="6217920"/>
            <a:ext cx="11247120" cy="411480"/>
          </a:xfrm>
          <a:prstGeom prst="rect">
            <a:avLst/>
          </a:prstGeom>
          <a:noFill/>
          <a:ln/>
        </p:spPr>
        <p:txBody>
          <a:bodyPr wrap="square" lIns="0" tIns="0" rIns="0" bIns="0" rtlCol="0" anchor="ctr"/>
          <a:lstStyle/>
          <a:p>
            <a:pPr marL="0" indent="0" algn="ctr">
              <a:buNone/>
            </a:pPr>
            <a:r>
              <a:rPr lang="en-US" sz="1200" b="1" i="1" dirty="0">
                <a:solidFill>
                  <a:srgbClr val="0F172A"/>
                </a:solidFill>
                <a:latin typeface="Calibri" pitchFamily="34" charset="0"/>
                <a:ea typeface="Calibri" pitchFamily="34" charset="-122"/>
                <a:cs typeface="Calibri" pitchFamily="34" charset="-120"/>
              </a:rPr>
              <a:t>Why both a shape check and an answer-correctness check?  </a:t>
            </a:r>
            <a:r>
              <a:rPr lang="en-US" sz="1200" i="1" dirty="0">
                <a:solidFill>
                  <a:srgbClr val="334155"/>
                </a:solidFill>
                <a:latin typeface="Calibri" pitchFamily="34" charset="0"/>
                <a:ea typeface="Calibri" pitchFamily="34" charset="-122"/>
                <a:cs typeface="Calibri" pitchFamily="34" charset="-120"/>
              </a:rPr>
              <a:t>A row-count drift can pass the shape check; only the manual numeric comparison catches it.  Conversely, a refactor that breaks path-routing is caught instantly by the shape check.  Both layers are needed.</a:t>
            </a:r>
            <a:endParaRPr lang="en-US" sz="1200" dirty="0"/>
          </a:p>
        </p:txBody>
      </p:sp>
      <p:sp>
        <p:nvSpPr>
          <p:cNvPr id="47" name="Text 45"/>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20 / 27</a:t>
            </a:r>
            <a:endParaRPr lang="en-US" sz="900" dirty="0"/>
          </a:p>
        </p:txBody>
      </p:sp>
      <p:sp>
        <p:nvSpPr>
          <p:cNvPr id="48" name="Text 46"/>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GOLDEN SQL COVERAGE  +  TOPIC CLASSIFIER METRICS</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Eval Suite Deep Dive</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548640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GOLDEN SQL DATASET — 25 ENTRIES</a:t>
            </a:r>
            <a:endParaRPr lang="en-US" sz="1400" dirty="0"/>
          </a:p>
        </p:txBody>
      </p:sp>
      <p:sp>
        <p:nvSpPr>
          <p:cNvPr id="6" name="Text 4"/>
          <p:cNvSpPr/>
          <p:nvPr/>
        </p:nvSpPr>
        <p:spPr>
          <a:xfrm>
            <a:off x="457200" y="178308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Single-store top-reason</a:t>
            </a:r>
            <a:endParaRPr lang="en-US" sz="1100" dirty="0"/>
          </a:p>
        </p:txBody>
      </p:sp>
      <p:sp>
        <p:nvSpPr>
          <p:cNvPr id="7" name="Shape 5"/>
          <p:cNvSpPr/>
          <p:nvPr/>
        </p:nvSpPr>
        <p:spPr>
          <a:xfrm>
            <a:off x="3017520" y="1874520"/>
            <a:ext cx="2377440" cy="137160"/>
          </a:xfrm>
          <a:prstGeom prst="rect">
            <a:avLst/>
          </a:prstGeom>
          <a:solidFill>
            <a:srgbClr val="F1F5F9"/>
          </a:solidFill>
          <a:ln w="12700">
            <a:solidFill>
              <a:srgbClr val="333333"/>
            </a:solidFill>
            <a:prstDash val="solid"/>
          </a:ln>
        </p:spPr>
        <p:txBody>
          <a:bodyPr/>
          <a:lstStyle/>
          <a:p>
            <a:endParaRPr lang="en-US"/>
          </a:p>
        </p:txBody>
      </p:sp>
      <p:sp>
        <p:nvSpPr>
          <p:cNvPr id="8" name="Shape 6"/>
          <p:cNvSpPr/>
          <p:nvPr/>
        </p:nvSpPr>
        <p:spPr>
          <a:xfrm>
            <a:off x="3017520" y="1874520"/>
            <a:ext cx="2377440" cy="137160"/>
          </a:xfrm>
          <a:prstGeom prst="rect">
            <a:avLst/>
          </a:prstGeom>
          <a:solidFill>
            <a:srgbClr val="0F766E"/>
          </a:solidFill>
          <a:ln w="12700">
            <a:solidFill>
              <a:srgbClr val="333333"/>
            </a:solidFill>
            <a:prstDash val="solid"/>
          </a:ln>
        </p:spPr>
        <p:txBody>
          <a:bodyPr/>
          <a:lstStyle/>
          <a:p>
            <a:endParaRPr lang="en-US"/>
          </a:p>
        </p:txBody>
      </p:sp>
      <p:sp>
        <p:nvSpPr>
          <p:cNvPr id="9" name="Text 7"/>
          <p:cNvSpPr/>
          <p:nvPr/>
        </p:nvSpPr>
        <p:spPr>
          <a:xfrm>
            <a:off x="5440680" y="178308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3</a:t>
            </a:r>
            <a:endParaRPr lang="en-US" sz="1100" dirty="0"/>
          </a:p>
        </p:txBody>
      </p:sp>
      <p:sp>
        <p:nvSpPr>
          <p:cNvPr id="10" name="Text 8"/>
          <p:cNvSpPr/>
          <p:nvPr/>
        </p:nvSpPr>
        <p:spPr>
          <a:xfrm>
            <a:off x="457200" y="210312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Cross-store aggregation</a:t>
            </a:r>
            <a:endParaRPr lang="en-US" sz="1100" dirty="0"/>
          </a:p>
        </p:txBody>
      </p:sp>
      <p:sp>
        <p:nvSpPr>
          <p:cNvPr id="11" name="Shape 9"/>
          <p:cNvSpPr/>
          <p:nvPr/>
        </p:nvSpPr>
        <p:spPr>
          <a:xfrm>
            <a:off x="3017520" y="2194560"/>
            <a:ext cx="2377440" cy="137160"/>
          </a:xfrm>
          <a:prstGeom prst="rect">
            <a:avLst/>
          </a:prstGeom>
          <a:solidFill>
            <a:srgbClr val="F1F5F9"/>
          </a:solidFill>
          <a:ln w="12700">
            <a:solidFill>
              <a:srgbClr val="333333"/>
            </a:solidFill>
            <a:prstDash val="solid"/>
          </a:ln>
        </p:spPr>
        <p:txBody>
          <a:bodyPr/>
          <a:lstStyle/>
          <a:p>
            <a:endParaRPr lang="en-US"/>
          </a:p>
        </p:txBody>
      </p:sp>
      <p:sp>
        <p:nvSpPr>
          <p:cNvPr id="12" name="Shape 10"/>
          <p:cNvSpPr/>
          <p:nvPr/>
        </p:nvSpPr>
        <p:spPr>
          <a:xfrm>
            <a:off x="3017520" y="2194560"/>
            <a:ext cx="1584960" cy="137160"/>
          </a:xfrm>
          <a:prstGeom prst="rect">
            <a:avLst/>
          </a:prstGeom>
          <a:solidFill>
            <a:srgbClr val="0F766E"/>
          </a:solidFill>
          <a:ln w="12700">
            <a:solidFill>
              <a:srgbClr val="333333"/>
            </a:solidFill>
            <a:prstDash val="solid"/>
          </a:ln>
        </p:spPr>
        <p:txBody>
          <a:bodyPr/>
          <a:lstStyle/>
          <a:p>
            <a:endParaRPr lang="en-US"/>
          </a:p>
        </p:txBody>
      </p:sp>
      <p:sp>
        <p:nvSpPr>
          <p:cNvPr id="13" name="Text 11"/>
          <p:cNvSpPr/>
          <p:nvPr/>
        </p:nvSpPr>
        <p:spPr>
          <a:xfrm>
            <a:off x="5440680" y="210312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457200" y="242316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Two-store comparison</a:t>
            </a:r>
            <a:endParaRPr lang="en-US" sz="1100" dirty="0"/>
          </a:p>
        </p:txBody>
      </p:sp>
      <p:sp>
        <p:nvSpPr>
          <p:cNvPr id="15" name="Shape 13"/>
          <p:cNvSpPr/>
          <p:nvPr/>
        </p:nvSpPr>
        <p:spPr>
          <a:xfrm>
            <a:off x="3017520" y="2514600"/>
            <a:ext cx="2377440" cy="137160"/>
          </a:xfrm>
          <a:prstGeom prst="rect">
            <a:avLst/>
          </a:prstGeom>
          <a:solidFill>
            <a:srgbClr val="F1F5F9"/>
          </a:solidFill>
          <a:ln w="12700">
            <a:solidFill>
              <a:srgbClr val="333333"/>
            </a:solidFill>
            <a:prstDash val="solid"/>
          </a:ln>
        </p:spPr>
        <p:txBody>
          <a:bodyPr/>
          <a:lstStyle/>
          <a:p>
            <a:endParaRPr lang="en-US"/>
          </a:p>
        </p:txBody>
      </p:sp>
      <p:sp>
        <p:nvSpPr>
          <p:cNvPr id="16" name="Shape 14"/>
          <p:cNvSpPr/>
          <p:nvPr/>
        </p:nvSpPr>
        <p:spPr>
          <a:xfrm>
            <a:off x="3017520" y="2514600"/>
            <a:ext cx="2377440" cy="137160"/>
          </a:xfrm>
          <a:prstGeom prst="rect">
            <a:avLst/>
          </a:prstGeom>
          <a:solidFill>
            <a:srgbClr val="0F766E"/>
          </a:solidFill>
          <a:ln w="12700">
            <a:solidFill>
              <a:srgbClr val="333333"/>
            </a:solidFill>
            <a:prstDash val="solid"/>
          </a:ln>
        </p:spPr>
        <p:txBody>
          <a:bodyPr/>
          <a:lstStyle/>
          <a:p>
            <a:endParaRPr lang="en-US"/>
          </a:p>
        </p:txBody>
      </p:sp>
      <p:sp>
        <p:nvSpPr>
          <p:cNvPr id="17" name="Text 15"/>
          <p:cNvSpPr/>
          <p:nvPr/>
        </p:nvSpPr>
        <p:spPr>
          <a:xfrm>
            <a:off x="5440680" y="242316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457200" y="274320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Attribute-value drill-down</a:t>
            </a:r>
            <a:endParaRPr lang="en-US" sz="1100" dirty="0"/>
          </a:p>
        </p:txBody>
      </p:sp>
      <p:sp>
        <p:nvSpPr>
          <p:cNvPr id="19" name="Shape 17"/>
          <p:cNvSpPr/>
          <p:nvPr/>
        </p:nvSpPr>
        <p:spPr>
          <a:xfrm>
            <a:off x="3017520" y="2834640"/>
            <a:ext cx="2377440" cy="137160"/>
          </a:xfrm>
          <a:prstGeom prst="rect">
            <a:avLst/>
          </a:prstGeom>
          <a:solidFill>
            <a:srgbClr val="F1F5F9"/>
          </a:solidFill>
          <a:ln w="12700">
            <a:solidFill>
              <a:srgbClr val="333333"/>
            </a:solidFill>
            <a:prstDash val="solid"/>
          </a:ln>
        </p:spPr>
        <p:txBody>
          <a:bodyPr/>
          <a:lstStyle/>
          <a:p>
            <a:endParaRPr lang="en-US"/>
          </a:p>
        </p:txBody>
      </p:sp>
      <p:sp>
        <p:nvSpPr>
          <p:cNvPr id="20" name="Shape 18"/>
          <p:cNvSpPr/>
          <p:nvPr/>
        </p:nvSpPr>
        <p:spPr>
          <a:xfrm>
            <a:off x="3017520" y="2834640"/>
            <a:ext cx="2377440" cy="137160"/>
          </a:xfrm>
          <a:prstGeom prst="rect">
            <a:avLst/>
          </a:prstGeom>
          <a:solidFill>
            <a:srgbClr val="0F766E"/>
          </a:solidFill>
          <a:ln w="12700">
            <a:solidFill>
              <a:srgbClr val="333333"/>
            </a:solidFill>
            <a:prstDash val="solid"/>
          </a:ln>
        </p:spPr>
        <p:txBody>
          <a:bodyPr/>
          <a:lstStyle/>
          <a:p>
            <a:endParaRPr lang="en-US"/>
          </a:p>
        </p:txBody>
      </p:sp>
      <p:sp>
        <p:nvSpPr>
          <p:cNvPr id="21" name="Text 19"/>
          <p:cNvSpPr/>
          <p:nvPr/>
        </p:nvSpPr>
        <p:spPr>
          <a:xfrm>
            <a:off x="5440680" y="274320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457200" y="306324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Compound multi-dimension</a:t>
            </a:r>
            <a:endParaRPr lang="en-US" sz="1100" dirty="0"/>
          </a:p>
        </p:txBody>
      </p:sp>
      <p:sp>
        <p:nvSpPr>
          <p:cNvPr id="23" name="Shape 21"/>
          <p:cNvSpPr/>
          <p:nvPr/>
        </p:nvSpPr>
        <p:spPr>
          <a:xfrm>
            <a:off x="3017520" y="3154680"/>
            <a:ext cx="2377440" cy="137160"/>
          </a:xfrm>
          <a:prstGeom prst="rect">
            <a:avLst/>
          </a:prstGeom>
          <a:solidFill>
            <a:srgbClr val="F1F5F9"/>
          </a:solidFill>
          <a:ln w="12700">
            <a:solidFill>
              <a:srgbClr val="333333"/>
            </a:solidFill>
            <a:prstDash val="solid"/>
          </a:ln>
        </p:spPr>
        <p:txBody>
          <a:bodyPr/>
          <a:lstStyle/>
          <a:p>
            <a:endParaRPr lang="en-US"/>
          </a:p>
        </p:txBody>
      </p:sp>
      <p:sp>
        <p:nvSpPr>
          <p:cNvPr id="24" name="Shape 22"/>
          <p:cNvSpPr/>
          <p:nvPr/>
        </p:nvSpPr>
        <p:spPr>
          <a:xfrm>
            <a:off x="3017520" y="3154680"/>
            <a:ext cx="1584960" cy="137160"/>
          </a:xfrm>
          <a:prstGeom prst="rect">
            <a:avLst/>
          </a:prstGeom>
          <a:solidFill>
            <a:srgbClr val="0F766E"/>
          </a:solidFill>
          <a:ln w="12700">
            <a:solidFill>
              <a:srgbClr val="333333"/>
            </a:solidFill>
            <a:prstDash val="solid"/>
          </a:ln>
        </p:spPr>
        <p:txBody>
          <a:bodyPr/>
          <a:lstStyle/>
          <a:p>
            <a:endParaRPr lang="en-US"/>
          </a:p>
        </p:txBody>
      </p:sp>
      <p:sp>
        <p:nvSpPr>
          <p:cNvPr id="25" name="Text 23"/>
          <p:cNvSpPr/>
          <p:nvPr/>
        </p:nvSpPr>
        <p:spPr>
          <a:xfrm>
            <a:off x="5440680" y="306324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2</a:t>
            </a:r>
            <a:endParaRPr lang="en-US" sz="1100" dirty="0"/>
          </a:p>
        </p:txBody>
      </p:sp>
      <p:sp>
        <p:nvSpPr>
          <p:cNvPr id="26" name="Text 24"/>
          <p:cNvSpPr/>
          <p:nvPr/>
        </p:nvSpPr>
        <p:spPr>
          <a:xfrm>
            <a:off x="457200" y="338328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Direct path (greet/define)</a:t>
            </a:r>
            <a:endParaRPr lang="en-US" sz="1100" dirty="0"/>
          </a:p>
        </p:txBody>
      </p:sp>
      <p:sp>
        <p:nvSpPr>
          <p:cNvPr id="27" name="Shape 25"/>
          <p:cNvSpPr/>
          <p:nvPr/>
        </p:nvSpPr>
        <p:spPr>
          <a:xfrm>
            <a:off x="3017520" y="3474720"/>
            <a:ext cx="2377440" cy="137160"/>
          </a:xfrm>
          <a:prstGeom prst="rect">
            <a:avLst/>
          </a:prstGeom>
          <a:solidFill>
            <a:srgbClr val="F1F5F9"/>
          </a:solidFill>
          <a:ln w="12700">
            <a:solidFill>
              <a:srgbClr val="333333"/>
            </a:solidFill>
            <a:prstDash val="solid"/>
          </a:ln>
        </p:spPr>
        <p:txBody>
          <a:bodyPr/>
          <a:lstStyle/>
          <a:p>
            <a:endParaRPr lang="en-US"/>
          </a:p>
        </p:txBody>
      </p:sp>
      <p:sp>
        <p:nvSpPr>
          <p:cNvPr id="28" name="Shape 26"/>
          <p:cNvSpPr/>
          <p:nvPr/>
        </p:nvSpPr>
        <p:spPr>
          <a:xfrm>
            <a:off x="3017520" y="3474720"/>
            <a:ext cx="2377440" cy="137160"/>
          </a:xfrm>
          <a:prstGeom prst="rect">
            <a:avLst/>
          </a:prstGeom>
          <a:solidFill>
            <a:srgbClr val="0F766E"/>
          </a:solidFill>
          <a:ln w="12700">
            <a:solidFill>
              <a:srgbClr val="333333"/>
            </a:solidFill>
            <a:prstDash val="solid"/>
          </a:ln>
        </p:spPr>
        <p:txBody>
          <a:bodyPr/>
          <a:lstStyle/>
          <a:p>
            <a:endParaRPr lang="en-US"/>
          </a:p>
        </p:txBody>
      </p:sp>
      <p:sp>
        <p:nvSpPr>
          <p:cNvPr id="29" name="Text 27"/>
          <p:cNvSpPr/>
          <p:nvPr/>
        </p:nvSpPr>
        <p:spPr>
          <a:xfrm>
            <a:off x="5440680" y="338328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3</a:t>
            </a:r>
            <a:endParaRPr lang="en-US" sz="1100" dirty="0"/>
          </a:p>
        </p:txBody>
      </p:sp>
      <p:sp>
        <p:nvSpPr>
          <p:cNvPr id="30" name="Text 28"/>
          <p:cNvSpPr/>
          <p:nvPr/>
        </p:nvSpPr>
        <p:spPr>
          <a:xfrm>
            <a:off x="457200" y="370332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Clarify path (vague Qs)</a:t>
            </a:r>
            <a:endParaRPr lang="en-US" sz="1100" dirty="0"/>
          </a:p>
        </p:txBody>
      </p:sp>
      <p:sp>
        <p:nvSpPr>
          <p:cNvPr id="31" name="Shape 29"/>
          <p:cNvSpPr/>
          <p:nvPr/>
        </p:nvSpPr>
        <p:spPr>
          <a:xfrm>
            <a:off x="3017520" y="3794760"/>
            <a:ext cx="2377440" cy="137160"/>
          </a:xfrm>
          <a:prstGeom prst="rect">
            <a:avLst/>
          </a:prstGeom>
          <a:solidFill>
            <a:srgbClr val="F1F5F9"/>
          </a:solidFill>
          <a:ln w="12700">
            <a:solidFill>
              <a:srgbClr val="333333"/>
            </a:solidFill>
            <a:prstDash val="solid"/>
          </a:ln>
        </p:spPr>
        <p:txBody>
          <a:bodyPr/>
          <a:lstStyle/>
          <a:p>
            <a:endParaRPr lang="en-US"/>
          </a:p>
        </p:txBody>
      </p:sp>
      <p:sp>
        <p:nvSpPr>
          <p:cNvPr id="32" name="Shape 30"/>
          <p:cNvSpPr/>
          <p:nvPr/>
        </p:nvSpPr>
        <p:spPr>
          <a:xfrm>
            <a:off x="3017520" y="3794760"/>
            <a:ext cx="1584960" cy="137160"/>
          </a:xfrm>
          <a:prstGeom prst="rect">
            <a:avLst/>
          </a:prstGeom>
          <a:solidFill>
            <a:srgbClr val="0F766E"/>
          </a:solidFill>
          <a:ln w="12700">
            <a:solidFill>
              <a:srgbClr val="333333"/>
            </a:solidFill>
            <a:prstDash val="solid"/>
          </a:ln>
        </p:spPr>
        <p:txBody>
          <a:bodyPr/>
          <a:lstStyle/>
          <a:p>
            <a:endParaRPr lang="en-US"/>
          </a:p>
        </p:txBody>
      </p:sp>
      <p:sp>
        <p:nvSpPr>
          <p:cNvPr id="33" name="Text 31"/>
          <p:cNvSpPr/>
          <p:nvPr/>
        </p:nvSpPr>
        <p:spPr>
          <a:xfrm>
            <a:off x="5440680" y="370332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2</a:t>
            </a:r>
            <a:endParaRPr lang="en-US" sz="1100" dirty="0"/>
          </a:p>
        </p:txBody>
      </p:sp>
      <p:sp>
        <p:nvSpPr>
          <p:cNvPr id="34" name="Text 32"/>
          <p:cNvSpPr/>
          <p:nvPr/>
        </p:nvSpPr>
        <p:spPr>
          <a:xfrm>
            <a:off x="457200" y="402336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Chart-request preservation</a:t>
            </a:r>
            <a:endParaRPr lang="en-US" sz="1100" dirty="0"/>
          </a:p>
        </p:txBody>
      </p:sp>
      <p:sp>
        <p:nvSpPr>
          <p:cNvPr id="35" name="Shape 33"/>
          <p:cNvSpPr/>
          <p:nvPr/>
        </p:nvSpPr>
        <p:spPr>
          <a:xfrm>
            <a:off x="3017520" y="4114800"/>
            <a:ext cx="2377440" cy="137160"/>
          </a:xfrm>
          <a:prstGeom prst="rect">
            <a:avLst/>
          </a:prstGeom>
          <a:solidFill>
            <a:srgbClr val="F1F5F9"/>
          </a:solidFill>
          <a:ln w="12700">
            <a:solidFill>
              <a:srgbClr val="333333"/>
            </a:solidFill>
            <a:prstDash val="solid"/>
          </a:ln>
        </p:spPr>
        <p:txBody>
          <a:bodyPr/>
          <a:lstStyle/>
          <a:p>
            <a:endParaRPr lang="en-US"/>
          </a:p>
        </p:txBody>
      </p:sp>
      <p:sp>
        <p:nvSpPr>
          <p:cNvPr id="36" name="Shape 34"/>
          <p:cNvSpPr/>
          <p:nvPr/>
        </p:nvSpPr>
        <p:spPr>
          <a:xfrm>
            <a:off x="3017520" y="4114800"/>
            <a:ext cx="792480" cy="137160"/>
          </a:xfrm>
          <a:prstGeom prst="rect">
            <a:avLst/>
          </a:prstGeom>
          <a:solidFill>
            <a:srgbClr val="0F766E"/>
          </a:solidFill>
          <a:ln w="12700">
            <a:solidFill>
              <a:srgbClr val="333333"/>
            </a:solidFill>
            <a:prstDash val="solid"/>
          </a:ln>
        </p:spPr>
        <p:txBody>
          <a:bodyPr/>
          <a:lstStyle/>
          <a:p>
            <a:endParaRPr lang="en-US"/>
          </a:p>
        </p:txBody>
      </p:sp>
      <p:sp>
        <p:nvSpPr>
          <p:cNvPr id="37" name="Text 35"/>
          <p:cNvSpPr/>
          <p:nvPr/>
        </p:nvSpPr>
        <p:spPr>
          <a:xfrm>
            <a:off x="5440680" y="402336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1</a:t>
            </a:r>
            <a:endParaRPr lang="en-US" sz="1100" dirty="0"/>
          </a:p>
        </p:txBody>
      </p:sp>
      <p:sp>
        <p:nvSpPr>
          <p:cNvPr id="38" name="Text 36"/>
          <p:cNvSpPr/>
          <p:nvPr/>
        </p:nvSpPr>
        <p:spPr>
          <a:xfrm>
            <a:off x="457200" y="434340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Colloquial-vs-literal vocab</a:t>
            </a:r>
            <a:endParaRPr lang="en-US" sz="1100" dirty="0"/>
          </a:p>
        </p:txBody>
      </p:sp>
      <p:sp>
        <p:nvSpPr>
          <p:cNvPr id="39" name="Shape 37"/>
          <p:cNvSpPr/>
          <p:nvPr/>
        </p:nvSpPr>
        <p:spPr>
          <a:xfrm>
            <a:off x="3017520" y="4434840"/>
            <a:ext cx="2377440" cy="137160"/>
          </a:xfrm>
          <a:prstGeom prst="rect">
            <a:avLst/>
          </a:prstGeom>
          <a:solidFill>
            <a:srgbClr val="F1F5F9"/>
          </a:solidFill>
          <a:ln w="12700">
            <a:solidFill>
              <a:srgbClr val="333333"/>
            </a:solidFill>
            <a:prstDash val="solid"/>
          </a:ln>
        </p:spPr>
        <p:txBody>
          <a:bodyPr/>
          <a:lstStyle/>
          <a:p>
            <a:endParaRPr lang="en-US"/>
          </a:p>
        </p:txBody>
      </p:sp>
      <p:sp>
        <p:nvSpPr>
          <p:cNvPr id="40" name="Shape 38"/>
          <p:cNvSpPr/>
          <p:nvPr/>
        </p:nvSpPr>
        <p:spPr>
          <a:xfrm>
            <a:off x="3017520" y="4434840"/>
            <a:ext cx="1584960" cy="137160"/>
          </a:xfrm>
          <a:prstGeom prst="rect">
            <a:avLst/>
          </a:prstGeom>
          <a:solidFill>
            <a:srgbClr val="0F766E"/>
          </a:solidFill>
          <a:ln w="12700">
            <a:solidFill>
              <a:srgbClr val="333333"/>
            </a:solidFill>
            <a:prstDash val="solid"/>
          </a:ln>
        </p:spPr>
        <p:txBody>
          <a:bodyPr/>
          <a:lstStyle/>
          <a:p>
            <a:endParaRPr lang="en-US"/>
          </a:p>
        </p:txBody>
      </p:sp>
      <p:sp>
        <p:nvSpPr>
          <p:cNvPr id="41" name="Text 39"/>
          <p:cNvSpPr/>
          <p:nvPr/>
        </p:nvSpPr>
        <p:spPr>
          <a:xfrm>
            <a:off x="5440680" y="434340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2</a:t>
            </a:r>
            <a:endParaRPr lang="en-US" sz="1100" dirty="0"/>
          </a:p>
        </p:txBody>
      </p:sp>
      <p:sp>
        <p:nvSpPr>
          <p:cNvPr id="42" name="Text 40"/>
          <p:cNvSpPr/>
          <p:nvPr/>
        </p:nvSpPr>
        <p:spPr>
          <a:xfrm>
            <a:off x="457200" y="466344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Topic-filtered ranking</a:t>
            </a:r>
            <a:endParaRPr lang="en-US" sz="1100" dirty="0"/>
          </a:p>
        </p:txBody>
      </p:sp>
      <p:sp>
        <p:nvSpPr>
          <p:cNvPr id="43" name="Shape 41"/>
          <p:cNvSpPr/>
          <p:nvPr/>
        </p:nvSpPr>
        <p:spPr>
          <a:xfrm>
            <a:off x="3017520" y="4754880"/>
            <a:ext cx="2377440" cy="137160"/>
          </a:xfrm>
          <a:prstGeom prst="rect">
            <a:avLst/>
          </a:prstGeom>
          <a:solidFill>
            <a:srgbClr val="F1F5F9"/>
          </a:solidFill>
          <a:ln w="12700">
            <a:solidFill>
              <a:srgbClr val="333333"/>
            </a:solidFill>
            <a:prstDash val="solid"/>
          </a:ln>
        </p:spPr>
        <p:txBody>
          <a:bodyPr/>
          <a:lstStyle/>
          <a:p>
            <a:endParaRPr lang="en-US"/>
          </a:p>
        </p:txBody>
      </p:sp>
      <p:sp>
        <p:nvSpPr>
          <p:cNvPr id="44" name="Shape 42"/>
          <p:cNvSpPr/>
          <p:nvPr/>
        </p:nvSpPr>
        <p:spPr>
          <a:xfrm>
            <a:off x="3017520" y="4754880"/>
            <a:ext cx="1584960" cy="137160"/>
          </a:xfrm>
          <a:prstGeom prst="rect">
            <a:avLst/>
          </a:prstGeom>
          <a:solidFill>
            <a:srgbClr val="0F766E"/>
          </a:solidFill>
          <a:ln w="12700">
            <a:solidFill>
              <a:srgbClr val="333333"/>
            </a:solidFill>
            <a:prstDash val="solid"/>
          </a:ln>
        </p:spPr>
        <p:txBody>
          <a:bodyPr/>
          <a:lstStyle/>
          <a:p>
            <a:endParaRPr lang="en-US"/>
          </a:p>
        </p:txBody>
      </p:sp>
      <p:sp>
        <p:nvSpPr>
          <p:cNvPr id="45" name="Text 43"/>
          <p:cNvSpPr/>
          <p:nvPr/>
        </p:nvSpPr>
        <p:spPr>
          <a:xfrm>
            <a:off x="5440680" y="466344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2</a:t>
            </a:r>
            <a:endParaRPr lang="en-US" sz="1100" dirty="0"/>
          </a:p>
        </p:txBody>
      </p:sp>
      <p:sp>
        <p:nvSpPr>
          <p:cNvPr id="46" name="Text 44"/>
          <p:cNvSpPr/>
          <p:nvPr/>
        </p:nvSpPr>
        <p:spPr>
          <a:xfrm>
            <a:off x="457200" y="4983480"/>
            <a:ext cx="256032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Loose product filters</a:t>
            </a:r>
            <a:endParaRPr lang="en-US" sz="1100" dirty="0"/>
          </a:p>
        </p:txBody>
      </p:sp>
      <p:sp>
        <p:nvSpPr>
          <p:cNvPr id="47" name="Shape 45"/>
          <p:cNvSpPr/>
          <p:nvPr/>
        </p:nvSpPr>
        <p:spPr>
          <a:xfrm>
            <a:off x="3017520" y="5074920"/>
            <a:ext cx="2377440" cy="137160"/>
          </a:xfrm>
          <a:prstGeom prst="rect">
            <a:avLst/>
          </a:prstGeom>
          <a:solidFill>
            <a:srgbClr val="F1F5F9"/>
          </a:solidFill>
          <a:ln w="12700">
            <a:solidFill>
              <a:srgbClr val="333333"/>
            </a:solidFill>
            <a:prstDash val="solid"/>
          </a:ln>
        </p:spPr>
        <p:txBody>
          <a:bodyPr/>
          <a:lstStyle/>
          <a:p>
            <a:endParaRPr lang="en-US"/>
          </a:p>
        </p:txBody>
      </p:sp>
      <p:sp>
        <p:nvSpPr>
          <p:cNvPr id="48" name="Shape 46"/>
          <p:cNvSpPr/>
          <p:nvPr/>
        </p:nvSpPr>
        <p:spPr>
          <a:xfrm>
            <a:off x="3017520" y="5074920"/>
            <a:ext cx="1584960" cy="137160"/>
          </a:xfrm>
          <a:prstGeom prst="rect">
            <a:avLst/>
          </a:prstGeom>
          <a:solidFill>
            <a:srgbClr val="0F766E"/>
          </a:solidFill>
          <a:ln w="12700">
            <a:solidFill>
              <a:srgbClr val="333333"/>
            </a:solidFill>
            <a:prstDash val="solid"/>
          </a:ln>
        </p:spPr>
        <p:txBody>
          <a:bodyPr/>
          <a:lstStyle/>
          <a:p>
            <a:endParaRPr lang="en-US"/>
          </a:p>
        </p:txBody>
      </p:sp>
      <p:sp>
        <p:nvSpPr>
          <p:cNvPr id="49" name="Text 47"/>
          <p:cNvSpPr/>
          <p:nvPr/>
        </p:nvSpPr>
        <p:spPr>
          <a:xfrm>
            <a:off x="5440680" y="4983480"/>
            <a:ext cx="365760" cy="32004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2</a:t>
            </a:r>
            <a:endParaRPr lang="en-US" sz="1100" dirty="0"/>
          </a:p>
        </p:txBody>
      </p:sp>
      <p:sp>
        <p:nvSpPr>
          <p:cNvPr id="50" name="Text 48"/>
          <p:cNvSpPr/>
          <p:nvPr/>
        </p:nvSpPr>
        <p:spPr>
          <a:xfrm>
            <a:off x="457200" y="5394960"/>
            <a:ext cx="5486400" cy="640080"/>
          </a:xfrm>
          <a:prstGeom prst="rect">
            <a:avLst/>
          </a:prstGeom>
          <a:noFill/>
          <a:ln/>
        </p:spPr>
        <p:txBody>
          <a:bodyPr wrap="square" lIns="0" tIns="0" rIns="0" bIns="0" rtlCol="0" anchor="t"/>
          <a:lstStyle/>
          <a:p>
            <a:pPr marL="0" indent="0">
              <a:buNone/>
            </a:pPr>
            <a:r>
              <a:rPr lang="en-US" sz="1400" i="1" dirty="0">
                <a:solidFill>
                  <a:srgbClr val="64748B"/>
                </a:solidFill>
                <a:latin typeface="Calibri" pitchFamily="34" charset="0"/>
                <a:ea typeface="Calibri" pitchFamily="34" charset="-122"/>
                <a:cs typeface="Calibri" pitchFamily="34" charset="-120"/>
              </a:rPr>
              <a:t>Each entry asserts: (a) Planner picks the expected path · (b) SQL contains required tokens, avoids forbidden ones · (c) row count is within bounds.  Shape check and not answer-correctness.</a:t>
            </a:r>
            <a:endParaRPr lang="en-US" sz="1400" dirty="0"/>
          </a:p>
        </p:txBody>
      </p:sp>
      <p:sp>
        <p:nvSpPr>
          <p:cNvPr id="51" name="Text 49"/>
          <p:cNvSpPr/>
          <p:nvPr/>
        </p:nvSpPr>
        <p:spPr>
          <a:xfrm>
            <a:off x="6400800" y="1417320"/>
            <a:ext cx="530352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TOPIC CLASSIFIER METRICS</a:t>
            </a:r>
            <a:endParaRPr lang="en-US" sz="1400" dirty="0"/>
          </a:p>
        </p:txBody>
      </p:sp>
      <p:sp>
        <p:nvSpPr>
          <p:cNvPr id="52" name="Text 50"/>
          <p:cNvSpPr/>
          <p:nvPr/>
        </p:nvSpPr>
        <p:spPr>
          <a:xfrm>
            <a:off x="6400800" y="1691640"/>
            <a:ext cx="5303520" cy="41148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Compared against synthetic ground_truth_topic.  Per-topic + overall metrics + confusion matrix.</a:t>
            </a:r>
            <a:endParaRPr lang="en-US" sz="1400" dirty="0"/>
          </a:p>
        </p:txBody>
      </p:sp>
      <p:sp>
        <p:nvSpPr>
          <p:cNvPr id="53" name="Shape 51"/>
          <p:cNvSpPr/>
          <p:nvPr/>
        </p:nvSpPr>
        <p:spPr>
          <a:xfrm>
            <a:off x="6400800" y="2194560"/>
            <a:ext cx="5303520" cy="3703320"/>
          </a:xfrm>
          <a:prstGeom prst="rect">
            <a:avLst/>
          </a:prstGeom>
          <a:solidFill>
            <a:srgbClr val="F8FAFC"/>
          </a:solidFill>
          <a:ln w="9525">
            <a:solidFill>
              <a:srgbClr val="E2E8F0"/>
            </a:solidFill>
            <a:prstDash val="solid"/>
          </a:ln>
        </p:spPr>
        <p:txBody>
          <a:bodyPr/>
          <a:lstStyle/>
          <a:p>
            <a:endParaRPr lang="en-US"/>
          </a:p>
        </p:txBody>
      </p:sp>
      <p:sp>
        <p:nvSpPr>
          <p:cNvPr id="54" name="Text 52"/>
          <p:cNvSpPr/>
          <p:nvPr/>
        </p:nvSpPr>
        <p:spPr>
          <a:xfrm>
            <a:off x="6583680" y="2331720"/>
            <a:ext cx="1463040" cy="32004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Precision(t)</a:t>
            </a:r>
            <a:endParaRPr lang="en-US" sz="1300" dirty="0"/>
          </a:p>
        </p:txBody>
      </p:sp>
      <p:sp>
        <p:nvSpPr>
          <p:cNvPr id="55" name="Text 53"/>
          <p:cNvSpPr/>
          <p:nvPr/>
        </p:nvSpPr>
        <p:spPr>
          <a:xfrm>
            <a:off x="8046720" y="2331720"/>
            <a:ext cx="182880" cy="320040"/>
          </a:xfrm>
          <a:prstGeom prst="rect">
            <a:avLst/>
          </a:prstGeom>
          <a:noFill/>
          <a:ln/>
        </p:spPr>
        <p:txBody>
          <a:bodyPr wrap="square" lIns="0" tIns="0" rIns="0" bIns="0" rtlCol="0" anchor="ctr"/>
          <a:lstStyle/>
          <a:p>
            <a:pPr marL="0" indent="0" algn="ctr">
              <a:buNone/>
            </a:pPr>
            <a:r>
              <a:rPr lang="en-US" sz="1300" b="1" dirty="0">
                <a:solidFill>
                  <a:srgbClr val="64748B"/>
                </a:solidFill>
                <a:latin typeface="Calibri" pitchFamily="34" charset="0"/>
                <a:ea typeface="Calibri" pitchFamily="34" charset="-122"/>
                <a:cs typeface="Calibri" pitchFamily="34" charset="-120"/>
              </a:rPr>
              <a:t>=</a:t>
            </a:r>
            <a:endParaRPr lang="en-US" sz="1300" dirty="0"/>
          </a:p>
        </p:txBody>
      </p:sp>
      <p:sp>
        <p:nvSpPr>
          <p:cNvPr id="56" name="Text 54"/>
          <p:cNvSpPr/>
          <p:nvPr/>
        </p:nvSpPr>
        <p:spPr>
          <a:xfrm>
            <a:off x="8229600" y="2331720"/>
            <a:ext cx="3383280" cy="320040"/>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TP(t)  /  ( TP(t) + FP(t) )</a:t>
            </a:r>
            <a:endParaRPr lang="en-US" sz="1100" dirty="0"/>
          </a:p>
        </p:txBody>
      </p:sp>
      <p:sp>
        <p:nvSpPr>
          <p:cNvPr id="57" name="Shape 55"/>
          <p:cNvSpPr/>
          <p:nvPr/>
        </p:nvSpPr>
        <p:spPr>
          <a:xfrm>
            <a:off x="6583680" y="2697480"/>
            <a:ext cx="4937760" cy="7315"/>
          </a:xfrm>
          <a:prstGeom prst="rect">
            <a:avLst/>
          </a:prstGeom>
          <a:solidFill>
            <a:srgbClr val="E2E8F0"/>
          </a:solidFill>
          <a:ln w="12700">
            <a:solidFill>
              <a:srgbClr val="333333"/>
            </a:solidFill>
            <a:prstDash val="solid"/>
          </a:ln>
        </p:spPr>
        <p:txBody>
          <a:bodyPr/>
          <a:lstStyle/>
          <a:p>
            <a:endParaRPr lang="en-US"/>
          </a:p>
        </p:txBody>
      </p:sp>
      <p:sp>
        <p:nvSpPr>
          <p:cNvPr id="58" name="Text 56"/>
          <p:cNvSpPr/>
          <p:nvPr/>
        </p:nvSpPr>
        <p:spPr>
          <a:xfrm>
            <a:off x="6583680" y="2880360"/>
            <a:ext cx="1463040" cy="32004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Recall(t)</a:t>
            </a:r>
            <a:endParaRPr lang="en-US" sz="1300" dirty="0"/>
          </a:p>
        </p:txBody>
      </p:sp>
      <p:sp>
        <p:nvSpPr>
          <p:cNvPr id="59" name="Text 57"/>
          <p:cNvSpPr/>
          <p:nvPr/>
        </p:nvSpPr>
        <p:spPr>
          <a:xfrm>
            <a:off x="8046720" y="2880360"/>
            <a:ext cx="182880" cy="320040"/>
          </a:xfrm>
          <a:prstGeom prst="rect">
            <a:avLst/>
          </a:prstGeom>
          <a:noFill/>
          <a:ln/>
        </p:spPr>
        <p:txBody>
          <a:bodyPr wrap="square" lIns="0" tIns="0" rIns="0" bIns="0" rtlCol="0" anchor="ctr"/>
          <a:lstStyle/>
          <a:p>
            <a:pPr marL="0" indent="0" algn="ctr">
              <a:buNone/>
            </a:pPr>
            <a:r>
              <a:rPr lang="en-US" sz="1300" b="1" dirty="0">
                <a:solidFill>
                  <a:srgbClr val="64748B"/>
                </a:solidFill>
                <a:latin typeface="Calibri" pitchFamily="34" charset="0"/>
                <a:ea typeface="Calibri" pitchFamily="34" charset="-122"/>
                <a:cs typeface="Calibri" pitchFamily="34" charset="-120"/>
              </a:rPr>
              <a:t>=</a:t>
            </a:r>
            <a:endParaRPr lang="en-US" sz="1300" dirty="0"/>
          </a:p>
        </p:txBody>
      </p:sp>
      <p:sp>
        <p:nvSpPr>
          <p:cNvPr id="60" name="Text 58"/>
          <p:cNvSpPr/>
          <p:nvPr/>
        </p:nvSpPr>
        <p:spPr>
          <a:xfrm>
            <a:off x="8229600" y="2880360"/>
            <a:ext cx="3383280" cy="320040"/>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TP(t)  /  ( TP(t) + FN(t) )</a:t>
            </a:r>
            <a:endParaRPr lang="en-US" sz="1100" dirty="0"/>
          </a:p>
        </p:txBody>
      </p:sp>
      <p:sp>
        <p:nvSpPr>
          <p:cNvPr id="61" name="Shape 59"/>
          <p:cNvSpPr/>
          <p:nvPr/>
        </p:nvSpPr>
        <p:spPr>
          <a:xfrm>
            <a:off x="6583680" y="3246120"/>
            <a:ext cx="4937760" cy="7315"/>
          </a:xfrm>
          <a:prstGeom prst="rect">
            <a:avLst/>
          </a:prstGeom>
          <a:solidFill>
            <a:srgbClr val="E2E8F0"/>
          </a:solidFill>
          <a:ln w="12700">
            <a:solidFill>
              <a:srgbClr val="333333"/>
            </a:solidFill>
            <a:prstDash val="solid"/>
          </a:ln>
        </p:spPr>
        <p:txBody>
          <a:bodyPr/>
          <a:lstStyle/>
          <a:p>
            <a:endParaRPr lang="en-US"/>
          </a:p>
        </p:txBody>
      </p:sp>
      <p:sp>
        <p:nvSpPr>
          <p:cNvPr id="62" name="Text 60"/>
          <p:cNvSpPr/>
          <p:nvPr/>
        </p:nvSpPr>
        <p:spPr>
          <a:xfrm>
            <a:off x="6583680" y="3429000"/>
            <a:ext cx="1463040" cy="32004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F1(t)</a:t>
            </a:r>
            <a:endParaRPr lang="en-US" sz="1300" dirty="0"/>
          </a:p>
        </p:txBody>
      </p:sp>
      <p:sp>
        <p:nvSpPr>
          <p:cNvPr id="63" name="Text 61"/>
          <p:cNvSpPr/>
          <p:nvPr/>
        </p:nvSpPr>
        <p:spPr>
          <a:xfrm>
            <a:off x="8046720" y="3429000"/>
            <a:ext cx="182880" cy="320040"/>
          </a:xfrm>
          <a:prstGeom prst="rect">
            <a:avLst/>
          </a:prstGeom>
          <a:noFill/>
          <a:ln/>
        </p:spPr>
        <p:txBody>
          <a:bodyPr wrap="square" lIns="0" tIns="0" rIns="0" bIns="0" rtlCol="0" anchor="ctr"/>
          <a:lstStyle/>
          <a:p>
            <a:pPr marL="0" indent="0" algn="ctr">
              <a:buNone/>
            </a:pPr>
            <a:r>
              <a:rPr lang="en-US" sz="1300" b="1" dirty="0">
                <a:solidFill>
                  <a:srgbClr val="64748B"/>
                </a:solidFill>
                <a:latin typeface="Calibri" pitchFamily="34" charset="0"/>
                <a:ea typeface="Calibri" pitchFamily="34" charset="-122"/>
                <a:cs typeface="Calibri" pitchFamily="34" charset="-120"/>
              </a:rPr>
              <a:t>=</a:t>
            </a:r>
            <a:endParaRPr lang="en-US" sz="1300" dirty="0"/>
          </a:p>
        </p:txBody>
      </p:sp>
      <p:sp>
        <p:nvSpPr>
          <p:cNvPr id="64" name="Text 62"/>
          <p:cNvSpPr/>
          <p:nvPr/>
        </p:nvSpPr>
        <p:spPr>
          <a:xfrm>
            <a:off x="8229600" y="3429000"/>
            <a:ext cx="3383280" cy="320040"/>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2 · Precision(t) · Recall(t)  /  ( Precision(t) + Recall(t) )</a:t>
            </a:r>
            <a:endParaRPr lang="en-US" sz="1100" dirty="0"/>
          </a:p>
        </p:txBody>
      </p:sp>
      <p:sp>
        <p:nvSpPr>
          <p:cNvPr id="65" name="Shape 63"/>
          <p:cNvSpPr/>
          <p:nvPr/>
        </p:nvSpPr>
        <p:spPr>
          <a:xfrm>
            <a:off x="6583680" y="3794760"/>
            <a:ext cx="4937760" cy="7315"/>
          </a:xfrm>
          <a:prstGeom prst="rect">
            <a:avLst/>
          </a:prstGeom>
          <a:solidFill>
            <a:srgbClr val="E2E8F0"/>
          </a:solidFill>
          <a:ln w="12700">
            <a:solidFill>
              <a:srgbClr val="333333"/>
            </a:solidFill>
            <a:prstDash val="solid"/>
          </a:ln>
        </p:spPr>
        <p:txBody>
          <a:bodyPr/>
          <a:lstStyle/>
          <a:p>
            <a:endParaRPr lang="en-US"/>
          </a:p>
        </p:txBody>
      </p:sp>
      <p:sp>
        <p:nvSpPr>
          <p:cNvPr id="66" name="Text 64"/>
          <p:cNvSpPr/>
          <p:nvPr/>
        </p:nvSpPr>
        <p:spPr>
          <a:xfrm>
            <a:off x="6583680" y="3977640"/>
            <a:ext cx="1463040" cy="32004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Accuracy</a:t>
            </a:r>
            <a:endParaRPr lang="en-US" sz="1300" dirty="0"/>
          </a:p>
        </p:txBody>
      </p:sp>
      <p:sp>
        <p:nvSpPr>
          <p:cNvPr id="67" name="Text 65"/>
          <p:cNvSpPr/>
          <p:nvPr/>
        </p:nvSpPr>
        <p:spPr>
          <a:xfrm>
            <a:off x="8046720" y="3977640"/>
            <a:ext cx="182880" cy="320040"/>
          </a:xfrm>
          <a:prstGeom prst="rect">
            <a:avLst/>
          </a:prstGeom>
          <a:noFill/>
          <a:ln/>
        </p:spPr>
        <p:txBody>
          <a:bodyPr wrap="square" lIns="0" tIns="0" rIns="0" bIns="0" rtlCol="0" anchor="ctr"/>
          <a:lstStyle/>
          <a:p>
            <a:pPr marL="0" indent="0" algn="ctr">
              <a:buNone/>
            </a:pPr>
            <a:r>
              <a:rPr lang="en-US" sz="1300" b="1" dirty="0">
                <a:solidFill>
                  <a:srgbClr val="64748B"/>
                </a:solidFill>
                <a:latin typeface="Calibri" pitchFamily="34" charset="0"/>
                <a:ea typeface="Calibri" pitchFamily="34" charset="-122"/>
                <a:cs typeface="Calibri" pitchFamily="34" charset="-120"/>
              </a:rPr>
              <a:t>=</a:t>
            </a:r>
            <a:endParaRPr lang="en-US" sz="1300" dirty="0"/>
          </a:p>
        </p:txBody>
      </p:sp>
      <p:sp>
        <p:nvSpPr>
          <p:cNvPr id="68" name="Text 66"/>
          <p:cNvSpPr/>
          <p:nvPr/>
        </p:nvSpPr>
        <p:spPr>
          <a:xfrm>
            <a:off x="8229600" y="3977640"/>
            <a:ext cx="3383280" cy="320040"/>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Σ_t  TP(t)  /  N_total</a:t>
            </a:r>
            <a:endParaRPr lang="en-US" sz="1100" dirty="0"/>
          </a:p>
        </p:txBody>
      </p:sp>
      <p:sp>
        <p:nvSpPr>
          <p:cNvPr id="69" name="Text 67"/>
          <p:cNvSpPr/>
          <p:nvPr/>
        </p:nvSpPr>
        <p:spPr>
          <a:xfrm>
            <a:off x="6583680" y="4617720"/>
            <a:ext cx="4937760" cy="1188720"/>
          </a:xfrm>
          <a:prstGeom prst="rect">
            <a:avLst/>
          </a:prstGeom>
          <a:noFill/>
          <a:ln/>
        </p:spPr>
        <p:txBody>
          <a:bodyPr wrap="square" lIns="0" tIns="0" rIns="0" bIns="0" rtlCol="0" anchor="t"/>
          <a:lstStyle/>
          <a:p>
            <a:pPr marL="0" indent="0">
              <a:buNone/>
            </a:pPr>
            <a:r>
              <a:rPr lang="en-US" sz="1200" i="1" dirty="0">
                <a:solidFill>
                  <a:srgbClr val="334155"/>
                </a:solidFill>
                <a:latin typeface="Calibri" pitchFamily="34" charset="0"/>
                <a:ea typeface="Calibri" pitchFamily="34" charset="-122"/>
                <a:cs typeface="Calibri" pitchFamily="34" charset="-120"/>
              </a:rPr>
              <a:t>Script also prints lowest-confidence mistakes — a regression often manifests as a small number of high-confidence wrong predictions, more informative than the overall accuracy number.</a:t>
            </a:r>
            <a:endParaRPr lang="en-US" sz="1200" dirty="0"/>
          </a:p>
        </p:txBody>
      </p:sp>
      <p:sp>
        <p:nvSpPr>
          <p:cNvPr id="70" name="Text 68"/>
          <p:cNvSpPr/>
          <p:nvPr/>
        </p:nvSpPr>
        <p:spPr>
          <a:xfrm>
            <a:off x="457200" y="6126480"/>
            <a:ext cx="11247120" cy="5029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Topic Classifier is the most consequential bias surface in the system — a topic systematically under-classified at one store would silently misdirect merchandising decisions.  Per-topic F1 is monitored individually, not blended into a single accuracy figure.</a:t>
            </a:r>
            <a:endParaRPr lang="en-US" sz="1200" dirty="0"/>
          </a:p>
        </p:txBody>
      </p:sp>
      <p:sp>
        <p:nvSpPr>
          <p:cNvPr id="71" name="Text 69"/>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21 / 27</a:t>
            </a:r>
            <a:endParaRPr lang="en-US" sz="900" dirty="0"/>
          </a:p>
        </p:txBody>
      </p:sp>
      <p:sp>
        <p:nvSpPr>
          <p:cNvPr id="72" name="Text 70"/>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THE HIGHEST-LEVERAGE QUALITY INTERVENTION</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The Groundedness Check :  Why Regex Beats LLM-as-Judge</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5486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For a quantitative business-analytics use case, numeric hallucination is the most damaging failure the system can produce.  A fabricated count becomes a wrong purchase order.</a:t>
            </a:r>
            <a:endParaRPr lang="en-US" sz="1400" dirty="0"/>
          </a:p>
        </p:txBody>
      </p:sp>
      <p:sp>
        <p:nvSpPr>
          <p:cNvPr id="6" name="Shape 4"/>
          <p:cNvSpPr/>
          <p:nvPr/>
        </p:nvSpPr>
        <p:spPr>
          <a:xfrm>
            <a:off x="457200" y="2011680"/>
            <a:ext cx="11247120" cy="1691640"/>
          </a:xfrm>
          <a:prstGeom prst="rect">
            <a:avLst/>
          </a:prstGeom>
          <a:solidFill>
            <a:srgbClr val="F8FAFC"/>
          </a:solidFill>
          <a:ln w="9525">
            <a:solidFill>
              <a:srgbClr val="E2E8F0"/>
            </a:solidFill>
            <a:prstDash val="solid"/>
          </a:ln>
        </p:spPr>
        <p:txBody>
          <a:bodyPr/>
          <a:lstStyle/>
          <a:p>
            <a:endParaRPr lang="en-US"/>
          </a:p>
        </p:txBody>
      </p:sp>
      <p:sp>
        <p:nvSpPr>
          <p:cNvPr id="7" name="Text 5"/>
          <p:cNvSpPr/>
          <p:nvPr/>
        </p:nvSpPr>
        <p:spPr>
          <a:xfrm>
            <a:off x="685800" y="2103120"/>
            <a:ext cx="10789920" cy="274320"/>
          </a:xfrm>
          <a:prstGeom prst="rect">
            <a:avLst/>
          </a:prstGeom>
          <a:noFill/>
          <a:ln/>
        </p:spPr>
        <p:txBody>
          <a:bodyPr wrap="square" lIns="0" tIns="0" rIns="0" bIns="0" rtlCol="0" anchor="ctr"/>
          <a:lstStyle/>
          <a:p>
            <a:pPr marL="0" indent="0">
              <a:buNone/>
            </a:pPr>
            <a:r>
              <a:rPr lang="en-US" sz="1600" b="1" kern="0" spc="300" dirty="0">
                <a:solidFill>
                  <a:srgbClr val="1E293B"/>
                </a:solidFill>
                <a:latin typeface="Calibri" pitchFamily="34" charset="0"/>
                <a:ea typeface="Calibri" pitchFamily="34" charset="-122"/>
                <a:cs typeface="Calibri" pitchFamily="34" charset="-120"/>
              </a:rPr>
              <a:t>HOW IT WORKS</a:t>
            </a:r>
            <a:endParaRPr lang="en-US" sz="1600" dirty="0"/>
          </a:p>
        </p:txBody>
      </p:sp>
      <p:sp>
        <p:nvSpPr>
          <p:cNvPr id="8" name="Text 6"/>
          <p:cNvSpPr/>
          <p:nvPr/>
        </p:nvSpPr>
        <p:spPr>
          <a:xfrm>
            <a:off x="685800" y="2377440"/>
            <a:ext cx="1078992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Every numeric token in the Writer's prose is extracted by regex and verified against a broad candidate set derived from the SQL result rows.</a:t>
            </a:r>
            <a:endParaRPr lang="en-US" sz="1400" dirty="0"/>
          </a:p>
        </p:txBody>
      </p:sp>
      <p:sp>
        <p:nvSpPr>
          <p:cNvPr id="9" name="Shape 7"/>
          <p:cNvSpPr/>
          <p:nvPr/>
        </p:nvSpPr>
        <p:spPr>
          <a:xfrm>
            <a:off x="685800" y="2880360"/>
            <a:ext cx="1517904" cy="685800"/>
          </a:xfrm>
          <a:prstGeom prst="rect">
            <a:avLst/>
          </a:prstGeom>
          <a:solidFill>
            <a:srgbClr val="FFFFFF"/>
          </a:solidFill>
          <a:ln w="6350">
            <a:solidFill>
              <a:srgbClr val="0F766E"/>
            </a:solidFill>
            <a:prstDash val="solid"/>
          </a:ln>
        </p:spPr>
        <p:txBody>
          <a:bodyPr/>
          <a:lstStyle/>
          <a:p>
            <a:endParaRPr lang="en-US"/>
          </a:p>
        </p:txBody>
      </p:sp>
      <p:sp>
        <p:nvSpPr>
          <p:cNvPr id="10" name="Text 8"/>
          <p:cNvSpPr/>
          <p:nvPr/>
        </p:nvSpPr>
        <p:spPr>
          <a:xfrm>
            <a:off x="777240" y="2926080"/>
            <a:ext cx="1335024" cy="59436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individual cells</a:t>
            </a:r>
            <a:endParaRPr lang="en-US" sz="1400" dirty="0"/>
          </a:p>
        </p:txBody>
      </p:sp>
      <p:sp>
        <p:nvSpPr>
          <p:cNvPr id="11" name="Shape 9"/>
          <p:cNvSpPr/>
          <p:nvPr/>
        </p:nvSpPr>
        <p:spPr>
          <a:xfrm>
            <a:off x="2258568" y="2880360"/>
            <a:ext cx="1517904" cy="685800"/>
          </a:xfrm>
          <a:prstGeom prst="rect">
            <a:avLst/>
          </a:prstGeom>
          <a:solidFill>
            <a:srgbClr val="FFFFFF"/>
          </a:solidFill>
          <a:ln w="6350">
            <a:solidFill>
              <a:srgbClr val="0F766E"/>
            </a:solidFill>
            <a:prstDash val="solid"/>
          </a:ln>
        </p:spPr>
        <p:txBody>
          <a:bodyPr/>
          <a:lstStyle/>
          <a:p>
            <a:endParaRPr lang="en-US"/>
          </a:p>
        </p:txBody>
      </p:sp>
      <p:sp>
        <p:nvSpPr>
          <p:cNvPr id="12" name="Text 10"/>
          <p:cNvSpPr/>
          <p:nvPr/>
        </p:nvSpPr>
        <p:spPr>
          <a:xfrm>
            <a:off x="2350008" y="2926080"/>
            <a:ext cx="1335024" cy="59436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numbers in string labels</a:t>
            </a:r>
            <a:endParaRPr lang="en-US" sz="1400" dirty="0"/>
          </a:p>
        </p:txBody>
      </p:sp>
      <p:sp>
        <p:nvSpPr>
          <p:cNvPr id="13" name="Shape 11"/>
          <p:cNvSpPr/>
          <p:nvPr/>
        </p:nvSpPr>
        <p:spPr>
          <a:xfrm>
            <a:off x="3831336" y="2880360"/>
            <a:ext cx="1517904" cy="685800"/>
          </a:xfrm>
          <a:prstGeom prst="rect">
            <a:avLst/>
          </a:prstGeom>
          <a:solidFill>
            <a:srgbClr val="FFFFFF"/>
          </a:solidFill>
          <a:ln w="6350">
            <a:solidFill>
              <a:srgbClr val="0F766E"/>
            </a:solidFill>
            <a:prstDash val="solid"/>
          </a:ln>
        </p:spPr>
        <p:txBody>
          <a:bodyPr/>
          <a:lstStyle/>
          <a:p>
            <a:endParaRPr lang="en-US"/>
          </a:p>
        </p:txBody>
      </p:sp>
      <p:sp>
        <p:nvSpPr>
          <p:cNvPr id="14" name="Text 12"/>
          <p:cNvSpPr/>
          <p:nvPr/>
        </p:nvSpPr>
        <p:spPr>
          <a:xfrm>
            <a:off x="3922776" y="2926080"/>
            <a:ext cx="1335024" cy="59436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per-col grand totals</a:t>
            </a:r>
            <a:endParaRPr lang="en-US" sz="1400" dirty="0"/>
          </a:p>
        </p:txBody>
      </p:sp>
      <p:sp>
        <p:nvSpPr>
          <p:cNvPr id="15" name="Shape 13"/>
          <p:cNvSpPr/>
          <p:nvPr/>
        </p:nvSpPr>
        <p:spPr>
          <a:xfrm>
            <a:off x="5404104" y="2880360"/>
            <a:ext cx="1517904" cy="685800"/>
          </a:xfrm>
          <a:prstGeom prst="rect">
            <a:avLst/>
          </a:prstGeom>
          <a:solidFill>
            <a:srgbClr val="FFFFFF"/>
          </a:solidFill>
          <a:ln w="6350">
            <a:solidFill>
              <a:srgbClr val="0F766E"/>
            </a:solidFill>
            <a:prstDash val="solid"/>
          </a:ln>
        </p:spPr>
        <p:txBody>
          <a:bodyPr/>
          <a:lstStyle/>
          <a:p>
            <a:endParaRPr lang="en-US"/>
          </a:p>
        </p:txBody>
      </p:sp>
      <p:sp>
        <p:nvSpPr>
          <p:cNvPr id="16" name="Text 14"/>
          <p:cNvSpPr/>
          <p:nvPr/>
        </p:nvSpPr>
        <p:spPr>
          <a:xfrm>
            <a:off x="5495544" y="2926080"/>
            <a:ext cx="1335024" cy="59436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per-row column %</a:t>
            </a:r>
            <a:endParaRPr lang="en-US" sz="1400" dirty="0"/>
          </a:p>
        </p:txBody>
      </p:sp>
      <p:sp>
        <p:nvSpPr>
          <p:cNvPr id="17" name="Shape 15"/>
          <p:cNvSpPr/>
          <p:nvPr/>
        </p:nvSpPr>
        <p:spPr>
          <a:xfrm>
            <a:off x="6976872" y="2880360"/>
            <a:ext cx="1517904" cy="685800"/>
          </a:xfrm>
          <a:prstGeom prst="rect">
            <a:avLst/>
          </a:prstGeom>
          <a:solidFill>
            <a:srgbClr val="FFFFFF"/>
          </a:solidFill>
          <a:ln w="6350">
            <a:solidFill>
              <a:srgbClr val="0F766E"/>
            </a:solidFill>
            <a:prstDash val="solid"/>
          </a:ln>
        </p:spPr>
        <p:txBody>
          <a:bodyPr/>
          <a:lstStyle/>
          <a:p>
            <a:endParaRPr lang="en-US"/>
          </a:p>
        </p:txBody>
      </p:sp>
      <p:sp>
        <p:nvSpPr>
          <p:cNvPr id="18" name="Text 16"/>
          <p:cNvSpPr/>
          <p:nvPr/>
        </p:nvSpPr>
        <p:spPr>
          <a:xfrm>
            <a:off x="7068312" y="2926080"/>
            <a:ext cx="1335024" cy="59436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per-group subtotals</a:t>
            </a:r>
            <a:endParaRPr lang="en-US" sz="1400" dirty="0"/>
          </a:p>
        </p:txBody>
      </p:sp>
      <p:sp>
        <p:nvSpPr>
          <p:cNvPr id="19" name="Shape 17"/>
          <p:cNvSpPr/>
          <p:nvPr/>
        </p:nvSpPr>
        <p:spPr>
          <a:xfrm>
            <a:off x="8549640" y="2880360"/>
            <a:ext cx="1517904" cy="685800"/>
          </a:xfrm>
          <a:prstGeom prst="rect">
            <a:avLst/>
          </a:prstGeom>
          <a:solidFill>
            <a:srgbClr val="FFFFFF"/>
          </a:solidFill>
          <a:ln w="6350">
            <a:solidFill>
              <a:srgbClr val="0F766E"/>
            </a:solidFill>
            <a:prstDash val="solid"/>
          </a:ln>
        </p:spPr>
        <p:txBody>
          <a:bodyPr/>
          <a:lstStyle/>
          <a:p>
            <a:endParaRPr lang="en-US"/>
          </a:p>
        </p:txBody>
      </p:sp>
      <p:sp>
        <p:nvSpPr>
          <p:cNvPr id="20" name="Text 18"/>
          <p:cNvSpPr/>
          <p:nvPr/>
        </p:nvSpPr>
        <p:spPr>
          <a:xfrm>
            <a:off x="8641080" y="2926080"/>
            <a:ext cx="1335024" cy="59436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per-group row counts</a:t>
            </a:r>
            <a:endParaRPr lang="en-US" sz="1400" dirty="0"/>
          </a:p>
        </p:txBody>
      </p:sp>
      <p:sp>
        <p:nvSpPr>
          <p:cNvPr id="21" name="Shape 19"/>
          <p:cNvSpPr/>
          <p:nvPr/>
        </p:nvSpPr>
        <p:spPr>
          <a:xfrm>
            <a:off x="10122408" y="2880360"/>
            <a:ext cx="1517904" cy="685800"/>
          </a:xfrm>
          <a:prstGeom prst="rect">
            <a:avLst/>
          </a:prstGeom>
          <a:solidFill>
            <a:srgbClr val="FFFFFF"/>
          </a:solidFill>
          <a:ln w="6350">
            <a:solidFill>
              <a:srgbClr val="0F766E"/>
            </a:solidFill>
            <a:prstDash val="solid"/>
          </a:ln>
        </p:spPr>
        <p:txBody>
          <a:bodyPr/>
          <a:lstStyle/>
          <a:p>
            <a:endParaRPr lang="en-US"/>
          </a:p>
        </p:txBody>
      </p:sp>
      <p:sp>
        <p:nvSpPr>
          <p:cNvPr id="22" name="Text 20"/>
          <p:cNvSpPr/>
          <p:nvPr/>
        </p:nvSpPr>
        <p:spPr>
          <a:xfrm>
            <a:off x="10213848" y="2926080"/>
            <a:ext cx="1335024" cy="59436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top-N partial sums (N=2,3,4,5)</a:t>
            </a:r>
            <a:endParaRPr lang="en-US" sz="1400" dirty="0"/>
          </a:p>
        </p:txBody>
      </p:sp>
      <p:sp>
        <p:nvSpPr>
          <p:cNvPr id="23" name="Shape 21"/>
          <p:cNvSpPr/>
          <p:nvPr/>
        </p:nvSpPr>
        <p:spPr>
          <a:xfrm>
            <a:off x="457200" y="3931920"/>
            <a:ext cx="5486400" cy="2194560"/>
          </a:xfrm>
          <a:prstGeom prst="rect">
            <a:avLst/>
          </a:prstGeom>
          <a:solidFill>
            <a:srgbClr val="F0FDF4"/>
          </a:solidFill>
          <a:ln w="7620">
            <a:solidFill>
              <a:srgbClr val="15803D"/>
            </a:solidFill>
            <a:prstDash val="solid"/>
          </a:ln>
        </p:spPr>
        <p:txBody>
          <a:bodyPr/>
          <a:lstStyle/>
          <a:p>
            <a:endParaRPr lang="en-US"/>
          </a:p>
        </p:txBody>
      </p:sp>
      <p:sp>
        <p:nvSpPr>
          <p:cNvPr id="24" name="Text 22"/>
          <p:cNvSpPr/>
          <p:nvPr/>
        </p:nvSpPr>
        <p:spPr>
          <a:xfrm>
            <a:off x="685800" y="4023360"/>
            <a:ext cx="5029200" cy="274320"/>
          </a:xfrm>
          <a:prstGeom prst="rect">
            <a:avLst/>
          </a:prstGeom>
          <a:noFill/>
          <a:ln/>
        </p:spPr>
        <p:txBody>
          <a:bodyPr wrap="square" lIns="0" tIns="0" rIns="0" bIns="0" rtlCol="0" anchor="ctr"/>
          <a:lstStyle/>
          <a:p>
            <a:pPr marL="0" indent="0">
              <a:buNone/>
            </a:pPr>
            <a:r>
              <a:rPr lang="en-US" sz="1400" b="1" kern="0" spc="300" dirty="0">
                <a:solidFill>
                  <a:srgbClr val="15803D"/>
                </a:solidFill>
                <a:latin typeface="Calibri" pitchFamily="34" charset="0"/>
                <a:ea typeface="Calibri" pitchFamily="34" charset="-122"/>
                <a:cs typeface="Calibri" pitchFamily="34" charset="-120"/>
              </a:rPr>
              <a:t>REGEX CHECK  —  CHOSEN</a:t>
            </a:r>
            <a:endParaRPr lang="en-US" sz="1400" dirty="0"/>
          </a:p>
        </p:txBody>
      </p:sp>
      <p:sp>
        <p:nvSpPr>
          <p:cNvPr id="25" name="Shape 23"/>
          <p:cNvSpPr/>
          <p:nvPr/>
        </p:nvSpPr>
        <p:spPr>
          <a:xfrm>
            <a:off x="713232" y="4370832"/>
            <a:ext cx="109728" cy="109728"/>
          </a:xfrm>
          <a:prstGeom prst="ellipse">
            <a:avLst/>
          </a:prstGeom>
          <a:solidFill>
            <a:srgbClr val="15803D"/>
          </a:solidFill>
          <a:ln w="12700">
            <a:solidFill>
              <a:srgbClr val="333333"/>
            </a:solidFill>
            <a:prstDash val="solid"/>
          </a:ln>
        </p:spPr>
        <p:txBody>
          <a:bodyPr/>
          <a:lstStyle/>
          <a:p>
            <a:endParaRPr lang="en-US"/>
          </a:p>
        </p:txBody>
      </p:sp>
      <p:sp>
        <p:nvSpPr>
          <p:cNvPr id="26" name="Text 24"/>
          <p:cNvSpPr/>
          <p:nvPr/>
        </p:nvSpPr>
        <p:spPr>
          <a:xfrm>
            <a:off x="914400" y="4279392"/>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Deterministic: same input, same verdict every time</a:t>
            </a:r>
            <a:endParaRPr lang="en-US" sz="1400" dirty="0"/>
          </a:p>
        </p:txBody>
      </p:sp>
      <p:sp>
        <p:nvSpPr>
          <p:cNvPr id="27" name="Shape 25"/>
          <p:cNvSpPr/>
          <p:nvPr/>
        </p:nvSpPr>
        <p:spPr>
          <a:xfrm>
            <a:off x="713232" y="4754880"/>
            <a:ext cx="109728" cy="109728"/>
          </a:xfrm>
          <a:prstGeom prst="ellipse">
            <a:avLst/>
          </a:prstGeom>
          <a:solidFill>
            <a:srgbClr val="15803D"/>
          </a:solidFill>
          <a:ln w="12700">
            <a:solidFill>
              <a:srgbClr val="333333"/>
            </a:solidFill>
            <a:prstDash val="solid"/>
          </a:ln>
        </p:spPr>
        <p:txBody>
          <a:bodyPr/>
          <a:lstStyle/>
          <a:p>
            <a:endParaRPr lang="en-US"/>
          </a:p>
        </p:txBody>
      </p:sp>
      <p:sp>
        <p:nvSpPr>
          <p:cNvPr id="28" name="Text 26"/>
          <p:cNvSpPr/>
          <p:nvPr/>
        </p:nvSpPr>
        <p:spPr>
          <a:xfrm>
            <a:off x="914400" y="4663440"/>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Zero additional cost: no extra API call per turn</a:t>
            </a:r>
            <a:endParaRPr lang="en-US" sz="1400" dirty="0"/>
          </a:p>
        </p:txBody>
      </p:sp>
      <p:sp>
        <p:nvSpPr>
          <p:cNvPr id="29" name="Shape 27"/>
          <p:cNvSpPr/>
          <p:nvPr/>
        </p:nvSpPr>
        <p:spPr>
          <a:xfrm>
            <a:off x="713232" y="5138928"/>
            <a:ext cx="109728" cy="109728"/>
          </a:xfrm>
          <a:prstGeom prst="ellipse">
            <a:avLst/>
          </a:prstGeom>
          <a:solidFill>
            <a:srgbClr val="15803D"/>
          </a:solidFill>
          <a:ln w="12700">
            <a:solidFill>
              <a:srgbClr val="333333"/>
            </a:solidFill>
            <a:prstDash val="solid"/>
          </a:ln>
        </p:spPr>
        <p:txBody>
          <a:bodyPr/>
          <a:lstStyle/>
          <a:p>
            <a:endParaRPr lang="en-US"/>
          </a:p>
        </p:txBody>
      </p:sp>
      <p:sp>
        <p:nvSpPr>
          <p:cNvPr id="30" name="Text 28"/>
          <p:cNvSpPr/>
          <p:nvPr/>
        </p:nvSpPr>
        <p:spPr>
          <a:xfrm>
            <a:off x="914400" y="5047488"/>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Trivially explainable to a stakeholder</a:t>
            </a:r>
            <a:endParaRPr lang="en-US" sz="1400" dirty="0"/>
          </a:p>
        </p:txBody>
      </p:sp>
      <p:sp>
        <p:nvSpPr>
          <p:cNvPr id="31" name="Shape 29"/>
          <p:cNvSpPr/>
          <p:nvPr/>
        </p:nvSpPr>
        <p:spPr>
          <a:xfrm>
            <a:off x="713232" y="5522976"/>
            <a:ext cx="109728" cy="109728"/>
          </a:xfrm>
          <a:prstGeom prst="ellipse">
            <a:avLst/>
          </a:prstGeom>
          <a:solidFill>
            <a:srgbClr val="15803D"/>
          </a:solidFill>
          <a:ln w="12700">
            <a:solidFill>
              <a:srgbClr val="333333"/>
            </a:solidFill>
            <a:prstDash val="solid"/>
          </a:ln>
        </p:spPr>
        <p:txBody>
          <a:bodyPr/>
          <a:lstStyle/>
          <a:p>
            <a:endParaRPr lang="en-US"/>
          </a:p>
        </p:txBody>
      </p:sp>
      <p:sp>
        <p:nvSpPr>
          <p:cNvPr id="32" name="Text 30"/>
          <p:cNvSpPr/>
          <p:nvPr/>
        </p:nvSpPr>
        <p:spPr>
          <a:xfrm>
            <a:off x="914400" y="5431536"/>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Structurally incapable of being talked into letting a bug through</a:t>
            </a:r>
            <a:endParaRPr lang="en-US" sz="1400" dirty="0"/>
          </a:p>
        </p:txBody>
      </p:sp>
      <p:sp>
        <p:nvSpPr>
          <p:cNvPr id="33" name="Shape 31"/>
          <p:cNvSpPr/>
          <p:nvPr/>
        </p:nvSpPr>
        <p:spPr>
          <a:xfrm>
            <a:off x="6263640" y="3931920"/>
            <a:ext cx="5486400" cy="2194560"/>
          </a:xfrm>
          <a:prstGeom prst="rect">
            <a:avLst/>
          </a:prstGeom>
          <a:solidFill>
            <a:srgbClr val="F8FAFC"/>
          </a:solidFill>
          <a:ln w="9525">
            <a:solidFill>
              <a:srgbClr val="E2E8F0"/>
            </a:solidFill>
            <a:prstDash val="solid"/>
          </a:ln>
        </p:spPr>
        <p:txBody>
          <a:bodyPr/>
          <a:lstStyle/>
          <a:p>
            <a:endParaRPr lang="en-US"/>
          </a:p>
        </p:txBody>
      </p:sp>
      <p:sp>
        <p:nvSpPr>
          <p:cNvPr id="34" name="Text 32"/>
          <p:cNvSpPr/>
          <p:nvPr/>
        </p:nvSpPr>
        <p:spPr>
          <a:xfrm>
            <a:off x="6492240" y="4023360"/>
            <a:ext cx="5029200" cy="274320"/>
          </a:xfrm>
          <a:prstGeom prst="rect">
            <a:avLst/>
          </a:prstGeom>
          <a:noFill/>
          <a:ln/>
        </p:spPr>
        <p:txBody>
          <a:bodyPr wrap="square" lIns="0" tIns="0" rIns="0" bIns="0" rtlCol="0" anchor="ctr"/>
          <a:lstStyle/>
          <a:p>
            <a:pPr marL="0" indent="0">
              <a:buNone/>
            </a:pPr>
            <a:r>
              <a:rPr lang="en-US" sz="1400" b="1" kern="0" spc="300" dirty="0">
                <a:solidFill>
                  <a:srgbClr val="B91C1C"/>
                </a:solidFill>
                <a:latin typeface="Calibri" pitchFamily="34" charset="0"/>
                <a:ea typeface="Calibri" pitchFamily="34" charset="-122"/>
                <a:cs typeface="Calibri" pitchFamily="34" charset="-120"/>
              </a:rPr>
              <a:t>LLM-AS-JUDGE  —  REJECTED</a:t>
            </a:r>
            <a:endParaRPr lang="en-US" sz="1400" dirty="0"/>
          </a:p>
        </p:txBody>
      </p:sp>
      <p:sp>
        <p:nvSpPr>
          <p:cNvPr id="35" name="Shape 33"/>
          <p:cNvSpPr/>
          <p:nvPr/>
        </p:nvSpPr>
        <p:spPr>
          <a:xfrm>
            <a:off x="6519672" y="4370832"/>
            <a:ext cx="109728" cy="109728"/>
          </a:xfrm>
          <a:prstGeom prst="ellipse">
            <a:avLst/>
          </a:prstGeom>
          <a:solidFill>
            <a:srgbClr val="B91C1C"/>
          </a:solidFill>
          <a:ln w="12700">
            <a:solidFill>
              <a:srgbClr val="333333"/>
            </a:solidFill>
            <a:prstDash val="solid"/>
          </a:ln>
        </p:spPr>
        <p:txBody>
          <a:bodyPr/>
          <a:lstStyle/>
          <a:p>
            <a:endParaRPr lang="en-US"/>
          </a:p>
        </p:txBody>
      </p:sp>
      <p:sp>
        <p:nvSpPr>
          <p:cNvPr id="36" name="Text 34"/>
          <p:cNvSpPr/>
          <p:nvPr/>
        </p:nvSpPr>
        <p:spPr>
          <a:xfrm>
            <a:off x="6720840" y="4279392"/>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Stochastic: same input may produce different verdicts</a:t>
            </a:r>
            <a:endParaRPr lang="en-US" sz="1400" dirty="0"/>
          </a:p>
        </p:txBody>
      </p:sp>
      <p:sp>
        <p:nvSpPr>
          <p:cNvPr id="37" name="Shape 35"/>
          <p:cNvSpPr/>
          <p:nvPr/>
        </p:nvSpPr>
        <p:spPr>
          <a:xfrm>
            <a:off x="6519672" y="4754880"/>
            <a:ext cx="109728" cy="109728"/>
          </a:xfrm>
          <a:prstGeom prst="ellipse">
            <a:avLst/>
          </a:prstGeom>
          <a:solidFill>
            <a:srgbClr val="B91C1C"/>
          </a:solidFill>
          <a:ln w="12700">
            <a:solidFill>
              <a:srgbClr val="333333"/>
            </a:solidFill>
            <a:prstDash val="solid"/>
          </a:ln>
        </p:spPr>
        <p:txBody>
          <a:bodyPr/>
          <a:lstStyle/>
          <a:p>
            <a:endParaRPr lang="en-US"/>
          </a:p>
        </p:txBody>
      </p:sp>
      <p:sp>
        <p:nvSpPr>
          <p:cNvPr id="38" name="Text 36"/>
          <p:cNvSpPr/>
          <p:nvPr/>
        </p:nvSpPr>
        <p:spPr>
          <a:xfrm>
            <a:off x="6720840" y="4663440"/>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Adds another API call per turn</a:t>
            </a:r>
            <a:endParaRPr lang="en-US" sz="1400" dirty="0"/>
          </a:p>
        </p:txBody>
      </p:sp>
      <p:sp>
        <p:nvSpPr>
          <p:cNvPr id="39" name="Shape 37"/>
          <p:cNvSpPr/>
          <p:nvPr/>
        </p:nvSpPr>
        <p:spPr>
          <a:xfrm>
            <a:off x="6519672" y="5138928"/>
            <a:ext cx="109728" cy="109728"/>
          </a:xfrm>
          <a:prstGeom prst="ellipse">
            <a:avLst/>
          </a:prstGeom>
          <a:solidFill>
            <a:srgbClr val="B91C1C"/>
          </a:solidFill>
          <a:ln w="12700">
            <a:solidFill>
              <a:srgbClr val="333333"/>
            </a:solidFill>
            <a:prstDash val="solid"/>
          </a:ln>
        </p:spPr>
        <p:txBody>
          <a:bodyPr/>
          <a:lstStyle/>
          <a:p>
            <a:endParaRPr lang="en-US"/>
          </a:p>
        </p:txBody>
      </p:sp>
      <p:sp>
        <p:nvSpPr>
          <p:cNvPr id="40" name="Text 38"/>
          <p:cNvSpPr/>
          <p:nvPr/>
        </p:nvSpPr>
        <p:spPr>
          <a:xfrm>
            <a:off x="6720840" y="5047488"/>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Requires its own eval harness to confirm the judge is correct</a:t>
            </a:r>
            <a:endParaRPr lang="en-US" sz="1400" dirty="0"/>
          </a:p>
        </p:txBody>
      </p:sp>
      <p:sp>
        <p:nvSpPr>
          <p:cNvPr id="41" name="Shape 39"/>
          <p:cNvSpPr/>
          <p:nvPr/>
        </p:nvSpPr>
        <p:spPr>
          <a:xfrm>
            <a:off x="6519672" y="5522976"/>
            <a:ext cx="109728" cy="109728"/>
          </a:xfrm>
          <a:prstGeom prst="ellipse">
            <a:avLst/>
          </a:prstGeom>
          <a:solidFill>
            <a:srgbClr val="B91C1C"/>
          </a:solidFill>
          <a:ln w="12700">
            <a:solidFill>
              <a:srgbClr val="333333"/>
            </a:solidFill>
            <a:prstDash val="solid"/>
          </a:ln>
        </p:spPr>
        <p:txBody>
          <a:bodyPr/>
          <a:lstStyle/>
          <a:p>
            <a:endParaRPr lang="en-US"/>
          </a:p>
        </p:txBody>
      </p:sp>
      <p:sp>
        <p:nvSpPr>
          <p:cNvPr id="42" name="Text 40"/>
          <p:cNvSpPr/>
          <p:nvPr/>
        </p:nvSpPr>
        <p:spPr>
          <a:xfrm>
            <a:off x="6720840" y="5431536"/>
            <a:ext cx="4937760" cy="36576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Harder to explain: “the model said so” isn't an audit trail</a:t>
            </a:r>
            <a:endParaRPr lang="en-US" sz="1400" dirty="0"/>
          </a:p>
        </p:txBody>
      </p:sp>
      <p:sp>
        <p:nvSpPr>
          <p:cNvPr id="43" name="Shape 41"/>
          <p:cNvSpPr/>
          <p:nvPr/>
        </p:nvSpPr>
        <p:spPr>
          <a:xfrm>
            <a:off x="457200" y="5989320"/>
            <a:ext cx="11247120" cy="594360"/>
          </a:xfrm>
          <a:prstGeom prst="rect">
            <a:avLst/>
          </a:prstGeom>
          <a:solidFill>
            <a:srgbClr val="FEF3C7"/>
          </a:solidFill>
          <a:ln w="6350">
            <a:solidFill>
              <a:srgbClr val="B45309"/>
            </a:solidFill>
            <a:prstDash val="solid"/>
          </a:ln>
        </p:spPr>
        <p:txBody>
          <a:bodyPr/>
          <a:lstStyle/>
          <a:p>
            <a:endParaRPr lang="en-US"/>
          </a:p>
        </p:txBody>
      </p:sp>
      <p:sp>
        <p:nvSpPr>
          <p:cNvPr id="44" name="Text 42"/>
          <p:cNvSpPr/>
          <p:nvPr/>
        </p:nvSpPr>
        <p:spPr>
          <a:xfrm>
            <a:off x="685800" y="6053328"/>
            <a:ext cx="10789920" cy="502920"/>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Trade-off accepted: </a:t>
            </a:r>
            <a:r>
              <a:rPr lang="en-US" sz="1400" dirty="0">
                <a:solidFill>
                  <a:srgbClr val="334155"/>
                </a:solidFill>
                <a:latin typeface="Calibri" pitchFamily="34" charset="0"/>
                <a:ea typeface="Calibri" pitchFamily="34" charset="-122"/>
                <a:cs typeface="Calibri" pitchFamily="34" charset="-120"/>
              </a:rPr>
              <a:t>the regex cannot verify semantic attribution, but it can confirm “41 appears in the rows” but not “41 was attributed to the right group”.  </a:t>
            </a:r>
            <a:r>
              <a:rPr lang="en-US" sz="1400" b="1" dirty="0">
                <a:solidFill>
                  <a:srgbClr val="0F172A"/>
                </a:solidFill>
                <a:latin typeface="Calibri" pitchFamily="34" charset="0"/>
                <a:ea typeface="Calibri" pitchFamily="34" charset="-122"/>
                <a:cs typeface="Calibri" pitchFamily="34" charset="-120"/>
              </a:rPr>
              <a:t>The Output Reviewer catches misattribution.  The layering is intentional.</a:t>
            </a:r>
            <a:endParaRPr lang="en-US" sz="1400" dirty="0"/>
          </a:p>
        </p:txBody>
      </p:sp>
      <p:sp>
        <p:nvSpPr>
          <p:cNvPr id="45" name="Text 43"/>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27</a:t>
            </a:r>
            <a:endParaRPr lang="en-US" sz="900" dirty="0"/>
          </a:p>
        </p:txBody>
      </p:sp>
      <p:sp>
        <p:nvSpPr>
          <p:cNvPr id="46" name="Text 44"/>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EVERY STEP.  EVERY TURN.  PERSISTED TO MYSQL.</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Observability  &amp;  the chat_trace Audit Log</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463040"/>
            <a:ext cx="6858000" cy="4937760"/>
          </a:xfrm>
          <a:prstGeom prst="rect">
            <a:avLst/>
          </a:prstGeom>
          <a:solidFill>
            <a:srgbClr val="F8FAFC"/>
          </a:solidFill>
          <a:ln w="9525">
            <a:solidFill>
              <a:srgbClr val="E2E8F0"/>
            </a:solidFill>
            <a:prstDash val="solid"/>
          </a:ln>
        </p:spPr>
        <p:txBody>
          <a:bodyPr/>
          <a:lstStyle/>
          <a:p>
            <a:endParaRPr lang="en-US"/>
          </a:p>
        </p:txBody>
      </p:sp>
      <p:sp>
        <p:nvSpPr>
          <p:cNvPr id="6" name="Text 4"/>
          <p:cNvSpPr/>
          <p:nvPr/>
        </p:nvSpPr>
        <p:spPr>
          <a:xfrm>
            <a:off x="685800" y="1554480"/>
            <a:ext cx="6400800" cy="274320"/>
          </a:xfrm>
          <a:prstGeom prst="rect">
            <a:avLst/>
          </a:prstGeom>
          <a:noFill/>
          <a:ln/>
        </p:spPr>
        <p:txBody>
          <a:bodyPr wrap="square" lIns="0" tIns="0" rIns="0" bIns="0" rtlCol="0" anchor="ctr"/>
          <a:lstStyle/>
          <a:p>
            <a:pPr marL="0" indent="0">
              <a:buNone/>
            </a:pPr>
            <a:r>
              <a:rPr lang="en-US" sz="1400" b="1" kern="0" spc="300" dirty="0">
                <a:solidFill>
                  <a:srgbClr val="1E293B"/>
                </a:solidFill>
                <a:latin typeface="Calibri" pitchFamily="34" charset="0"/>
                <a:ea typeface="Calibri" pitchFamily="34" charset="-122"/>
                <a:cs typeface="Calibri" pitchFamily="34" charset="-120"/>
              </a:rPr>
              <a:t>CHAT_TRACE SCHEMA  ·  ONE ROW PER TURN</a:t>
            </a:r>
            <a:endParaRPr lang="en-US" sz="1400" dirty="0"/>
          </a:p>
        </p:txBody>
      </p:sp>
      <p:sp>
        <p:nvSpPr>
          <p:cNvPr id="7" name="Shape 5"/>
          <p:cNvSpPr/>
          <p:nvPr/>
        </p:nvSpPr>
        <p:spPr>
          <a:xfrm>
            <a:off x="685800" y="1874520"/>
            <a:ext cx="6446520" cy="274320"/>
          </a:xfrm>
          <a:prstGeom prst="rect">
            <a:avLst/>
          </a:prstGeom>
          <a:solidFill>
            <a:srgbClr val="1E293B"/>
          </a:solidFill>
          <a:ln w="12700">
            <a:solidFill>
              <a:srgbClr val="333333"/>
            </a:solidFill>
            <a:prstDash val="solid"/>
          </a:ln>
        </p:spPr>
        <p:txBody>
          <a:bodyPr/>
          <a:lstStyle/>
          <a:p>
            <a:endParaRPr lang="en-US"/>
          </a:p>
        </p:txBody>
      </p:sp>
      <p:sp>
        <p:nvSpPr>
          <p:cNvPr id="8" name="Text 6"/>
          <p:cNvSpPr/>
          <p:nvPr/>
        </p:nvSpPr>
        <p:spPr>
          <a:xfrm>
            <a:off x="777240" y="1874520"/>
            <a:ext cx="1828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p>
        </p:txBody>
      </p:sp>
      <p:sp>
        <p:nvSpPr>
          <p:cNvPr id="9" name="Text 7"/>
          <p:cNvSpPr/>
          <p:nvPr/>
        </p:nvSpPr>
        <p:spPr>
          <a:xfrm>
            <a:off x="2606040" y="1874520"/>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p>
        </p:txBody>
      </p:sp>
      <p:sp>
        <p:nvSpPr>
          <p:cNvPr id="10" name="Text 8"/>
          <p:cNvSpPr/>
          <p:nvPr/>
        </p:nvSpPr>
        <p:spPr>
          <a:xfrm>
            <a:off x="4069080" y="1874520"/>
            <a:ext cx="27432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p>
        </p:txBody>
      </p:sp>
      <p:sp>
        <p:nvSpPr>
          <p:cNvPr id="11" name="Text 9"/>
          <p:cNvSpPr/>
          <p:nvPr/>
        </p:nvSpPr>
        <p:spPr>
          <a:xfrm>
            <a:off x="6812280" y="1874520"/>
            <a:ext cx="320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Idx</a:t>
            </a:r>
            <a:endParaRPr lang="en-US" sz="1100" dirty="0"/>
          </a:p>
        </p:txBody>
      </p:sp>
      <p:sp>
        <p:nvSpPr>
          <p:cNvPr id="12" name="Shape 10"/>
          <p:cNvSpPr/>
          <p:nvPr/>
        </p:nvSpPr>
        <p:spPr>
          <a:xfrm>
            <a:off x="685800" y="2148840"/>
            <a:ext cx="6446520" cy="256032"/>
          </a:xfrm>
          <a:prstGeom prst="rect">
            <a:avLst/>
          </a:prstGeom>
          <a:solidFill>
            <a:srgbClr val="FFFFFF"/>
          </a:solidFill>
          <a:ln w="3810">
            <a:solidFill>
              <a:srgbClr val="E2E8F0"/>
            </a:solidFill>
            <a:prstDash val="solid"/>
          </a:ln>
        </p:spPr>
        <p:txBody>
          <a:bodyPr/>
          <a:lstStyle/>
          <a:p>
            <a:endParaRPr lang="en-US"/>
          </a:p>
        </p:txBody>
      </p:sp>
      <p:sp>
        <p:nvSpPr>
          <p:cNvPr id="13" name="Text 11"/>
          <p:cNvSpPr/>
          <p:nvPr/>
        </p:nvSpPr>
        <p:spPr>
          <a:xfrm>
            <a:off x="777240" y="2148840"/>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trace_id</a:t>
            </a:r>
            <a:endParaRPr lang="en-US" sz="1100" dirty="0"/>
          </a:p>
        </p:txBody>
      </p:sp>
      <p:sp>
        <p:nvSpPr>
          <p:cNvPr id="14" name="Text 12"/>
          <p:cNvSpPr/>
          <p:nvPr/>
        </p:nvSpPr>
        <p:spPr>
          <a:xfrm>
            <a:off x="2606040" y="2148840"/>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BIGINT PK</a:t>
            </a:r>
            <a:endParaRPr lang="en-US" sz="1100" dirty="0"/>
          </a:p>
        </p:txBody>
      </p:sp>
      <p:sp>
        <p:nvSpPr>
          <p:cNvPr id="15" name="Text 13"/>
          <p:cNvSpPr/>
          <p:nvPr/>
        </p:nvSpPr>
        <p:spPr>
          <a:xfrm>
            <a:off x="4069080" y="2148840"/>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Auto-incrementing turn id</a:t>
            </a:r>
            <a:endParaRPr lang="en-US" sz="1100" dirty="0"/>
          </a:p>
        </p:txBody>
      </p:sp>
      <p:sp>
        <p:nvSpPr>
          <p:cNvPr id="16" name="Text 14"/>
          <p:cNvSpPr/>
          <p:nvPr/>
        </p:nvSpPr>
        <p:spPr>
          <a:xfrm>
            <a:off x="777240" y="2404872"/>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created_at</a:t>
            </a:r>
            <a:endParaRPr lang="en-US" sz="1100" dirty="0"/>
          </a:p>
        </p:txBody>
      </p:sp>
      <p:sp>
        <p:nvSpPr>
          <p:cNvPr id="17" name="Text 15"/>
          <p:cNvSpPr/>
          <p:nvPr/>
        </p:nvSpPr>
        <p:spPr>
          <a:xfrm>
            <a:off x="2606040" y="2404872"/>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DATETIME</a:t>
            </a:r>
            <a:endParaRPr lang="en-US" sz="1100" dirty="0"/>
          </a:p>
        </p:txBody>
      </p:sp>
      <p:sp>
        <p:nvSpPr>
          <p:cNvPr id="18" name="Text 16"/>
          <p:cNvSpPr/>
          <p:nvPr/>
        </p:nvSpPr>
        <p:spPr>
          <a:xfrm>
            <a:off x="4069080" y="2404872"/>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Insertion timestamp</a:t>
            </a:r>
            <a:endParaRPr lang="en-US" sz="1100" dirty="0"/>
          </a:p>
        </p:txBody>
      </p:sp>
      <p:sp>
        <p:nvSpPr>
          <p:cNvPr id="19" name="Text 17"/>
          <p:cNvSpPr/>
          <p:nvPr/>
        </p:nvSpPr>
        <p:spPr>
          <a:xfrm>
            <a:off x="6812280" y="2404872"/>
            <a:ext cx="320040" cy="256032"/>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85800" y="2660904"/>
            <a:ext cx="6446520" cy="256032"/>
          </a:xfrm>
          <a:prstGeom prst="rect">
            <a:avLst/>
          </a:prstGeom>
          <a:solidFill>
            <a:srgbClr val="FFFFFF"/>
          </a:solidFill>
          <a:ln w="3810">
            <a:solidFill>
              <a:srgbClr val="E2E8F0"/>
            </a:solidFill>
            <a:prstDash val="solid"/>
          </a:ln>
        </p:spPr>
        <p:txBody>
          <a:bodyPr/>
          <a:lstStyle/>
          <a:p>
            <a:endParaRPr lang="en-US"/>
          </a:p>
        </p:txBody>
      </p:sp>
      <p:sp>
        <p:nvSpPr>
          <p:cNvPr id="21" name="Text 19"/>
          <p:cNvSpPr/>
          <p:nvPr/>
        </p:nvSpPr>
        <p:spPr>
          <a:xfrm>
            <a:off x="777240" y="2660904"/>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path</a:t>
            </a:r>
            <a:endParaRPr lang="en-US" sz="1100" dirty="0"/>
          </a:p>
        </p:txBody>
      </p:sp>
      <p:sp>
        <p:nvSpPr>
          <p:cNvPr id="22" name="Text 20"/>
          <p:cNvSpPr/>
          <p:nvPr/>
        </p:nvSpPr>
        <p:spPr>
          <a:xfrm>
            <a:off x="2606040" y="2660904"/>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VARCHAR(16)</a:t>
            </a:r>
            <a:endParaRPr lang="en-US" sz="1100" dirty="0"/>
          </a:p>
        </p:txBody>
      </p:sp>
      <p:sp>
        <p:nvSpPr>
          <p:cNvPr id="23" name="Text 21"/>
          <p:cNvSpPr/>
          <p:nvPr/>
        </p:nvSpPr>
        <p:spPr>
          <a:xfrm>
            <a:off x="4069080" y="2660904"/>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sql / direct / clarify</a:t>
            </a:r>
            <a:endParaRPr lang="en-US" sz="1100" dirty="0"/>
          </a:p>
        </p:txBody>
      </p:sp>
      <p:sp>
        <p:nvSpPr>
          <p:cNvPr id="24" name="Text 22"/>
          <p:cNvSpPr/>
          <p:nvPr/>
        </p:nvSpPr>
        <p:spPr>
          <a:xfrm>
            <a:off x="6812280" y="2660904"/>
            <a:ext cx="320040" cy="256032"/>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777240" y="2916936"/>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resolved_question</a:t>
            </a:r>
            <a:endParaRPr lang="en-US" sz="1100" dirty="0"/>
          </a:p>
        </p:txBody>
      </p:sp>
      <p:sp>
        <p:nvSpPr>
          <p:cNvPr id="26" name="Text 24"/>
          <p:cNvSpPr/>
          <p:nvPr/>
        </p:nvSpPr>
        <p:spPr>
          <a:xfrm>
            <a:off x="2606040" y="2916936"/>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TEXT</a:t>
            </a:r>
            <a:endParaRPr lang="en-US" sz="1100" dirty="0"/>
          </a:p>
        </p:txBody>
      </p:sp>
      <p:sp>
        <p:nvSpPr>
          <p:cNvPr id="27" name="Text 25"/>
          <p:cNvSpPr/>
          <p:nvPr/>
        </p:nvSpPr>
        <p:spPr>
          <a:xfrm>
            <a:off x="4069080" y="2916936"/>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Planner's context-resolved Q</a:t>
            </a:r>
            <a:endParaRPr lang="en-US" sz="1100" dirty="0"/>
          </a:p>
        </p:txBody>
      </p:sp>
      <p:sp>
        <p:nvSpPr>
          <p:cNvPr id="28" name="Shape 26"/>
          <p:cNvSpPr/>
          <p:nvPr/>
        </p:nvSpPr>
        <p:spPr>
          <a:xfrm>
            <a:off x="685800" y="3172968"/>
            <a:ext cx="6446520" cy="256032"/>
          </a:xfrm>
          <a:prstGeom prst="rect">
            <a:avLst/>
          </a:prstGeom>
          <a:solidFill>
            <a:srgbClr val="FFFFFF"/>
          </a:solidFill>
          <a:ln w="3810">
            <a:solidFill>
              <a:srgbClr val="E2E8F0"/>
            </a:solidFill>
            <a:prstDash val="solid"/>
          </a:ln>
        </p:spPr>
        <p:txBody>
          <a:bodyPr/>
          <a:lstStyle/>
          <a:p>
            <a:endParaRPr lang="en-US"/>
          </a:p>
        </p:txBody>
      </p:sp>
      <p:sp>
        <p:nvSpPr>
          <p:cNvPr id="29" name="Text 27"/>
          <p:cNvSpPr/>
          <p:nvPr/>
        </p:nvSpPr>
        <p:spPr>
          <a:xfrm>
            <a:off x="777240" y="3172968"/>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final_sql</a:t>
            </a:r>
            <a:endParaRPr lang="en-US" sz="1100" dirty="0"/>
          </a:p>
        </p:txBody>
      </p:sp>
      <p:sp>
        <p:nvSpPr>
          <p:cNvPr id="30" name="Text 28"/>
          <p:cNvSpPr/>
          <p:nvPr/>
        </p:nvSpPr>
        <p:spPr>
          <a:xfrm>
            <a:off x="2606040" y="3172968"/>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TEXT</a:t>
            </a:r>
            <a:endParaRPr lang="en-US" sz="1100" dirty="0"/>
          </a:p>
        </p:txBody>
      </p:sp>
      <p:sp>
        <p:nvSpPr>
          <p:cNvPr id="31" name="Text 29"/>
          <p:cNvSpPr/>
          <p:nvPr/>
        </p:nvSpPr>
        <p:spPr>
          <a:xfrm>
            <a:off x="4069080" y="3172968"/>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SQL that ran (NULL on non-sql)</a:t>
            </a:r>
            <a:endParaRPr lang="en-US" sz="1100" dirty="0"/>
          </a:p>
        </p:txBody>
      </p:sp>
      <p:sp>
        <p:nvSpPr>
          <p:cNvPr id="32" name="Text 30"/>
          <p:cNvSpPr/>
          <p:nvPr/>
        </p:nvSpPr>
        <p:spPr>
          <a:xfrm>
            <a:off x="777240" y="3429000"/>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has_chart</a:t>
            </a:r>
            <a:endParaRPr lang="en-US" sz="1100" dirty="0"/>
          </a:p>
        </p:txBody>
      </p:sp>
      <p:sp>
        <p:nvSpPr>
          <p:cNvPr id="33" name="Text 31"/>
          <p:cNvSpPr/>
          <p:nvPr/>
        </p:nvSpPr>
        <p:spPr>
          <a:xfrm>
            <a:off x="2606040" y="3429000"/>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BOOL</a:t>
            </a:r>
            <a:endParaRPr lang="en-US" sz="1100" dirty="0"/>
          </a:p>
        </p:txBody>
      </p:sp>
      <p:sp>
        <p:nvSpPr>
          <p:cNvPr id="34" name="Text 32"/>
          <p:cNvSpPr/>
          <p:nvPr/>
        </p:nvSpPr>
        <p:spPr>
          <a:xfrm>
            <a:off x="4069080" y="3429000"/>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Was a chart rendered?</a:t>
            </a:r>
            <a:endParaRPr lang="en-US" sz="1100" dirty="0"/>
          </a:p>
        </p:txBody>
      </p:sp>
      <p:sp>
        <p:nvSpPr>
          <p:cNvPr id="35" name="Shape 33"/>
          <p:cNvSpPr/>
          <p:nvPr/>
        </p:nvSpPr>
        <p:spPr>
          <a:xfrm>
            <a:off x="685800" y="3685032"/>
            <a:ext cx="6446520" cy="256032"/>
          </a:xfrm>
          <a:prstGeom prst="rect">
            <a:avLst/>
          </a:prstGeom>
          <a:solidFill>
            <a:srgbClr val="FFFFFF"/>
          </a:solidFill>
          <a:ln w="3810">
            <a:solidFill>
              <a:srgbClr val="E2E8F0"/>
            </a:solidFill>
            <a:prstDash val="solid"/>
          </a:ln>
        </p:spPr>
        <p:txBody>
          <a:bodyPr/>
          <a:lstStyle/>
          <a:p>
            <a:endParaRPr lang="en-US"/>
          </a:p>
        </p:txBody>
      </p:sp>
      <p:sp>
        <p:nvSpPr>
          <p:cNvPr id="36" name="Text 34"/>
          <p:cNvSpPr/>
          <p:nvPr/>
        </p:nvSpPr>
        <p:spPr>
          <a:xfrm>
            <a:off x="777240" y="3685032"/>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has_excel</a:t>
            </a:r>
            <a:endParaRPr lang="en-US" sz="1100" dirty="0"/>
          </a:p>
        </p:txBody>
      </p:sp>
      <p:sp>
        <p:nvSpPr>
          <p:cNvPr id="37" name="Text 35"/>
          <p:cNvSpPr/>
          <p:nvPr/>
        </p:nvSpPr>
        <p:spPr>
          <a:xfrm>
            <a:off x="2606040" y="3685032"/>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BOOL</a:t>
            </a:r>
            <a:endParaRPr lang="en-US" sz="1100" dirty="0"/>
          </a:p>
        </p:txBody>
      </p:sp>
      <p:sp>
        <p:nvSpPr>
          <p:cNvPr id="38" name="Text 36"/>
          <p:cNvSpPr/>
          <p:nvPr/>
        </p:nvSpPr>
        <p:spPr>
          <a:xfrm>
            <a:off x="4069080" y="3685032"/>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Excel download attached?</a:t>
            </a:r>
            <a:endParaRPr lang="en-US" sz="1100" dirty="0"/>
          </a:p>
        </p:txBody>
      </p:sp>
      <p:sp>
        <p:nvSpPr>
          <p:cNvPr id="39" name="Text 37"/>
          <p:cNvSpPr/>
          <p:nvPr/>
        </p:nvSpPr>
        <p:spPr>
          <a:xfrm>
            <a:off x="777240" y="3941064"/>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supervisor_invoked</a:t>
            </a:r>
            <a:endParaRPr lang="en-US" sz="1100" dirty="0"/>
          </a:p>
        </p:txBody>
      </p:sp>
      <p:sp>
        <p:nvSpPr>
          <p:cNvPr id="40" name="Text 38"/>
          <p:cNvSpPr/>
          <p:nvPr/>
        </p:nvSpPr>
        <p:spPr>
          <a:xfrm>
            <a:off x="2606040" y="3941064"/>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BOOL</a:t>
            </a:r>
            <a:endParaRPr lang="en-US" sz="1100" dirty="0"/>
          </a:p>
        </p:txBody>
      </p:sp>
      <p:sp>
        <p:nvSpPr>
          <p:cNvPr id="41" name="Text 39"/>
          <p:cNvSpPr/>
          <p:nvPr/>
        </p:nvSpPr>
        <p:spPr>
          <a:xfrm>
            <a:off x="4069080" y="3941064"/>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Was the Supervisor reached?</a:t>
            </a:r>
            <a:endParaRPr lang="en-US" sz="1100" dirty="0"/>
          </a:p>
        </p:txBody>
      </p:sp>
      <p:sp>
        <p:nvSpPr>
          <p:cNvPr id="42" name="Text 40"/>
          <p:cNvSpPr/>
          <p:nvPr/>
        </p:nvSpPr>
        <p:spPr>
          <a:xfrm>
            <a:off x="6812280" y="3941064"/>
            <a:ext cx="320040" cy="256032"/>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43" name="Shape 41"/>
          <p:cNvSpPr/>
          <p:nvPr/>
        </p:nvSpPr>
        <p:spPr>
          <a:xfrm>
            <a:off x="685800" y="4197096"/>
            <a:ext cx="6446520" cy="256032"/>
          </a:xfrm>
          <a:prstGeom prst="rect">
            <a:avLst/>
          </a:prstGeom>
          <a:solidFill>
            <a:srgbClr val="FFFFFF"/>
          </a:solidFill>
          <a:ln w="3810">
            <a:solidFill>
              <a:srgbClr val="E2E8F0"/>
            </a:solidFill>
            <a:prstDash val="solid"/>
          </a:ln>
        </p:spPr>
        <p:txBody>
          <a:bodyPr/>
          <a:lstStyle/>
          <a:p>
            <a:endParaRPr lang="en-US"/>
          </a:p>
        </p:txBody>
      </p:sp>
      <p:sp>
        <p:nvSpPr>
          <p:cNvPr id="44" name="Text 42"/>
          <p:cNvSpPr/>
          <p:nvPr/>
        </p:nvSpPr>
        <p:spPr>
          <a:xfrm>
            <a:off x="777240" y="4197096"/>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groundedness_warned</a:t>
            </a:r>
            <a:endParaRPr lang="en-US" sz="1100" dirty="0"/>
          </a:p>
        </p:txBody>
      </p:sp>
      <p:sp>
        <p:nvSpPr>
          <p:cNvPr id="45" name="Text 43"/>
          <p:cNvSpPr/>
          <p:nvPr/>
        </p:nvSpPr>
        <p:spPr>
          <a:xfrm>
            <a:off x="2606040" y="4197096"/>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BOOL</a:t>
            </a:r>
            <a:endParaRPr lang="en-US" sz="1100" dirty="0"/>
          </a:p>
        </p:txBody>
      </p:sp>
      <p:sp>
        <p:nvSpPr>
          <p:cNvPr id="46" name="Text 44"/>
          <p:cNvSpPr/>
          <p:nvPr/>
        </p:nvSpPr>
        <p:spPr>
          <a:xfrm>
            <a:off x="4069080" y="4197096"/>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Hard-block fired?</a:t>
            </a:r>
            <a:endParaRPr lang="en-US" sz="1100" dirty="0"/>
          </a:p>
        </p:txBody>
      </p:sp>
      <p:sp>
        <p:nvSpPr>
          <p:cNvPr id="47" name="Text 45"/>
          <p:cNvSpPr/>
          <p:nvPr/>
        </p:nvSpPr>
        <p:spPr>
          <a:xfrm>
            <a:off x="6812280" y="4197096"/>
            <a:ext cx="320040" cy="256032"/>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48" name="Text 46"/>
          <p:cNvSpPr/>
          <p:nvPr/>
        </p:nvSpPr>
        <p:spPr>
          <a:xfrm>
            <a:off x="777240" y="4453128"/>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step_count</a:t>
            </a:r>
            <a:endParaRPr lang="en-US" sz="1100" dirty="0"/>
          </a:p>
        </p:txBody>
      </p:sp>
      <p:sp>
        <p:nvSpPr>
          <p:cNvPr id="49" name="Text 47"/>
          <p:cNvSpPr/>
          <p:nvPr/>
        </p:nvSpPr>
        <p:spPr>
          <a:xfrm>
            <a:off x="2606040" y="4453128"/>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INT</a:t>
            </a:r>
            <a:endParaRPr lang="en-US" sz="1100" dirty="0"/>
          </a:p>
        </p:txBody>
      </p:sp>
      <p:sp>
        <p:nvSpPr>
          <p:cNvPr id="50" name="Text 48"/>
          <p:cNvSpPr/>
          <p:nvPr/>
        </p:nvSpPr>
        <p:spPr>
          <a:xfrm>
            <a:off x="4069080" y="4453128"/>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Number of StepEvents this turn</a:t>
            </a:r>
            <a:endParaRPr lang="en-US" sz="1100" dirty="0"/>
          </a:p>
        </p:txBody>
      </p:sp>
      <p:sp>
        <p:nvSpPr>
          <p:cNvPr id="51" name="Shape 49"/>
          <p:cNvSpPr/>
          <p:nvPr/>
        </p:nvSpPr>
        <p:spPr>
          <a:xfrm>
            <a:off x="685800" y="4709160"/>
            <a:ext cx="6446520" cy="256032"/>
          </a:xfrm>
          <a:prstGeom prst="rect">
            <a:avLst/>
          </a:prstGeom>
          <a:solidFill>
            <a:srgbClr val="FFFFFF"/>
          </a:solidFill>
          <a:ln w="3810">
            <a:solidFill>
              <a:srgbClr val="E2E8F0"/>
            </a:solidFill>
            <a:prstDash val="solid"/>
          </a:ln>
        </p:spPr>
        <p:txBody>
          <a:bodyPr/>
          <a:lstStyle/>
          <a:p>
            <a:endParaRPr lang="en-US"/>
          </a:p>
        </p:txBody>
      </p:sp>
      <p:sp>
        <p:nvSpPr>
          <p:cNvPr id="52" name="Text 50"/>
          <p:cNvSpPr/>
          <p:nvPr/>
        </p:nvSpPr>
        <p:spPr>
          <a:xfrm>
            <a:off x="777240" y="4709160"/>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retry_count</a:t>
            </a:r>
            <a:endParaRPr lang="en-US" sz="1100" dirty="0"/>
          </a:p>
        </p:txBody>
      </p:sp>
      <p:sp>
        <p:nvSpPr>
          <p:cNvPr id="53" name="Text 51"/>
          <p:cNvSpPr/>
          <p:nvPr/>
        </p:nvSpPr>
        <p:spPr>
          <a:xfrm>
            <a:off x="2606040" y="4709160"/>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INT</a:t>
            </a:r>
            <a:endParaRPr lang="en-US" sz="1100" dirty="0"/>
          </a:p>
        </p:txBody>
      </p:sp>
      <p:sp>
        <p:nvSpPr>
          <p:cNvPr id="54" name="Text 52"/>
          <p:cNvSpPr/>
          <p:nvPr/>
        </p:nvSpPr>
        <p:spPr>
          <a:xfrm>
            <a:off x="4069080" y="4709160"/>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Steps with status=retry</a:t>
            </a:r>
            <a:endParaRPr lang="en-US" sz="1100" dirty="0"/>
          </a:p>
        </p:txBody>
      </p:sp>
      <p:sp>
        <p:nvSpPr>
          <p:cNvPr id="55" name="Text 53"/>
          <p:cNvSpPr/>
          <p:nvPr/>
        </p:nvSpPr>
        <p:spPr>
          <a:xfrm>
            <a:off x="777240" y="4965192"/>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answer_text</a:t>
            </a:r>
            <a:endParaRPr lang="en-US" sz="1100" dirty="0"/>
          </a:p>
        </p:txBody>
      </p:sp>
      <p:sp>
        <p:nvSpPr>
          <p:cNvPr id="56" name="Text 54"/>
          <p:cNvSpPr/>
          <p:nvPr/>
        </p:nvSpPr>
        <p:spPr>
          <a:xfrm>
            <a:off x="2606040" y="4965192"/>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MEDIUMTEXT</a:t>
            </a:r>
            <a:endParaRPr lang="en-US" sz="1100" dirty="0"/>
          </a:p>
        </p:txBody>
      </p:sp>
      <p:sp>
        <p:nvSpPr>
          <p:cNvPr id="57" name="Text 55"/>
          <p:cNvSpPr/>
          <p:nvPr/>
        </p:nvSpPr>
        <p:spPr>
          <a:xfrm>
            <a:off x="4069080" y="4965192"/>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Final user-facing markdown</a:t>
            </a:r>
            <a:endParaRPr lang="en-US" sz="1100" dirty="0"/>
          </a:p>
        </p:txBody>
      </p:sp>
      <p:sp>
        <p:nvSpPr>
          <p:cNvPr id="58" name="Shape 56"/>
          <p:cNvSpPr/>
          <p:nvPr/>
        </p:nvSpPr>
        <p:spPr>
          <a:xfrm>
            <a:off x="685800" y="5221224"/>
            <a:ext cx="6446520" cy="256032"/>
          </a:xfrm>
          <a:prstGeom prst="rect">
            <a:avLst/>
          </a:prstGeom>
          <a:solidFill>
            <a:srgbClr val="FFFFFF"/>
          </a:solidFill>
          <a:ln w="3810">
            <a:solidFill>
              <a:srgbClr val="E2E8F0"/>
            </a:solidFill>
            <a:prstDash val="solid"/>
          </a:ln>
        </p:spPr>
        <p:txBody>
          <a:bodyPr/>
          <a:lstStyle/>
          <a:p>
            <a:endParaRPr lang="en-US"/>
          </a:p>
        </p:txBody>
      </p:sp>
      <p:sp>
        <p:nvSpPr>
          <p:cNvPr id="59" name="Text 57"/>
          <p:cNvSpPr/>
          <p:nvPr/>
        </p:nvSpPr>
        <p:spPr>
          <a:xfrm>
            <a:off x="777240" y="5221224"/>
            <a:ext cx="1737360" cy="256032"/>
          </a:xfrm>
          <a:prstGeom prst="rect">
            <a:avLst/>
          </a:prstGeom>
          <a:noFill/>
          <a:ln/>
        </p:spPr>
        <p:txBody>
          <a:bodyPr wrap="square" lIns="0" tIns="0" rIns="0" bIns="0" rtlCol="0" anchor="ctr"/>
          <a:lstStyle/>
          <a:p>
            <a:pPr marL="0" indent="0">
              <a:buNone/>
            </a:pPr>
            <a:r>
              <a:rPr lang="en-US" sz="1100" dirty="0">
                <a:solidFill>
                  <a:srgbClr val="0F172A"/>
                </a:solidFill>
                <a:latin typeface="Consolas" pitchFamily="34" charset="0"/>
                <a:ea typeface="Consolas" pitchFamily="34" charset="-122"/>
                <a:cs typeface="Consolas" pitchFamily="34" charset="-120"/>
              </a:rPr>
              <a:t>steps_json</a:t>
            </a:r>
            <a:endParaRPr lang="en-US" sz="1100" dirty="0"/>
          </a:p>
        </p:txBody>
      </p:sp>
      <p:sp>
        <p:nvSpPr>
          <p:cNvPr id="60" name="Text 58"/>
          <p:cNvSpPr/>
          <p:nvPr/>
        </p:nvSpPr>
        <p:spPr>
          <a:xfrm>
            <a:off x="2606040" y="5221224"/>
            <a:ext cx="1371600" cy="256032"/>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MEDIUMTEXT</a:t>
            </a:r>
            <a:endParaRPr lang="en-US" sz="1100" dirty="0"/>
          </a:p>
        </p:txBody>
      </p:sp>
      <p:sp>
        <p:nvSpPr>
          <p:cNvPr id="61" name="Text 59"/>
          <p:cNvSpPr/>
          <p:nvPr/>
        </p:nvSpPr>
        <p:spPr>
          <a:xfrm>
            <a:off x="4069080" y="5221224"/>
            <a:ext cx="2651760" cy="25603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Full step trace as JSON</a:t>
            </a:r>
            <a:endParaRPr lang="en-US" sz="1100" dirty="0"/>
          </a:p>
        </p:txBody>
      </p:sp>
      <p:sp>
        <p:nvSpPr>
          <p:cNvPr id="62" name="Text 60"/>
          <p:cNvSpPr/>
          <p:nvPr/>
        </p:nvSpPr>
        <p:spPr>
          <a:xfrm>
            <a:off x="662940" y="5733288"/>
            <a:ext cx="6309360" cy="228600"/>
          </a:xfrm>
          <a:prstGeom prst="rect">
            <a:avLst/>
          </a:prstGeom>
          <a:noFill/>
          <a:ln/>
        </p:spPr>
        <p:txBody>
          <a:bodyPr wrap="square" lIns="0" tIns="0" rIns="0" bIns="0" rtlCol="0" anchor="ctr"/>
          <a:lstStyle/>
          <a:p>
            <a:pPr marL="0" indent="0">
              <a:buNone/>
            </a:pPr>
            <a:r>
              <a:rPr lang="en-US" sz="1400" i="1" dirty="0">
                <a:solidFill>
                  <a:srgbClr val="0F766E"/>
                </a:solidFill>
                <a:latin typeface="Calibri" pitchFamily="34" charset="0"/>
                <a:ea typeface="Calibri" pitchFamily="34" charset="-122"/>
                <a:cs typeface="Calibri" pitchFamily="34" charset="-120"/>
              </a:rPr>
              <a:t>◆  indexed for common queries</a:t>
            </a:r>
            <a:endParaRPr lang="en-US" sz="1400" dirty="0"/>
          </a:p>
        </p:txBody>
      </p:sp>
      <p:sp>
        <p:nvSpPr>
          <p:cNvPr id="63" name="Text 61"/>
          <p:cNvSpPr/>
          <p:nvPr/>
        </p:nvSpPr>
        <p:spPr>
          <a:xfrm>
            <a:off x="777240" y="6079838"/>
            <a:ext cx="6309360" cy="228600"/>
          </a:xfrm>
          <a:prstGeom prst="rect">
            <a:avLst/>
          </a:prstGeom>
          <a:noFill/>
          <a:ln/>
        </p:spPr>
        <p:txBody>
          <a:bodyPr wrap="square" lIns="0" tIns="0" rIns="0" bIns="0" rtlCol="0" anchor="ctr"/>
          <a:lstStyle/>
          <a:p>
            <a:pPr marL="0" indent="0">
              <a:buNone/>
            </a:pPr>
            <a:r>
              <a:rPr lang="en-US" sz="1050" i="1" dirty="0" err="1">
                <a:solidFill>
                  <a:srgbClr val="64748B"/>
                </a:solidFill>
                <a:latin typeface="Calibri" pitchFamily="34" charset="0"/>
                <a:ea typeface="Calibri" pitchFamily="34" charset="-122"/>
                <a:cs typeface="Calibri" pitchFamily="34" charset="-120"/>
              </a:rPr>
              <a:t>Denormalised</a:t>
            </a:r>
            <a:r>
              <a:rPr lang="en-US" sz="1050" i="1" dirty="0">
                <a:solidFill>
                  <a:srgbClr val="64748B"/>
                </a:solidFill>
                <a:latin typeface="Calibri" pitchFamily="34" charset="0"/>
                <a:ea typeface="Calibri" pitchFamily="34" charset="-122"/>
                <a:cs typeface="Calibri" pitchFamily="34" charset="-120"/>
              </a:rPr>
              <a:t> intentionally, common queries are “give me all turns where X happened”, not “every step in turn Y”.</a:t>
            </a:r>
            <a:endParaRPr lang="en-US" sz="1050" dirty="0"/>
          </a:p>
        </p:txBody>
      </p:sp>
      <p:sp>
        <p:nvSpPr>
          <p:cNvPr id="64" name="Shape 62"/>
          <p:cNvSpPr/>
          <p:nvPr/>
        </p:nvSpPr>
        <p:spPr>
          <a:xfrm>
            <a:off x="7452360" y="1463040"/>
            <a:ext cx="4297680" cy="4937760"/>
          </a:xfrm>
          <a:prstGeom prst="rect">
            <a:avLst/>
          </a:prstGeom>
          <a:solidFill>
            <a:srgbClr val="F8FAFC"/>
          </a:solidFill>
          <a:ln w="9525">
            <a:solidFill>
              <a:srgbClr val="E2E8F0"/>
            </a:solidFill>
            <a:prstDash val="solid"/>
          </a:ln>
        </p:spPr>
        <p:txBody>
          <a:bodyPr/>
          <a:lstStyle/>
          <a:p>
            <a:endParaRPr lang="en-US"/>
          </a:p>
        </p:txBody>
      </p:sp>
      <p:sp>
        <p:nvSpPr>
          <p:cNvPr id="65" name="Shape 63"/>
          <p:cNvSpPr/>
          <p:nvPr/>
        </p:nvSpPr>
        <p:spPr>
          <a:xfrm>
            <a:off x="7452360" y="1463040"/>
            <a:ext cx="73152" cy="4937760"/>
          </a:xfrm>
          <a:prstGeom prst="rect">
            <a:avLst/>
          </a:prstGeom>
          <a:solidFill>
            <a:srgbClr val="0F766E"/>
          </a:solidFill>
          <a:ln w="12700">
            <a:solidFill>
              <a:srgbClr val="0F766E"/>
            </a:solidFill>
            <a:prstDash val="solid"/>
          </a:ln>
        </p:spPr>
        <p:txBody>
          <a:bodyPr/>
          <a:lstStyle/>
          <a:p>
            <a:endParaRPr lang="en-US"/>
          </a:p>
        </p:txBody>
      </p:sp>
      <p:sp>
        <p:nvSpPr>
          <p:cNvPr id="66" name="Text 64"/>
          <p:cNvSpPr/>
          <p:nvPr/>
        </p:nvSpPr>
        <p:spPr>
          <a:xfrm>
            <a:off x="7635240" y="1554480"/>
            <a:ext cx="4251960" cy="27432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STEPEVENT  ·  THE ATOM OF TRACING</a:t>
            </a:r>
            <a:endParaRPr lang="en-US" sz="1400" dirty="0"/>
          </a:p>
        </p:txBody>
      </p:sp>
      <p:sp>
        <p:nvSpPr>
          <p:cNvPr id="67" name="Text 65"/>
          <p:cNvSpPr/>
          <p:nvPr/>
        </p:nvSpPr>
        <p:spPr>
          <a:xfrm>
            <a:off x="7635240" y="1920240"/>
            <a:ext cx="1188720" cy="36576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agent</a:t>
            </a:r>
            <a:endParaRPr lang="en-US" sz="1400" dirty="0"/>
          </a:p>
        </p:txBody>
      </p:sp>
      <p:sp>
        <p:nvSpPr>
          <p:cNvPr id="68" name="Text 66"/>
          <p:cNvSpPr/>
          <p:nvPr/>
        </p:nvSpPr>
        <p:spPr>
          <a:xfrm>
            <a:off x="8869680" y="1920240"/>
            <a:ext cx="283464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Which agent or tool acted</a:t>
            </a:r>
            <a:endParaRPr lang="en-US" sz="1200" dirty="0"/>
          </a:p>
        </p:txBody>
      </p:sp>
      <p:sp>
        <p:nvSpPr>
          <p:cNvPr id="69" name="Text 67"/>
          <p:cNvSpPr/>
          <p:nvPr/>
        </p:nvSpPr>
        <p:spPr>
          <a:xfrm>
            <a:off x="7635240" y="2377440"/>
            <a:ext cx="1188720" cy="36576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status</a:t>
            </a:r>
            <a:endParaRPr lang="en-US" sz="1400" dirty="0"/>
          </a:p>
        </p:txBody>
      </p:sp>
      <p:sp>
        <p:nvSpPr>
          <p:cNvPr id="70" name="Text 68"/>
          <p:cNvSpPr/>
          <p:nvPr/>
        </p:nvSpPr>
        <p:spPr>
          <a:xfrm>
            <a:off x="8869680" y="2377440"/>
            <a:ext cx="283464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start · ok · retry · fail</a:t>
            </a:r>
            <a:endParaRPr lang="en-US" sz="1200" dirty="0"/>
          </a:p>
        </p:txBody>
      </p:sp>
      <p:sp>
        <p:nvSpPr>
          <p:cNvPr id="71" name="Text 69"/>
          <p:cNvSpPr/>
          <p:nvPr/>
        </p:nvSpPr>
        <p:spPr>
          <a:xfrm>
            <a:off x="7635240" y="2834640"/>
            <a:ext cx="1188720" cy="36576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summary</a:t>
            </a:r>
            <a:endParaRPr lang="en-US" sz="1400" dirty="0"/>
          </a:p>
        </p:txBody>
      </p:sp>
      <p:sp>
        <p:nvSpPr>
          <p:cNvPr id="72" name="Text 70"/>
          <p:cNvSpPr/>
          <p:nvPr/>
        </p:nvSpPr>
        <p:spPr>
          <a:xfrm>
            <a:off x="8869680" y="2834640"/>
            <a:ext cx="283464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One-line human-readable</a:t>
            </a:r>
            <a:endParaRPr lang="en-US" sz="1200" dirty="0"/>
          </a:p>
        </p:txBody>
      </p:sp>
      <p:sp>
        <p:nvSpPr>
          <p:cNvPr id="73" name="Text 71"/>
          <p:cNvSpPr/>
          <p:nvPr/>
        </p:nvSpPr>
        <p:spPr>
          <a:xfrm>
            <a:off x="7635240" y="3291840"/>
            <a:ext cx="1188720" cy="365760"/>
          </a:xfrm>
          <a:prstGeom prst="rect">
            <a:avLst/>
          </a:prstGeom>
          <a:noFill/>
          <a:ln/>
        </p:spPr>
        <p:txBody>
          <a:bodyPr wrap="square" lIns="0" tIns="0" rIns="0" bIns="0" rtlCol="0" anchor="ctr"/>
          <a:lstStyle/>
          <a:p>
            <a:pPr marL="0" indent="0">
              <a:buNone/>
            </a:pPr>
            <a:r>
              <a:rPr lang="en-US" sz="1400" b="1" dirty="0">
                <a:solidFill>
                  <a:srgbClr val="0F172A"/>
                </a:solidFill>
                <a:latin typeface="Consolas" pitchFamily="34" charset="0"/>
                <a:ea typeface="Consolas" pitchFamily="34" charset="-122"/>
                <a:cs typeface="Consolas" pitchFamily="34" charset="-120"/>
              </a:rPr>
              <a:t>detail</a:t>
            </a:r>
            <a:endParaRPr lang="en-US" sz="1400" dirty="0"/>
          </a:p>
        </p:txBody>
      </p:sp>
      <p:sp>
        <p:nvSpPr>
          <p:cNvPr id="74" name="Text 72"/>
          <p:cNvSpPr/>
          <p:nvPr/>
        </p:nvSpPr>
        <p:spPr>
          <a:xfrm>
            <a:off x="8869680" y="3291840"/>
            <a:ext cx="2834640" cy="3657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Agent-specific structured dict</a:t>
            </a:r>
            <a:endParaRPr lang="en-US" sz="1200" dirty="0"/>
          </a:p>
        </p:txBody>
      </p:sp>
      <p:sp>
        <p:nvSpPr>
          <p:cNvPr id="75" name="Text 73"/>
          <p:cNvSpPr/>
          <p:nvPr/>
        </p:nvSpPr>
        <p:spPr>
          <a:xfrm>
            <a:off x="7635240" y="3794760"/>
            <a:ext cx="4023360" cy="27432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IN-UI TRACE SURFACING</a:t>
            </a:r>
            <a:endParaRPr lang="en-US" sz="1400" dirty="0"/>
          </a:p>
        </p:txBody>
      </p:sp>
      <p:sp>
        <p:nvSpPr>
          <p:cNvPr id="76" name="Text 74"/>
          <p:cNvSpPr/>
          <p:nvPr/>
        </p:nvSpPr>
        <p:spPr>
          <a:xfrm>
            <a:off x="7635240" y="4114800"/>
            <a:ext cx="402336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Every chat response carries four expandable panels:</a:t>
            </a:r>
            <a:endParaRPr lang="en-US" sz="1200" dirty="0"/>
          </a:p>
        </p:txBody>
      </p:sp>
      <p:sp>
        <p:nvSpPr>
          <p:cNvPr id="77" name="Text 75"/>
          <p:cNvSpPr/>
          <p:nvPr/>
        </p:nvSpPr>
        <p:spPr>
          <a:xfrm>
            <a:off x="7726680" y="4434840"/>
            <a:ext cx="39319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Answer markdown - inline</a:t>
            </a:r>
            <a:endParaRPr lang="en-US" sz="1200" dirty="0"/>
          </a:p>
        </p:txBody>
      </p:sp>
      <p:sp>
        <p:nvSpPr>
          <p:cNvPr id="78" name="Text 76"/>
          <p:cNvSpPr/>
          <p:nvPr/>
        </p:nvSpPr>
        <p:spPr>
          <a:xfrm>
            <a:off x="7726680" y="4709160"/>
            <a:ext cx="39319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Show SQL - executed query</a:t>
            </a:r>
            <a:endParaRPr lang="en-US" sz="1200" dirty="0"/>
          </a:p>
        </p:txBody>
      </p:sp>
      <p:sp>
        <p:nvSpPr>
          <p:cNvPr id="79" name="Text 77"/>
          <p:cNvSpPr/>
          <p:nvPr/>
        </p:nvSpPr>
        <p:spPr>
          <a:xfrm>
            <a:off x="7726680" y="4983480"/>
            <a:ext cx="39319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Show chart code - matplotlib snippet</a:t>
            </a:r>
            <a:endParaRPr lang="en-US" sz="1200" dirty="0"/>
          </a:p>
        </p:txBody>
      </p:sp>
      <p:sp>
        <p:nvSpPr>
          <p:cNvPr id="80" name="Text 78"/>
          <p:cNvSpPr/>
          <p:nvPr/>
        </p:nvSpPr>
        <p:spPr>
          <a:xfrm>
            <a:off x="7726680" y="5257800"/>
            <a:ext cx="39319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How I got this answer - full StepEvent trace</a:t>
            </a:r>
            <a:endParaRPr lang="en-US" sz="1200" dirty="0"/>
          </a:p>
        </p:txBody>
      </p:sp>
      <p:sp>
        <p:nvSpPr>
          <p:cNvPr id="81" name="Text 79"/>
          <p:cNvSpPr/>
          <p:nvPr/>
        </p:nvSpPr>
        <p:spPr>
          <a:xfrm>
            <a:off x="7635240" y="5669280"/>
            <a:ext cx="4023360" cy="731520"/>
          </a:xfrm>
          <a:prstGeom prst="rect">
            <a:avLst/>
          </a:prstGeom>
          <a:noFill/>
          <a:ln/>
        </p:spPr>
        <p:txBody>
          <a:bodyPr wrap="square" lIns="0" tIns="0" rIns="0" bIns="0" rtlCol="0" anchor="t"/>
          <a:lstStyle/>
          <a:p>
            <a:pPr marL="0" indent="0">
              <a:buNone/>
            </a:pPr>
            <a:r>
              <a:rPr lang="en-US" sz="1200" i="1" dirty="0">
                <a:solidFill>
                  <a:srgbClr val="1E293B"/>
                </a:solidFill>
                <a:latin typeface="Calibri" pitchFamily="34" charset="0"/>
                <a:ea typeface="Calibri" pitchFamily="34" charset="-122"/>
                <a:cs typeface="Calibri" pitchFamily="34" charset="-120"/>
              </a:rPr>
              <a:t>Sceptical user audits the system without ever leaving the chat surface.</a:t>
            </a:r>
            <a:endParaRPr lang="en-US" sz="1200" dirty="0"/>
          </a:p>
        </p:txBody>
      </p:sp>
      <p:sp>
        <p:nvSpPr>
          <p:cNvPr id="82" name="Text 80"/>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23 / 27</a:t>
            </a:r>
            <a:endParaRPr lang="en-US" sz="900" dirty="0"/>
          </a:p>
        </p:txBody>
      </p:sp>
      <p:sp>
        <p:nvSpPr>
          <p:cNvPr id="83" name="Text 81"/>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HONEST SELF-ASSESSMENT, NOT A WIKI-PAGE POLICY</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Ethics  ·  PII  -  Incidental vs Designed Protection</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417320"/>
            <a:ext cx="11247120" cy="5486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The system has two PII columns: customer_name and customer_email.  PII protection is incidental: a behavioural default, not a structural guarantee.  </a:t>
            </a:r>
            <a:endParaRPr lang="en-US" sz="1400" dirty="0"/>
          </a:p>
        </p:txBody>
      </p:sp>
      <p:sp>
        <p:nvSpPr>
          <p:cNvPr id="6" name="Shape 4"/>
          <p:cNvSpPr/>
          <p:nvPr/>
        </p:nvSpPr>
        <p:spPr>
          <a:xfrm>
            <a:off x="457200" y="2057400"/>
            <a:ext cx="5486400" cy="3657600"/>
          </a:xfrm>
          <a:prstGeom prst="rect">
            <a:avLst/>
          </a:prstGeom>
          <a:solidFill>
            <a:srgbClr val="F8FAFC"/>
          </a:solidFill>
          <a:ln w="7620">
            <a:solidFill>
              <a:srgbClr val="B45309"/>
            </a:solidFill>
            <a:prstDash val="solid"/>
          </a:ln>
        </p:spPr>
        <p:txBody>
          <a:bodyPr/>
          <a:lstStyle/>
          <a:p>
            <a:endParaRPr lang="en-US"/>
          </a:p>
        </p:txBody>
      </p:sp>
      <p:sp>
        <p:nvSpPr>
          <p:cNvPr id="7" name="Text 5"/>
          <p:cNvSpPr/>
          <p:nvPr/>
        </p:nvSpPr>
        <p:spPr>
          <a:xfrm>
            <a:off x="685800" y="2148840"/>
            <a:ext cx="5212080" cy="274320"/>
          </a:xfrm>
          <a:prstGeom prst="rect">
            <a:avLst/>
          </a:prstGeom>
          <a:noFill/>
          <a:ln/>
        </p:spPr>
        <p:txBody>
          <a:bodyPr wrap="square" lIns="0" tIns="0" rIns="0" bIns="0" rtlCol="0" anchor="ctr"/>
          <a:lstStyle/>
          <a:p>
            <a:pPr marL="0" indent="0">
              <a:buNone/>
            </a:pPr>
            <a:r>
              <a:rPr lang="en-US" sz="1400" b="1" kern="0" spc="300" dirty="0">
                <a:solidFill>
                  <a:srgbClr val="B45309"/>
                </a:solidFill>
                <a:latin typeface="Calibri" pitchFamily="34" charset="0"/>
                <a:ea typeface="Calibri" pitchFamily="34" charset="-122"/>
                <a:cs typeface="Calibri" pitchFamily="34" charset="-120"/>
              </a:rPr>
              <a:t>CURRENT —  INCIDENTAL PROTECTION</a:t>
            </a:r>
            <a:endParaRPr lang="en-US" sz="1400" dirty="0"/>
          </a:p>
        </p:txBody>
      </p:sp>
      <p:sp>
        <p:nvSpPr>
          <p:cNvPr id="8" name="Text 6"/>
          <p:cNvSpPr/>
          <p:nvPr/>
        </p:nvSpPr>
        <p:spPr>
          <a:xfrm>
            <a:off x="685800" y="2468880"/>
            <a:ext cx="5212080" cy="3200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Four behavioural defaults keep PII out of typical answers:</a:t>
            </a:r>
            <a:endParaRPr lang="en-US" sz="1400" dirty="0"/>
          </a:p>
        </p:txBody>
      </p:sp>
      <p:sp>
        <p:nvSpPr>
          <p:cNvPr id="9" name="Text 7"/>
          <p:cNvSpPr/>
          <p:nvPr/>
        </p:nvSpPr>
        <p:spPr>
          <a:xfrm>
            <a:off x="777240" y="2834640"/>
            <a:ext cx="5120640" cy="45720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  Coder corpus is aggregation-shaped - no example mentions PII columns</a:t>
            </a:r>
            <a:endParaRPr lang="en-US" sz="1400" dirty="0"/>
          </a:p>
        </p:txBody>
      </p:sp>
      <p:sp>
        <p:nvSpPr>
          <p:cNvPr id="10" name="Text 8"/>
          <p:cNvSpPr/>
          <p:nvPr/>
        </p:nvSpPr>
        <p:spPr>
          <a:xfrm>
            <a:off x="777240" y="3291840"/>
            <a:ext cx="5120640" cy="45720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  Planner resolves into aggregation phrasing, never row-listing</a:t>
            </a:r>
            <a:endParaRPr lang="en-US" sz="1400" dirty="0"/>
          </a:p>
        </p:txBody>
      </p:sp>
      <p:sp>
        <p:nvSpPr>
          <p:cNvPr id="11" name="Text 9"/>
          <p:cNvSpPr/>
          <p:nvPr/>
        </p:nvSpPr>
        <p:spPr>
          <a:xfrm>
            <a:off x="777240" y="3749040"/>
            <a:ext cx="5120640" cy="45720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  Writer template composes grouped summaries, not row lists</a:t>
            </a:r>
            <a:endParaRPr lang="en-US" sz="1400" dirty="0"/>
          </a:p>
        </p:txBody>
      </p:sp>
      <p:sp>
        <p:nvSpPr>
          <p:cNvPr id="12" name="Text 10"/>
          <p:cNvSpPr/>
          <p:nvPr/>
        </p:nvSpPr>
        <p:spPr>
          <a:xfrm>
            <a:off x="777240" y="4206240"/>
            <a:ext cx="5120640" cy="45720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  Anthropic RLHF provides a thin backstop against gratuitous PII</a:t>
            </a:r>
            <a:endParaRPr lang="en-US" sz="1400" dirty="0"/>
          </a:p>
        </p:txBody>
      </p:sp>
      <p:sp>
        <p:nvSpPr>
          <p:cNvPr id="13" name="Text 11"/>
          <p:cNvSpPr/>
          <p:nvPr/>
        </p:nvSpPr>
        <p:spPr>
          <a:xfrm>
            <a:off x="685800" y="4937760"/>
            <a:ext cx="5212080" cy="685800"/>
          </a:xfrm>
          <a:prstGeom prst="rect">
            <a:avLst/>
          </a:prstGeom>
          <a:noFill/>
          <a:ln/>
        </p:spPr>
        <p:txBody>
          <a:bodyPr wrap="square" lIns="0" tIns="0" rIns="0" bIns="0" rtlCol="0" anchor="t"/>
          <a:lstStyle/>
          <a:p>
            <a:pPr marL="0" indent="0">
              <a:buNone/>
            </a:pPr>
            <a:r>
              <a:rPr lang="en-US" sz="1400" b="1" dirty="0">
                <a:solidFill>
                  <a:srgbClr val="B91C1C"/>
                </a:solidFill>
                <a:latin typeface="Calibri" pitchFamily="34" charset="0"/>
                <a:ea typeface="Calibri" pitchFamily="34" charset="-122"/>
                <a:cs typeface="Calibri" pitchFamily="34" charset="-120"/>
              </a:rPr>
              <a:t>Brittle.  </a:t>
            </a:r>
            <a:r>
              <a:rPr lang="en-US" sz="1400" i="1" dirty="0">
                <a:solidFill>
                  <a:srgbClr val="334155"/>
                </a:solidFill>
                <a:latin typeface="Calibri" pitchFamily="34" charset="0"/>
                <a:ea typeface="Calibri" pitchFamily="34" charset="-122"/>
                <a:cs typeface="Calibri" pitchFamily="34" charset="-120"/>
              </a:rPr>
              <a:t>A directly phrased query - “list the names of customers who complained about size at X1” – might exposes the gap.</a:t>
            </a:r>
            <a:endParaRPr lang="en-US" sz="1400" dirty="0"/>
          </a:p>
        </p:txBody>
      </p:sp>
      <p:sp>
        <p:nvSpPr>
          <p:cNvPr id="14" name="Shape 12"/>
          <p:cNvSpPr/>
          <p:nvPr/>
        </p:nvSpPr>
        <p:spPr>
          <a:xfrm>
            <a:off x="6263640" y="2057400"/>
            <a:ext cx="5486400" cy="3657600"/>
          </a:xfrm>
          <a:prstGeom prst="rect">
            <a:avLst/>
          </a:prstGeom>
          <a:solidFill>
            <a:srgbClr val="F0FDF4"/>
          </a:solidFill>
          <a:ln w="7620">
            <a:solidFill>
              <a:srgbClr val="15803D"/>
            </a:solidFill>
            <a:prstDash val="solid"/>
          </a:ln>
        </p:spPr>
        <p:txBody>
          <a:bodyPr/>
          <a:lstStyle/>
          <a:p>
            <a:endParaRPr lang="en-US"/>
          </a:p>
        </p:txBody>
      </p:sp>
      <p:sp>
        <p:nvSpPr>
          <p:cNvPr id="15" name="Text 13"/>
          <p:cNvSpPr/>
          <p:nvPr/>
        </p:nvSpPr>
        <p:spPr>
          <a:xfrm>
            <a:off x="6492240" y="2148840"/>
            <a:ext cx="5212080" cy="274320"/>
          </a:xfrm>
          <a:prstGeom prst="rect">
            <a:avLst/>
          </a:prstGeom>
          <a:noFill/>
          <a:ln/>
        </p:spPr>
        <p:txBody>
          <a:bodyPr wrap="square" lIns="0" tIns="0" rIns="0" bIns="0" rtlCol="0" anchor="ctr"/>
          <a:lstStyle/>
          <a:p>
            <a:pPr marL="0" indent="0">
              <a:buNone/>
            </a:pPr>
            <a:r>
              <a:rPr lang="en-US" sz="1400" b="1" kern="0" spc="300" dirty="0">
                <a:solidFill>
                  <a:srgbClr val="15803D"/>
                </a:solidFill>
                <a:latin typeface="Calibri" pitchFamily="34" charset="0"/>
                <a:ea typeface="Calibri" pitchFamily="34" charset="-122"/>
                <a:cs typeface="Calibri" pitchFamily="34" charset="-120"/>
              </a:rPr>
              <a:t>FUTURE  —  DESIGNED PROTECTION</a:t>
            </a:r>
            <a:endParaRPr lang="en-US" sz="1400" dirty="0"/>
          </a:p>
        </p:txBody>
      </p:sp>
      <p:sp>
        <p:nvSpPr>
          <p:cNvPr id="16" name="Text 14"/>
          <p:cNvSpPr/>
          <p:nvPr/>
        </p:nvSpPr>
        <p:spPr>
          <a:xfrm>
            <a:off x="6492240" y="2468880"/>
            <a:ext cx="5212080" cy="320040"/>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Two ~100-line changes, both unit-testable:</a:t>
            </a:r>
            <a:endParaRPr lang="en-US" sz="1400" dirty="0"/>
          </a:p>
        </p:txBody>
      </p:sp>
      <p:sp>
        <p:nvSpPr>
          <p:cNvPr id="17" name="Text 15"/>
          <p:cNvSpPr/>
          <p:nvPr/>
        </p:nvSpPr>
        <p:spPr>
          <a:xfrm>
            <a:off x="6583680" y="2834640"/>
            <a:ext cx="51206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  PII-scrub wrapper around </a:t>
            </a:r>
            <a:r>
              <a:rPr lang="en-US" sz="1400" dirty="0" err="1">
                <a:solidFill>
                  <a:srgbClr val="334155"/>
                </a:solidFill>
                <a:latin typeface="Calibri" pitchFamily="34" charset="0"/>
                <a:ea typeface="Calibri" pitchFamily="34" charset="-122"/>
                <a:cs typeface="Calibri" pitchFamily="34" charset="-120"/>
              </a:rPr>
              <a:t>sql_executor</a:t>
            </a:r>
            <a:r>
              <a:rPr lang="en-US" sz="1400" dirty="0">
                <a:solidFill>
                  <a:srgbClr val="334155"/>
                </a:solidFill>
                <a:latin typeface="Calibri" pitchFamily="34" charset="0"/>
                <a:ea typeface="Calibri" pitchFamily="34" charset="-122"/>
                <a:cs typeface="Calibri" pitchFamily="34" charset="-120"/>
              </a:rPr>
              <a:t> -  strips customer_name and customer_email from every result row before it reaches any agent</a:t>
            </a:r>
            <a:endParaRPr lang="en-US" sz="1400" dirty="0"/>
          </a:p>
        </p:txBody>
      </p:sp>
      <p:sp>
        <p:nvSpPr>
          <p:cNvPr id="18" name="Text 16"/>
          <p:cNvSpPr/>
          <p:nvPr/>
        </p:nvSpPr>
        <p:spPr>
          <a:xfrm>
            <a:off x="6583680" y="3703320"/>
            <a:ext cx="5120640" cy="86868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  Writer-prompt rule forbidding citation of individual customers - defence-in-depth even if scrub is changed</a:t>
            </a:r>
            <a:endParaRPr lang="en-US" sz="1400" dirty="0"/>
          </a:p>
        </p:txBody>
      </p:sp>
      <p:sp>
        <p:nvSpPr>
          <p:cNvPr id="19" name="Text 17"/>
          <p:cNvSpPr/>
          <p:nvPr/>
        </p:nvSpPr>
        <p:spPr>
          <a:xfrm>
            <a:off x="6492240" y="4937760"/>
            <a:ext cx="5212080" cy="685800"/>
          </a:xfrm>
          <a:prstGeom prst="rect">
            <a:avLst/>
          </a:prstGeom>
          <a:noFill/>
          <a:ln/>
        </p:spPr>
        <p:txBody>
          <a:bodyPr wrap="square" lIns="0" tIns="0" rIns="0" bIns="0" rtlCol="0" anchor="t"/>
          <a:lstStyle/>
          <a:p>
            <a:pPr marL="0" indent="0">
              <a:buNone/>
            </a:pPr>
            <a:r>
              <a:rPr lang="en-US" sz="1400" b="1" dirty="0">
                <a:solidFill>
                  <a:srgbClr val="15803D"/>
                </a:solidFill>
                <a:latin typeface="Calibri" pitchFamily="34" charset="0"/>
                <a:ea typeface="Calibri" pitchFamily="34" charset="-122"/>
                <a:cs typeface="Calibri" pitchFamily="34" charset="-120"/>
              </a:rPr>
              <a:t>Robust.  </a:t>
            </a:r>
            <a:r>
              <a:rPr lang="en-US" sz="1400" i="1" dirty="0">
                <a:solidFill>
                  <a:srgbClr val="334155"/>
                </a:solidFill>
                <a:latin typeface="Calibri" pitchFamily="34" charset="0"/>
                <a:ea typeface="Calibri" pitchFamily="34" charset="-122"/>
                <a:cs typeface="Calibri" pitchFamily="34" charset="-120"/>
              </a:rPr>
              <a:t>Agents never receive PII columns - the SQL itself cannot exfiltrate them, regardless of phrasing.</a:t>
            </a:r>
            <a:endParaRPr lang="en-US" sz="1400" dirty="0"/>
          </a:p>
        </p:txBody>
      </p:sp>
      <p:sp>
        <p:nvSpPr>
          <p:cNvPr id="20" name="Shape 18"/>
          <p:cNvSpPr/>
          <p:nvPr/>
        </p:nvSpPr>
        <p:spPr>
          <a:xfrm>
            <a:off x="457200" y="5760720"/>
            <a:ext cx="11247120" cy="822960"/>
          </a:xfrm>
          <a:prstGeom prst="rect">
            <a:avLst/>
          </a:prstGeom>
          <a:solidFill>
            <a:srgbClr val="CCFBF1"/>
          </a:solidFill>
          <a:ln w="6350">
            <a:solidFill>
              <a:srgbClr val="0F766E"/>
            </a:solidFill>
            <a:prstDash val="solid"/>
          </a:ln>
        </p:spPr>
        <p:txBody>
          <a:bodyPr/>
          <a:lstStyle/>
          <a:p>
            <a:endParaRPr lang="en-US"/>
          </a:p>
        </p:txBody>
      </p:sp>
      <p:sp>
        <p:nvSpPr>
          <p:cNvPr id="21" name="Text 19"/>
          <p:cNvSpPr/>
          <p:nvPr/>
        </p:nvSpPr>
        <p:spPr>
          <a:xfrm>
            <a:off x="685800" y="5833872"/>
            <a:ext cx="10789920" cy="274320"/>
          </a:xfrm>
          <a:prstGeom prst="rect">
            <a:avLst/>
          </a:prstGeom>
          <a:noFill/>
          <a:ln/>
        </p:spPr>
        <p:txBody>
          <a:bodyPr wrap="square" lIns="0" tIns="0" rIns="0" bIns="0" rtlCol="0" anchor="ctr"/>
          <a:lstStyle/>
          <a:p>
            <a:pPr marL="0" indent="0">
              <a:buNone/>
            </a:pPr>
            <a:r>
              <a:rPr lang="en-US" sz="1400" b="1" kern="0" spc="300" dirty="0">
                <a:solidFill>
                  <a:srgbClr val="0F766E"/>
                </a:solidFill>
                <a:latin typeface="Calibri" pitchFamily="34" charset="0"/>
                <a:ea typeface="Calibri" pitchFamily="34" charset="-122"/>
                <a:cs typeface="Calibri" pitchFamily="34" charset="-120"/>
              </a:rPr>
              <a:t>WHEN THE UPGRADE BECOMES MANDATORY</a:t>
            </a:r>
            <a:endParaRPr lang="en-US" sz="1400" dirty="0"/>
          </a:p>
        </p:txBody>
      </p:sp>
      <p:sp>
        <p:nvSpPr>
          <p:cNvPr id="22" name="Text 20"/>
          <p:cNvSpPr/>
          <p:nvPr/>
        </p:nvSpPr>
        <p:spPr>
          <a:xfrm>
            <a:off x="685800" y="6108192"/>
            <a:ext cx="10789920" cy="457200"/>
          </a:xfrm>
          <a:prstGeom prst="rect">
            <a:avLst/>
          </a:prstGeom>
          <a:noFill/>
          <a:ln/>
        </p:spPr>
        <p:txBody>
          <a:bodyPr wrap="square" lIns="0" tIns="0" rIns="0" bIns="0" rtlCol="0" anchor="t"/>
          <a:lstStyle/>
          <a:p>
            <a:pPr marL="0" indent="0">
              <a:buNone/>
            </a:pPr>
            <a:r>
              <a:rPr lang="en-US" sz="1400" dirty="0">
                <a:solidFill>
                  <a:srgbClr val="334155"/>
                </a:solidFill>
                <a:latin typeface="Calibri" pitchFamily="34" charset="0"/>
                <a:ea typeface="Calibri" pitchFamily="34" charset="-122"/>
                <a:cs typeface="Calibri" pitchFamily="34" charset="-120"/>
              </a:rPr>
              <a:t>Any of:  external user access  ·  internal access beyond the merch team  ·  regulatory audit  ·  use-case expansion to individual-customer questions (loyalty programmes, single-customer journeys).</a:t>
            </a:r>
            <a:endParaRPr lang="en-US" sz="1400" dirty="0"/>
          </a:p>
        </p:txBody>
      </p:sp>
      <p:sp>
        <p:nvSpPr>
          <p:cNvPr id="23" name="Text 21"/>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24 / 27</a:t>
            </a:r>
            <a:endParaRPr lang="en-US" sz="900" dirty="0"/>
          </a:p>
        </p:txBody>
      </p:sp>
      <p:sp>
        <p:nvSpPr>
          <p:cNvPr id="24" name="Text 22"/>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PER-TURN LATENCY  +  PER-TURN TOKEN SPEND</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Performance  &amp;  Cost :  Bounded by Design</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463040"/>
            <a:ext cx="2743200" cy="1417320"/>
          </a:xfrm>
          <a:prstGeom prst="rect">
            <a:avLst/>
          </a:prstGeom>
          <a:solidFill>
            <a:srgbClr val="F8FAFC"/>
          </a:solidFill>
          <a:ln w="9525">
            <a:solidFill>
              <a:srgbClr val="E2E8F0"/>
            </a:solidFill>
            <a:prstDash val="solid"/>
          </a:ln>
        </p:spPr>
        <p:txBody>
          <a:bodyPr/>
          <a:lstStyle/>
          <a:p>
            <a:endParaRPr lang="en-US"/>
          </a:p>
        </p:txBody>
      </p:sp>
      <p:sp>
        <p:nvSpPr>
          <p:cNvPr id="6" name="Shape 4"/>
          <p:cNvSpPr/>
          <p:nvPr/>
        </p:nvSpPr>
        <p:spPr>
          <a:xfrm>
            <a:off x="457200" y="1463040"/>
            <a:ext cx="73152" cy="1417320"/>
          </a:xfrm>
          <a:prstGeom prst="rect">
            <a:avLst/>
          </a:prstGeom>
          <a:solidFill>
            <a:srgbClr val="0F766E"/>
          </a:solidFill>
          <a:ln w="12700">
            <a:solidFill>
              <a:srgbClr val="0F766E"/>
            </a:solidFill>
            <a:prstDash val="solid"/>
          </a:ln>
        </p:spPr>
        <p:txBody>
          <a:bodyPr/>
          <a:lstStyle/>
          <a:p>
            <a:endParaRPr lang="en-US"/>
          </a:p>
        </p:txBody>
      </p:sp>
      <p:sp>
        <p:nvSpPr>
          <p:cNvPr id="7" name="Text 5"/>
          <p:cNvSpPr/>
          <p:nvPr/>
        </p:nvSpPr>
        <p:spPr>
          <a:xfrm>
            <a:off x="457200" y="1554480"/>
            <a:ext cx="2743200" cy="640080"/>
          </a:xfrm>
          <a:prstGeom prst="rect">
            <a:avLst/>
          </a:prstGeom>
          <a:noFill/>
          <a:ln/>
        </p:spPr>
        <p:txBody>
          <a:bodyPr wrap="square" lIns="0" tIns="0" rIns="0" bIns="0" rtlCol="0" anchor="ctr"/>
          <a:lstStyle/>
          <a:p>
            <a:pPr marL="0" indent="0" algn="ctr">
              <a:buNone/>
            </a:pPr>
            <a:r>
              <a:rPr lang="en-US" sz="3000" b="1" dirty="0">
                <a:solidFill>
                  <a:srgbClr val="0F766E"/>
                </a:solidFill>
                <a:latin typeface="Calibri" pitchFamily="34" charset="0"/>
                <a:ea typeface="Calibri" pitchFamily="34" charset="-122"/>
                <a:cs typeface="Calibri" pitchFamily="34" charset="-120"/>
              </a:rPr>
              <a:t>15–20s</a:t>
            </a:r>
            <a:endParaRPr lang="en-US" sz="3000" dirty="0"/>
          </a:p>
        </p:txBody>
      </p:sp>
      <p:sp>
        <p:nvSpPr>
          <p:cNvPr id="8" name="Text 6"/>
          <p:cNvSpPr/>
          <p:nvPr/>
        </p:nvSpPr>
        <p:spPr>
          <a:xfrm>
            <a:off x="594360" y="2212848"/>
            <a:ext cx="24688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SQL happy case</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(1 Coder · 1 OR · 1 Writer)</a:t>
            </a:r>
            <a:endParaRPr lang="en-US" sz="1400" dirty="0"/>
          </a:p>
        </p:txBody>
      </p:sp>
      <p:sp>
        <p:nvSpPr>
          <p:cNvPr id="9" name="Shape 7"/>
          <p:cNvSpPr/>
          <p:nvPr/>
        </p:nvSpPr>
        <p:spPr>
          <a:xfrm>
            <a:off x="3337560" y="1463040"/>
            <a:ext cx="2743200" cy="1417320"/>
          </a:xfrm>
          <a:prstGeom prst="rect">
            <a:avLst/>
          </a:prstGeom>
          <a:solidFill>
            <a:srgbClr val="F8FAFC"/>
          </a:solidFill>
          <a:ln w="9525">
            <a:solidFill>
              <a:srgbClr val="E2E8F0"/>
            </a:solidFill>
            <a:prstDash val="solid"/>
          </a:ln>
        </p:spPr>
        <p:txBody>
          <a:bodyPr/>
          <a:lstStyle/>
          <a:p>
            <a:endParaRPr lang="en-US"/>
          </a:p>
        </p:txBody>
      </p:sp>
      <p:sp>
        <p:nvSpPr>
          <p:cNvPr id="10" name="Shape 8"/>
          <p:cNvSpPr/>
          <p:nvPr/>
        </p:nvSpPr>
        <p:spPr>
          <a:xfrm>
            <a:off x="3337560" y="1463040"/>
            <a:ext cx="73152" cy="1417320"/>
          </a:xfrm>
          <a:prstGeom prst="rect">
            <a:avLst/>
          </a:prstGeom>
          <a:solidFill>
            <a:srgbClr val="0F766E"/>
          </a:solidFill>
          <a:ln w="12700">
            <a:solidFill>
              <a:srgbClr val="0F766E"/>
            </a:solidFill>
            <a:prstDash val="solid"/>
          </a:ln>
        </p:spPr>
        <p:txBody>
          <a:bodyPr/>
          <a:lstStyle/>
          <a:p>
            <a:endParaRPr lang="en-US"/>
          </a:p>
        </p:txBody>
      </p:sp>
      <p:sp>
        <p:nvSpPr>
          <p:cNvPr id="11" name="Text 9"/>
          <p:cNvSpPr/>
          <p:nvPr/>
        </p:nvSpPr>
        <p:spPr>
          <a:xfrm>
            <a:off x="3337560" y="1554480"/>
            <a:ext cx="2743200" cy="640080"/>
          </a:xfrm>
          <a:prstGeom prst="rect">
            <a:avLst/>
          </a:prstGeom>
          <a:noFill/>
          <a:ln/>
        </p:spPr>
        <p:txBody>
          <a:bodyPr wrap="square" lIns="0" tIns="0" rIns="0" bIns="0" rtlCol="0" anchor="ctr"/>
          <a:lstStyle/>
          <a:p>
            <a:pPr marL="0" indent="0" algn="ctr">
              <a:buNone/>
            </a:pPr>
            <a:r>
              <a:rPr lang="en-US" sz="3000" b="1" dirty="0">
                <a:solidFill>
                  <a:srgbClr val="0F766E"/>
                </a:solidFill>
                <a:latin typeface="Calibri" pitchFamily="34" charset="0"/>
                <a:ea typeface="Calibri" pitchFamily="34" charset="-122"/>
                <a:cs typeface="Calibri" pitchFamily="34" charset="-120"/>
              </a:rPr>
              <a:t>30–60s</a:t>
            </a:r>
            <a:endParaRPr lang="en-US" sz="3000" dirty="0"/>
          </a:p>
        </p:txBody>
      </p:sp>
      <p:sp>
        <p:nvSpPr>
          <p:cNvPr id="12" name="Text 10"/>
          <p:cNvSpPr/>
          <p:nvPr/>
        </p:nvSpPr>
        <p:spPr>
          <a:xfrm>
            <a:off x="3474720" y="2212848"/>
            <a:ext cx="24688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SQL with retries</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(1–2 retry attempts)</a:t>
            </a:r>
            <a:endParaRPr lang="en-US" sz="1400" dirty="0"/>
          </a:p>
        </p:txBody>
      </p:sp>
      <p:sp>
        <p:nvSpPr>
          <p:cNvPr id="13" name="Shape 11"/>
          <p:cNvSpPr/>
          <p:nvPr/>
        </p:nvSpPr>
        <p:spPr>
          <a:xfrm>
            <a:off x="6217920" y="1463040"/>
            <a:ext cx="2743200" cy="1417320"/>
          </a:xfrm>
          <a:prstGeom prst="rect">
            <a:avLst/>
          </a:prstGeom>
          <a:solidFill>
            <a:srgbClr val="F8FAFC"/>
          </a:solidFill>
          <a:ln w="9525">
            <a:solidFill>
              <a:srgbClr val="E2E8F0"/>
            </a:solidFill>
            <a:prstDash val="solid"/>
          </a:ln>
        </p:spPr>
        <p:txBody>
          <a:bodyPr/>
          <a:lstStyle/>
          <a:p>
            <a:endParaRPr lang="en-US"/>
          </a:p>
        </p:txBody>
      </p:sp>
      <p:sp>
        <p:nvSpPr>
          <p:cNvPr id="14" name="Shape 12"/>
          <p:cNvSpPr/>
          <p:nvPr/>
        </p:nvSpPr>
        <p:spPr>
          <a:xfrm>
            <a:off x="6217920" y="1463040"/>
            <a:ext cx="73152" cy="1417320"/>
          </a:xfrm>
          <a:prstGeom prst="rect">
            <a:avLst/>
          </a:prstGeom>
          <a:solidFill>
            <a:srgbClr val="0F766E"/>
          </a:solidFill>
          <a:ln w="12700">
            <a:solidFill>
              <a:srgbClr val="0F766E"/>
            </a:solidFill>
            <a:prstDash val="solid"/>
          </a:ln>
        </p:spPr>
        <p:txBody>
          <a:bodyPr/>
          <a:lstStyle/>
          <a:p>
            <a:endParaRPr lang="en-US"/>
          </a:p>
        </p:txBody>
      </p:sp>
      <p:sp>
        <p:nvSpPr>
          <p:cNvPr id="15" name="Text 13"/>
          <p:cNvSpPr/>
          <p:nvPr/>
        </p:nvSpPr>
        <p:spPr>
          <a:xfrm>
            <a:off x="6217920" y="1554480"/>
            <a:ext cx="2743200" cy="640080"/>
          </a:xfrm>
          <a:prstGeom prst="rect">
            <a:avLst/>
          </a:prstGeom>
          <a:noFill/>
          <a:ln/>
        </p:spPr>
        <p:txBody>
          <a:bodyPr wrap="square" lIns="0" tIns="0" rIns="0" bIns="0" rtlCol="0" anchor="ctr"/>
          <a:lstStyle/>
          <a:p>
            <a:pPr marL="0" indent="0" algn="ctr">
              <a:buNone/>
            </a:pPr>
            <a:r>
              <a:rPr lang="en-US" sz="3000" b="1" dirty="0">
                <a:solidFill>
                  <a:srgbClr val="0F766E"/>
                </a:solidFill>
                <a:latin typeface="Calibri" pitchFamily="34" charset="0"/>
                <a:ea typeface="Calibri" pitchFamily="34" charset="-122"/>
                <a:cs typeface="Calibri" pitchFamily="34" charset="-120"/>
              </a:rPr>
              <a:t>2–5s</a:t>
            </a:r>
            <a:endParaRPr lang="en-US" sz="3000" dirty="0"/>
          </a:p>
        </p:txBody>
      </p:sp>
      <p:sp>
        <p:nvSpPr>
          <p:cNvPr id="16" name="Text 14"/>
          <p:cNvSpPr/>
          <p:nvPr/>
        </p:nvSpPr>
        <p:spPr>
          <a:xfrm>
            <a:off x="6355080" y="2212848"/>
            <a:ext cx="24688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Direct path</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(conversational only)</a:t>
            </a:r>
            <a:endParaRPr lang="en-US" sz="1400" dirty="0"/>
          </a:p>
        </p:txBody>
      </p:sp>
      <p:sp>
        <p:nvSpPr>
          <p:cNvPr id="17" name="Shape 15"/>
          <p:cNvSpPr/>
          <p:nvPr/>
        </p:nvSpPr>
        <p:spPr>
          <a:xfrm>
            <a:off x="9098280" y="1463040"/>
            <a:ext cx="2743200" cy="1417320"/>
          </a:xfrm>
          <a:prstGeom prst="rect">
            <a:avLst/>
          </a:prstGeom>
          <a:solidFill>
            <a:srgbClr val="F8FAFC"/>
          </a:solidFill>
          <a:ln w="9525">
            <a:solidFill>
              <a:srgbClr val="E2E8F0"/>
            </a:solidFill>
            <a:prstDash val="solid"/>
          </a:ln>
        </p:spPr>
        <p:txBody>
          <a:bodyPr/>
          <a:lstStyle/>
          <a:p>
            <a:endParaRPr lang="en-US"/>
          </a:p>
        </p:txBody>
      </p:sp>
      <p:sp>
        <p:nvSpPr>
          <p:cNvPr id="18" name="Shape 16"/>
          <p:cNvSpPr/>
          <p:nvPr/>
        </p:nvSpPr>
        <p:spPr>
          <a:xfrm>
            <a:off x="9098280" y="1463040"/>
            <a:ext cx="73152" cy="1417320"/>
          </a:xfrm>
          <a:prstGeom prst="rect">
            <a:avLst/>
          </a:prstGeom>
          <a:solidFill>
            <a:srgbClr val="0F766E"/>
          </a:solidFill>
          <a:ln w="12700">
            <a:solidFill>
              <a:srgbClr val="0F766E"/>
            </a:solidFill>
            <a:prstDash val="solid"/>
          </a:ln>
        </p:spPr>
        <p:txBody>
          <a:bodyPr/>
          <a:lstStyle/>
          <a:p>
            <a:endParaRPr lang="en-US"/>
          </a:p>
        </p:txBody>
      </p:sp>
      <p:sp>
        <p:nvSpPr>
          <p:cNvPr id="19" name="Text 17"/>
          <p:cNvSpPr/>
          <p:nvPr/>
        </p:nvSpPr>
        <p:spPr>
          <a:xfrm>
            <a:off x="9098280" y="1554480"/>
            <a:ext cx="2743200" cy="640080"/>
          </a:xfrm>
          <a:prstGeom prst="rect">
            <a:avLst/>
          </a:prstGeom>
          <a:noFill/>
          <a:ln/>
        </p:spPr>
        <p:txBody>
          <a:bodyPr wrap="square" lIns="0" tIns="0" rIns="0" bIns="0" rtlCol="0" anchor="ctr"/>
          <a:lstStyle/>
          <a:p>
            <a:pPr marL="0" indent="0" algn="ctr">
              <a:buNone/>
            </a:pPr>
            <a:r>
              <a:rPr lang="en-US" sz="3000" b="1" dirty="0">
                <a:solidFill>
                  <a:srgbClr val="0F766E"/>
                </a:solidFill>
                <a:latin typeface="Calibri" pitchFamily="34" charset="0"/>
                <a:ea typeface="Calibri" pitchFamily="34" charset="-122"/>
                <a:cs typeface="Calibri" pitchFamily="34" charset="-120"/>
              </a:rPr>
              <a:t>1–2s</a:t>
            </a:r>
            <a:endParaRPr lang="en-US" sz="3000" dirty="0"/>
          </a:p>
        </p:txBody>
      </p:sp>
      <p:sp>
        <p:nvSpPr>
          <p:cNvPr id="20" name="Text 18"/>
          <p:cNvSpPr/>
          <p:nvPr/>
        </p:nvSpPr>
        <p:spPr>
          <a:xfrm>
            <a:off x="9235440" y="2212848"/>
            <a:ext cx="2468880" cy="64008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Clarify path</a:t>
            </a:r>
            <a:endParaRPr lang="en-US" sz="1400" dirty="0"/>
          </a:p>
          <a:p>
            <a:pPr marL="0" indent="0" algn="ctr">
              <a:buNone/>
            </a:pPr>
            <a:r>
              <a:rPr lang="en-US" sz="1400" dirty="0">
                <a:solidFill>
                  <a:srgbClr val="64748B"/>
                </a:solidFill>
                <a:latin typeface="Calibri" pitchFamily="34" charset="0"/>
                <a:ea typeface="Calibri" pitchFamily="34" charset="-122"/>
                <a:cs typeface="Calibri" pitchFamily="34" charset="-120"/>
              </a:rPr>
              <a:t>(planner returns clarifying Q)</a:t>
            </a:r>
            <a:endParaRPr lang="en-US" sz="1400" dirty="0"/>
          </a:p>
        </p:txBody>
      </p:sp>
      <p:sp>
        <p:nvSpPr>
          <p:cNvPr id="21" name="Text 19"/>
          <p:cNvSpPr/>
          <p:nvPr/>
        </p:nvSpPr>
        <p:spPr>
          <a:xfrm>
            <a:off x="457200" y="3108960"/>
            <a:ext cx="11247120" cy="274320"/>
          </a:xfrm>
          <a:prstGeom prst="rect">
            <a:avLst/>
          </a:prstGeom>
          <a:noFill/>
          <a:ln/>
        </p:spPr>
        <p:txBody>
          <a:bodyPr wrap="square" lIns="0" tIns="0" rIns="0" bIns="0" rtlCol="0" anchor="ctr"/>
          <a:lstStyle/>
          <a:p>
            <a:pPr marL="0" indent="0">
              <a:buNone/>
            </a:pPr>
            <a:r>
              <a:rPr lang="en-US" b="1" kern="0" spc="300" dirty="0">
                <a:solidFill>
                  <a:srgbClr val="1E293B"/>
                </a:solidFill>
                <a:latin typeface="Calibri" pitchFamily="34" charset="0"/>
                <a:ea typeface="Calibri" pitchFamily="34" charset="-122"/>
                <a:cs typeface="Calibri" pitchFamily="34" charset="-120"/>
              </a:rPr>
              <a:t>PER-TURN COST DECOMPOSITION  ·  ANTHROPIC PRICING</a:t>
            </a:r>
            <a:endParaRPr lang="en-US" dirty="0"/>
          </a:p>
        </p:txBody>
      </p:sp>
      <p:graphicFrame>
        <p:nvGraphicFramePr>
          <p:cNvPr id="22" name="Chart 0"/>
          <p:cNvGraphicFramePr/>
          <p:nvPr>
            <p:extLst>
              <p:ext uri="{D42A27DB-BD31-4B8C-83A1-F6EECF244321}">
                <p14:modId xmlns:p14="http://schemas.microsoft.com/office/powerpoint/2010/main" val="541779924"/>
              </p:ext>
            </p:extLst>
          </p:nvPr>
        </p:nvGraphicFramePr>
        <p:xfrm>
          <a:off x="457200" y="3429000"/>
          <a:ext cx="1124712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457200" y="5989320"/>
            <a:ext cx="11247120" cy="594360"/>
          </a:xfrm>
          <a:prstGeom prst="rect">
            <a:avLst/>
          </a:prstGeom>
          <a:solidFill>
            <a:srgbClr val="FEF3C7"/>
          </a:solidFill>
          <a:ln w="6350">
            <a:solidFill>
              <a:srgbClr val="B45309"/>
            </a:solidFill>
            <a:prstDash val="solid"/>
          </a:ln>
        </p:spPr>
        <p:txBody>
          <a:bodyPr/>
          <a:lstStyle/>
          <a:p>
            <a:endParaRPr lang="en-US" sz="4000"/>
          </a:p>
        </p:txBody>
      </p:sp>
      <p:sp>
        <p:nvSpPr>
          <p:cNvPr id="24" name="Text 21"/>
          <p:cNvSpPr/>
          <p:nvPr/>
        </p:nvSpPr>
        <p:spPr>
          <a:xfrm>
            <a:off x="685800" y="6053328"/>
            <a:ext cx="10789920" cy="502920"/>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Worst-case cost is bounded.  </a:t>
            </a:r>
            <a:r>
              <a:rPr lang="en-US" sz="1400" dirty="0">
                <a:solidFill>
                  <a:srgbClr val="334155"/>
                </a:solidFill>
                <a:latin typeface="Calibri" pitchFamily="34" charset="0"/>
                <a:ea typeface="Calibri" pitchFamily="34" charset="-122"/>
                <a:cs typeface="Calibri" pitchFamily="34" charset="-120"/>
              </a:rPr>
              <a:t>Sub-dollar even in the worst case because retry budgets are bounded.  This is a direct consequence of the rule-based Orchestrator choice. </a:t>
            </a:r>
            <a:r>
              <a:rPr lang="en-US" sz="1400" b="1" dirty="0">
                <a:solidFill>
                  <a:srgbClr val="FF0000"/>
                </a:solidFill>
                <a:latin typeface="Calibri" pitchFamily="34" charset="0"/>
                <a:ea typeface="Calibri" pitchFamily="34" charset="-122"/>
                <a:cs typeface="Calibri" pitchFamily="34" charset="-120"/>
              </a:rPr>
              <a:t>An autonomous-loop design could not make this guarantee.</a:t>
            </a:r>
            <a:endParaRPr lang="en-US" sz="1400" b="1" dirty="0">
              <a:solidFill>
                <a:srgbClr val="FF0000"/>
              </a:solidFill>
            </a:endParaRPr>
          </a:p>
        </p:txBody>
      </p:sp>
      <p:sp>
        <p:nvSpPr>
          <p:cNvPr id="25" name="Text 22"/>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25 / 27</a:t>
            </a:r>
            <a:endParaRPr lang="en-US" sz="900" dirty="0"/>
          </a:p>
        </p:txBody>
      </p:sp>
      <p:sp>
        <p:nvSpPr>
          <p:cNvPr id="26" name="Text 23"/>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256032"/>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WHAT'S NOT YET BUILT — AND WHY</a:t>
            </a:r>
            <a:endParaRPr lang="en-US" dirty="0"/>
          </a:p>
        </p:txBody>
      </p:sp>
      <p:sp>
        <p:nvSpPr>
          <p:cNvPr id="3" name="Text 1"/>
          <p:cNvSpPr/>
          <p:nvPr/>
        </p:nvSpPr>
        <p:spPr>
          <a:xfrm>
            <a:off x="457200" y="548640"/>
            <a:ext cx="11247120" cy="64008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Known Limitations  &amp;  Future Directions</a:t>
            </a:r>
            <a:endParaRPr lang="en-US" sz="2600" dirty="0"/>
          </a:p>
        </p:txBody>
      </p:sp>
      <p:sp>
        <p:nvSpPr>
          <p:cNvPr id="4" name="Shape 2"/>
          <p:cNvSpPr/>
          <p:nvPr/>
        </p:nvSpPr>
        <p:spPr>
          <a:xfrm>
            <a:off x="457200" y="1207008"/>
            <a:ext cx="11247120" cy="10973"/>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463040"/>
            <a:ext cx="5486400" cy="5120640"/>
          </a:xfrm>
          <a:prstGeom prst="rect">
            <a:avLst/>
          </a:prstGeom>
          <a:solidFill>
            <a:srgbClr val="F8FAFC"/>
          </a:solidFill>
          <a:ln w="9525">
            <a:solidFill>
              <a:srgbClr val="E2E8F0"/>
            </a:solidFill>
            <a:prstDash val="solid"/>
          </a:ln>
        </p:spPr>
        <p:txBody>
          <a:bodyPr/>
          <a:lstStyle/>
          <a:p>
            <a:endParaRPr lang="en-US"/>
          </a:p>
        </p:txBody>
      </p:sp>
      <p:sp>
        <p:nvSpPr>
          <p:cNvPr id="6" name="Shape 4"/>
          <p:cNvSpPr/>
          <p:nvPr/>
        </p:nvSpPr>
        <p:spPr>
          <a:xfrm>
            <a:off x="457200" y="1463040"/>
            <a:ext cx="73152" cy="5120640"/>
          </a:xfrm>
          <a:prstGeom prst="rect">
            <a:avLst/>
          </a:prstGeom>
          <a:solidFill>
            <a:srgbClr val="B45309"/>
          </a:solidFill>
          <a:ln w="12700">
            <a:solidFill>
              <a:srgbClr val="B45309"/>
            </a:solidFill>
            <a:prstDash val="solid"/>
          </a:ln>
        </p:spPr>
        <p:txBody>
          <a:bodyPr/>
          <a:lstStyle/>
          <a:p>
            <a:endParaRPr lang="en-US"/>
          </a:p>
        </p:txBody>
      </p:sp>
      <p:sp>
        <p:nvSpPr>
          <p:cNvPr id="7" name="Text 5"/>
          <p:cNvSpPr/>
          <p:nvPr/>
        </p:nvSpPr>
        <p:spPr>
          <a:xfrm>
            <a:off x="685800" y="1554480"/>
            <a:ext cx="5029200" cy="274320"/>
          </a:xfrm>
          <a:prstGeom prst="rect">
            <a:avLst/>
          </a:prstGeom>
          <a:noFill/>
          <a:ln/>
        </p:spPr>
        <p:txBody>
          <a:bodyPr wrap="square" lIns="0" tIns="0" rIns="0" bIns="0" rtlCol="0" anchor="ctr"/>
          <a:lstStyle/>
          <a:p>
            <a:pPr marL="0" indent="0">
              <a:buNone/>
            </a:pPr>
            <a:r>
              <a:rPr lang="en-US" sz="1600" b="1" kern="0" spc="300" dirty="0">
                <a:solidFill>
                  <a:srgbClr val="B45309"/>
                </a:solidFill>
                <a:latin typeface="Calibri" pitchFamily="34" charset="0"/>
                <a:ea typeface="Calibri" pitchFamily="34" charset="-122"/>
                <a:cs typeface="Calibri" pitchFamily="34" charset="-120"/>
              </a:rPr>
              <a:t>KNOWN LIMITATIONS</a:t>
            </a:r>
            <a:endParaRPr lang="en-US" sz="1600" dirty="0"/>
          </a:p>
        </p:txBody>
      </p:sp>
      <p:sp>
        <p:nvSpPr>
          <p:cNvPr id="8" name="Shape 6"/>
          <p:cNvSpPr/>
          <p:nvPr/>
        </p:nvSpPr>
        <p:spPr>
          <a:xfrm>
            <a:off x="713232" y="20575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9" name="Text 7"/>
          <p:cNvSpPr/>
          <p:nvPr/>
        </p:nvSpPr>
        <p:spPr>
          <a:xfrm>
            <a:off x="914400" y="18745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Groundedness verifies values, not attribution - wrong-group attribution can pass</a:t>
            </a:r>
            <a:endParaRPr lang="en-US" sz="1400" dirty="0"/>
          </a:p>
        </p:txBody>
      </p:sp>
      <p:sp>
        <p:nvSpPr>
          <p:cNvPr id="10" name="Shape 8"/>
          <p:cNvSpPr/>
          <p:nvPr/>
        </p:nvSpPr>
        <p:spPr>
          <a:xfrm>
            <a:off x="713232" y="25147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11" name="Text 9"/>
          <p:cNvSpPr/>
          <p:nvPr/>
        </p:nvSpPr>
        <p:spPr>
          <a:xfrm>
            <a:off x="914400" y="23317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Planner is a single point of failure for history resolution</a:t>
            </a:r>
            <a:endParaRPr lang="en-US" sz="1400" dirty="0"/>
          </a:p>
        </p:txBody>
      </p:sp>
      <p:sp>
        <p:nvSpPr>
          <p:cNvPr id="12" name="Shape 10"/>
          <p:cNvSpPr/>
          <p:nvPr/>
        </p:nvSpPr>
        <p:spPr>
          <a:xfrm>
            <a:off x="713232" y="29719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13" name="Text 11"/>
          <p:cNvSpPr/>
          <p:nvPr/>
        </p:nvSpPr>
        <p:spPr>
          <a:xfrm>
            <a:off x="914400" y="27889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Output Reviewer at Haiku can occasionally rubber-stamp subtle mismatches</a:t>
            </a:r>
            <a:endParaRPr lang="en-US" sz="1400" dirty="0"/>
          </a:p>
        </p:txBody>
      </p:sp>
      <p:sp>
        <p:nvSpPr>
          <p:cNvPr id="14" name="Shape 12"/>
          <p:cNvSpPr/>
          <p:nvPr/>
        </p:nvSpPr>
        <p:spPr>
          <a:xfrm>
            <a:off x="713232" y="34291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15" name="Text 13"/>
          <p:cNvSpPr/>
          <p:nvPr/>
        </p:nvSpPr>
        <p:spPr>
          <a:xfrm>
            <a:off x="914400" y="32461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PII is not guarded - incidental protection only (see Slide 24)</a:t>
            </a:r>
            <a:endParaRPr lang="en-US" sz="1400" dirty="0"/>
          </a:p>
        </p:txBody>
      </p:sp>
      <p:sp>
        <p:nvSpPr>
          <p:cNvPr id="16" name="Shape 14"/>
          <p:cNvSpPr/>
          <p:nvPr/>
        </p:nvSpPr>
        <p:spPr>
          <a:xfrm>
            <a:off x="713232" y="38863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17" name="Text 15"/>
          <p:cNvSpPr/>
          <p:nvPr/>
        </p:nvSpPr>
        <p:spPr>
          <a:xfrm>
            <a:off x="914400" y="37033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Viz sandbox is dev-grade, in-process exec, not subprocess-isolated</a:t>
            </a:r>
            <a:endParaRPr lang="en-US" sz="1400" dirty="0"/>
          </a:p>
        </p:txBody>
      </p:sp>
      <p:sp>
        <p:nvSpPr>
          <p:cNvPr id="18" name="Shape 16"/>
          <p:cNvSpPr/>
          <p:nvPr/>
        </p:nvSpPr>
        <p:spPr>
          <a:xfrm>
            <a:off x="713232" y="43435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19" name="Text 17"/>
          <p:cNvSpPr/>
          <p:nvPr/>
        </p:nvSpPr>
        <p:spPr>
          <a:xfrm>
            <a:off x="914400" y="41605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Tests are CI-ready but no CI workflow committed yet</a:t>
            </a:r>
            <a:endParaRPr lang="en-US" sz="1400" dirty="0"/>
          </a:p>
        </p:txBody>
      </p:sp>
      <p:sp>
        <p:nvSpPr>
          <p:cNvPr id="20" name="Shape 18"/>
          <p:cNvSpPr/>
          <p:nvPr/>
        </p:nvSpPr>
        <p:spPr>
          <a:xfrm>
            <a:off x="713232" y="48007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21" name="Text 19"/>
          <p:cNvSpPr/>
          <p:nvPr/>
        </p:nvSpPr>
        <p:spPr>
          <a:xfrm>
            <a:off x="914400" y="46177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Golden SQL set is starter-size (25 entries), should grow with new failure modes</a:t>
            </a:r>
            <a:endParaRPr lang="en-US" sz="1400" dirty="0"/>
          </a:p>
        </p:txBody>
      </p:sp>
      <p:sp>
        <p:nvSpPr>
          <p:cNvPr id="22" name="Shape 20"/>
          <p:cNvSpPr/>
          <p:nvPr/>
        </p:nvSpPr>
        <p:spPr>
          <a:xfrm>
            <a:off x="713232" y="52579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23" name="Text 21"/>
          <p:cNvSpPr/>
          <p:nvPr/>
        </p:nvSpPr>
        <p:spPr>
          <a:xfrm>
            <a:off x="914400" y="50749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No prompt-version hash stored in </a:t>
            </a:r>
            <a:r>
              <a:rPr lang="en-US" sz="1400" dirty="0" err="1">
                <a:solidFill>
                  <a:srgbClr val="334155"/>
                </a:solidFill>
                <a:latin typeface="Calibri" pitchFamily="34" charset="0"/>
                <a:ea typeface="Calibri" pitchFamily="34" charset="-122"/>
                <a:cs typeface="Calibri" pitchFamily="34" charset="-120"/>
              </a:rPr>
              <a:t>chat_trace</a:t>
            </a:r>
            <a:r>
              <a:rPr lang="en-US" sz="1400" dirty="0">
                <a:solidFill>
                  <a:srgbClr val="334155"/>
                </a:solidFill>
                <a:latin typeface="Calibri" pitchFamily="34" charset="0"/>
                <a:ea typeface="Calibri" pitchFamily="34" charset="-122"/>
                <a:cs typeface="Calibri" pitchFamily="34" charset="-120"/>
              </a:rPr>
              <a:t>, git-only traceability</a:t>
            </a:r>
            <a:endParaRPr lang="en-US" sz="1400" dirty="0"/>
          </a:p>
        </p:txBody>
      </p:sp>
      <p:sp>
        <p:nvSpPr>
          <p:cNvPr id="24" name="Shape 22"/>
          <p:cNvSpPr/>
          <p:nvPr/>
        </p:nvSpPr>
        <p:spPr>
          <a:xfrm>
            <a:off x="713232" y="5715160"/>
            <a:ext cx="91440" cy="91440"/>
          </a:xfrm>
          <a:prstGeom prst="ellipse">
            <a:avLst/>
          </a:prstGeom>
          <a:solidFill>
            <a:srgbClr val="B45309"/>
          </a:solidFill>
          <a:ln w="12700">
            <a:solidFill>
              <a:srgbClr val="333333"/>
            </a:solidFill>
            <a:prstDash val="solid"/>
          </a:ln>
        </p:spPr>
        <p:txBody>
          <a:bodyPr/>
          <a:lstStyle/>
          <a:p>
            <a:endParaRPr lang="en-US" sz="2400"/>
          </a:p>
        </p:txBody>
      </p:sp>
      <p:sp>
        <p:nvSpPr>
          <p:cNvPr id="25" name="Text 23"/>
          <p:cNvSpPr/>
          <p:nvPr/>
        </p:nvSpPr>
        <p:spPr>
          <a:xfrm>
            <a:off x="914400" y="55321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Sonnet at temp 0 is not strictly bit-deterministic, identical-replay is imperfect</a:t>
            </a:r>
            <a:endParaRPr lang="en-US" sz="1400" dirty="0"/>
          </a:p>
        </p:txBody>
      </p:sp>
      <p:sp>
        <p:nvSpPr>
          <p:cNvPr id="26" name="Shape 24"/>
          <p:cNvSpPr/>
          <p:nvPr/>
        </p:nvSpPr>
        <p:spPr>
          <a:xfrm>
            <a:off x="713232" y="6172360"/>
            <a:ext cx="91440" cy="91440"/>
          </a:xfrm>
          <a:prstGeom prst="ellipse">
            <a:avLst/>
          </a:prstGeom>
          <a:solidFill>
            <a:srgbClr val="B45309"/>
          </a:solidFill>
          <a:ln w="12700">
            <a:solidFill>
              <a:srgbClr val="333333"/>
            </a:solidFill>
            <a:prstDash val="solid"/>
          </a:ln>
        </p:spPr>
        <p:txBody>
          <a:bodyPr/>
          <a:lstStyle/>
          <a:p>
            <a:endParaRPr lang="en-US"/>
          </a:p>
        </p:txBody>
      </p:sp>
      <p:sp>
        <p:nvSpPr>
          <p:cNvPr id="27" name="Text 25"/>
          <p:cNvSpPr/>
          <p:nvPr/>
        </p:nvSpPr>
        <p:spPr>
          <a:xfrm>
            <a:off x="914400" y="5989320"/>
            <a:ext cx="4937760" cy="45720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Cost rose ~3–5× with the Sonnet upgrade, worth re-checking quarterly</a:t>
            </a:r>
            <a:endParaRPr lang="en-US" sz="1400" dirty="0"/>
          </a:p>
        </p:txBody>
      </p:sp>
      <p:sp>
        <p:nvSpPr>
          <p:cNvPr id="28" name="Shape 26"/>
          <p:cNvSpPr/>
          <p:nvPr/>
        </p:nvSpPr>
        <p:spPr>
          <a:xfrm>
            <a:off x="6263640" y="1463040"/>
            <a:ext cx="5486400" cy="5120640"/>
          </a:xfrm>
          <a:prstGeom prst="rect">
            <a:avLst/>
          </a:prstGeom>
          <a:solidFill>
            <a:srgbClr val="F8FAFC"/>
          </a:solidFill>
          <a:ln w="9525">
            <a:solidFill>
              <a:srgbClr val="E2E8F0"/>
            </a:solidFill>
            <a:prstDash val="solid"/>
          </a:ln>
        </p:spPr>
        <p:txBody>
          <a:bodyPr/>
          <a:lstStyle/>
          <a:p>
            <a:endParaRPr lang="en-US"/>
          </a:p>
        </p:txBody>
      </p:sp>
      <p:sp>
        <p:nvSpPr>
          <p:cNvPr id="29" name="Shape 27"/>
          <p:cNvSpPr/>
          <p:nvPr/>
        </p:nvSpPr>
        <p:spPr>
          <a:xfrm>
            <a:off x="6263640" y="1463040"/>
            <a:ext cx="73152" cy="5120640"/>
          </a:xfrm>
          <a:prstGeom prst="rect">
            <a:avLst/>
          </a:prstGeom>
          <a:solidFill>
            <a:srgbClr val="0F766E"/>
          </a:solidFill>
          <a:ln w="12700">
            <a:solidFill>
              <a:srgbClr val="0F766E"/>
            </a:solidFill>
            <a:prstDash val="solid"/>
          </a:ln>
        </p:spPr>
        <p:txBody>
          <a:bodyPr/>
          <a:lstStyle/>
          <a:p>
            <a:endParaRPr lang="en-US"/>
          </a:p>
        </p:txBody>
      </p:sp>
      <p:sp>
        <p:nvSpPr>
          <p:cNvPr id="30" name="Text 28"/>
          <p:cNvSpPr/>
          <p:nvPr/>
        </p:nvSpPr>
        <p:spPr>
          <a:xfrm>
            <a:off x="6492240" y="1554480"/>
            <a:ext cx="5029200" cy="274320"/>
          </a:xfrm>
          <a:prstGeom prst="rect">
            <a:avLst/>
          </a:prstGeom>
          <a:noFill/>
          <a:ln/>
        </p:spPr>
        <p:txBody>
          <a:bodyPr wrap="square" lIns="0" tIns="0" rIns="0" bIns="0" rtlCol="0" anchor="ctr"/>
          <a:lstStyle/>
          <a:p>
            <a:pPr marL="0" indent="0">
              <a:buNone/>
            </a:pPr>
            <a:r>
              <a:rPr lang="en-US" sz="1600" b="1" kern="0" spc="300" dirty="0">
                <a:solidFill>
                  <a:srgbClr val="0F766E"/>
                </a:solidFill>
                <a:latin typeface="Calibri" pitchFamily="34" charset="0"/>
                <a:ea typeface="Calibri" pitchFamily="34" charset="-122"/>
                <a:cs typeface="Calibri" pitchFamily="34" charset="-120"/>
              </a:rPr>
              <a:t>FUTURE DIRECTIONS</a:t>
            </a:r>
            <a:endParaRPr lang="en-US" sz="1600" dirty="0"/>
          </a:p>
        </p:txBody>
      </p:sp>
      <p:sp>
        <p:nvSpPr>
          <p:cNvPr id="31" name="Shape 29"/>
          <p:cNvSpPr/>
          <p:nvPr/>
        </p:nvSpPr>
        <p:spPr>
          <a:xfrm>
            <a:off x="6519672" y="2121728"/>
            <a:ext cx="91440" cy="91440"/>
          </a:xfrm>
          <a:prstGeom prst="ellipse">
            <a:avLst/>
          </a:prstGeom>
          <a:solidFill>
            <a:srgbClr val="0F766E"/>
          </a:solidFill>
          <a:ln w="12700">
            <a:solidFill>
              <a:srgbClr val="333333"/>
            </a:solidFill>
            <a:prstDash val="solid"/>
          </a:ln>
        </p:spPr>
        <p:txBody>
          <a:bodyPr/>
          <a:lstStyle/>
          <a:p>
            <a:endParaRPr lang="en-US" sz="2400"/>
          </a:p>
        </p:txBody>
      </p:sp>
      <p:sp>
        <p:nvSpPr>
          <p:cNvPr id="32" name="Text 30"/>
          <p:cNvSpPr/>
          <p:nvPr/>
        </p:nvSpPr>
        <p:spPr>
          <a:xfrm>
            <a:off x="6720840" y="1874520"/>
            <a:ext cx="4937760" cy="566928"/>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CI integration:  wire golden_sql + verify_evals into GitHub Actions on every PR</a:t>
            </a:r>
            <a:endParaRPr lang="en-US" sz="1400" dirty="0"/>
          </a:p>
        </p:txBody>
      </p:sp>
      <p:sp>
        <p:nvSpPr>
          <p:cNvPr id="33" name="Shape 31"/>
          <p:cNvSpPr/>
          <p:nvPr/>
        </p:nvSpPr>
        <p:spPr>
          <a:xfrm>
            <a:off x="6519672" y="2688656"/>
            <a:ext cx="91440" cy="91440"/>
          </a:xfrm>
          <a:prstGeom prst="ellipse">
            <a:avLst/>
          </a:prstGeom>
          <a:solidFill>
            <a:srgbClr val="0F766E"/>
          </a:solidFill>
          <a:ln w="12700">
            <a:solidFill>
              <a:srgbClr val="333333"/>
            </a:solidFill>
            <a:prstDash val="solid"/>
          </a:ln>
        </p:spPr>
        <p:txBody>
          <a:bodyPr/>
          <a:lstStyle/>
          <a:p>
            <a:endParaRPr lang="en-US" sz="2400"/>
          </a:p>
        </p:txBody>
      </p:sp>
      <p:sp>
        <p:nvSpPr>
          <p:cNvPr id="34" name="Text 32"/>
          <p:cNvSpPr/>
          <p:nvPr/>
        </p:nvSpPr>
        <p:spPr>
          <a:xfrm>
            <a:off x="6720840" y="2441448"/>
            <a:ext cx="4937760" cy="566928"/>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Prompt-version tracking : store prompt-file hashes in chat_trace.steps_json</a:t>
            </a:r>
            <a:endParaRPr lang="en-US" sz="1400" dirty="0"/>
          </a:p>
        </p:txBody>
      </p:sp>
      <p:sp>
        <p:nvSpPr>
          <p:cNvPr id="35" name="Shape 33"/>
          <p:cNvSpPr/>
          <p:nvPr/>
        </p:nvSpPr>
        <p:spPr>
          <a:xfrm>
            <a:off x="6519672" y="3255584"/>
            <a:ext cx="91440" cy="91440"/>
          </a:xfrm>
          <a:prstGeom prst="ellipse">
            <a:avLst/>
          </a:prstGeom>
          <a:solidFill>
            <a:srgbClr val="0F766E"/>
          </a:solidFill>
          <a:ln w="12700">
            <a:solidFill>
              <a:srgbClr val="333333"/>
            </a:solidFill>
            <a:prstDash val="solid"/>
          </a:ln>
        </p:spPr>
        <p:txBody>
          <a:bodyPr/>
          <a:lstStyle/>
          <a:p>
            <a:endParaRPr lang="en-US" sz="2400"/>
          </a:p>
        </p:txBody>
      </p:sp>
      <p:sp>
        <p:nvSpPr>
          <p:cNvPr id="36" name="Text 34"/>
          <p:cNvSpPr/>
          <p:nvPr/>
        </p:nvSpPr>
        <p:spPr>
          <a:xfrm>
            <a:off x="6720840" y="3008376"/>
            <a:ext cx="4937760" cy="566928"/>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PII redaction: sql_executor wrapper that scrubs customer_name and customer_email</a:t>
            </a:r>
            <a:endParaRPr lang="en-US" sz="1400" dirty="0"/>
          </a:p>
        </p:txBody>
      </p:sp>
      <p:sp>
        <p:nvSpPr>
          <p:cNvPr id="37" name="Shape 35"/>
          <p:cNvSpPr/>
          <p:nvPr/>
        </p:nvSpPr>
        <p:spPr>
          <a:xfrm>
            <a:off x="6519672" y="3822512"/>
            <a:ext cx="91440" cy="91440"/>
          </a:xfrm>
          <a:prstGeom prst="ellipse">
            <a:avLst/>
          </a:prstGeom>
          <a:solidFill>
            <a:srgbClr val="0F766E"/>
          </a:solidFill>
          <a:ln w="12700">
            <a:solidFill>
              <a:srgbClr val="333333"/>
            </a:solidFill>
            <a:prstDash val="solid"/>
          </a:ln>
        </p:spPr>
        <p:txBody>
          <a:bodyPr/>
          <a:lstStyle/>
          <a:p>
            <a:endParaRPr lang="en-US" sz="2400"/>
          </a:p>
        </p:txBody>
      </p:sp>
      <p:sp>
        <p:nvSpPr>
          <p:cNvPr id="38" name="Text 36"/>
          <p:cNvSpPr/>
          <p:nvPr/>
        </p:nvSpPr>
        <p:spPr>
          <a:xfrm>
            <a:off x="6720840" y="3575304"/>
            <a:ext cx="4937760" cy="566928"/>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Subprocess-isolated viz sandbox: for production multi-tenancy</a:t>
            </a:r>
            <a:endParaRPr lang="en-US" sz="1400" dirty="0"/>
          </a:p>
        </p:txBody>
      </p:sp>
      <p:sp>
        <p:nvSpPr>
          <p:cNvPr id="39" name="Shape 37"/>
          <p:cNvSpPr/>
          <p:nvPr/>
        </p:nvSpPr>
        <p:spPr>
          <a:xfrm>
            <a:off x="6519672" y="4389440"/>
            <a:ext cx="91440" cy="91440"/>
          </a:xfrm>
          <a:prstGeom prst="ellipse">
            <a:avLst/>
          </a:prstGeom>
          <a:solidFill>
            <a:srgbClr val="0F766E"/>
          </a:solidFill>
          <a:ln w="12700">
            <a:solidFill>
              <a:srgbClr val="333333"/>
            </a:solidFill>
            <a:prstDash val="solid"/>
          </a:ln>
        </p:spPr>
        <p:txBody>
          <a:bodyPr/>
          <a:lstStyle/>
          <a:p>
            <a:endParaRPr lang="en-US" sz="2400"/>
          </a:p>
        </p:txBody>
      </p:sp>
      <p:sp>
        <p:nvSpPr>
          <p:cNvPr id="40" name="Text 38"/>
          <p:cNvSpPr/>
          <p:nvPr/>
        </p:nvSpPr>
        <p:spPr>
          <a:xfrm>
            <a:off x="6720840" y="4142232"/>
            <a:ext cx="4937760" cy="566928"/>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Vector store (only) if scope widens to free-text Q&amp;A over policy/PDF documents</a:t>
            </a:r>
            <a:endParaRPr lang="en-US" sz="1400" dirty="0"/>
          </a:p>
        </p:txBody>
      </p:sp>
      <p:sp>
        <p:nvSpPr>
          <p:cNvPr id="41" name="Shape 39"/>
          <p:cNvSpPr/>
          <p:nvPr/>
        </p:nvSpPr>
        <p:spPr>
          <a:xfrm>
            <a:off x="6519672" y="4956368"/>
            <a:ext cx="91440" cy="91440"/>
          </a:xfrm>
          <a:prstGeom prst="ellipse">
            <a:avLst/>
          </a:prstGeom>
          <a:solidFill>
            <a:srgbClr val="0F766E"/>
          </a:solidFill>
          <a:ln w="12700">
            <a:solidFill>
              <a:srgbClr val="333333"/>
            </a:solidFill>
            <a:prstDash val="solid"/>
          </a:ln>
        </p:spPr>
        <p:txBody>
          <a:bodyPr/>
          <a:lstStyle/>
          <a:p>
            <a:endParaRPr lang="en-US" sz="2400"/>
          </a:p>
        </p:txBody>
      </p:sp>
      <p:sp>
        <p:nvSpPr>
          <p:cNvPr id="42" name="Text 40"/>
          <p:cNvSpPr/>
          <p:nvPr/>
        </p:nvSpPr>
        <p:spPr>
          <a:xfrm>
            <a:off x="6720840" y="4709160"/>
            <a:ext cx="4937760" cy="566928"/>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Per-turn cost ceiling: hard token-budget check that aborts a runaway turn</a:t>
            </a:r>
            <a:endParaRPr lang="en-US" sz="1400" dirty="0"/>
          </a:p>
        </p:txBody>
      </p:sp>
      <p:sp>
        <p:nvSpPr>
          <p:cNvPr id="43" name="Shape 41"/>
          <p:cNvSpPr/>
          <p:nvPr/>
        </p:nvSpPr>
        <p:spPr>
          <a:xfrm>
            <a:off x="6519672" y="5523296"/>
            <a:ext cx="91440" cy="91440"/>
          </a:xfrm>
          <a:prstGeom prst="ellipse">
            <a:avLst/>
          </a:prstGeom>
          <a:solidFill>
            <a:srgbClr val="0F766E"/>
          </a:solidFill>
          <a:ln w="12700">
            <a:solidFill>
              <a:srgbClr val="333333"/>
            </a:solidFill>
            <a:prstDash val="solid"/>
          </a:ln>
        </p:spPr>
        <p:txBody>
          <a:bodyPr/>
          <a:lstStyle/>
          <a:p>
            <a:endParaRPr lang="en-US" sz="2400"/>
          </a:p>
        </p:txBody>
      </p:sp>
      <p:sp>
        <p:nvSpPr>
          <p:cNvPr id="46" name="Text 44"/>
          <p:cNvSpPr/>
          <p:nvPr/>
        </p:nvSpPr>
        <p:spPr>
          <a:xfrm>
            <a:off x="6711696" y="5362234"/>
            <a:ext cx="4937760" cy="566928"/>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Promote Output Reviewer to Sonnet 4.6 once cost permits.</a:t>
            </a:r>
            <a:endParaRPr lang="en-US" sz="1400" dirty="0"/>
          </a:p>
        </p:txBody>
      </p:sp>
      <p:sp>
        <p:nvSpPr>
          <p:cNvPr id="47" name="Text 45"/>
          <p:cNvSpPr/>
          <p:nvPr/>
        </p:nvSpPr>
        <p:spPr>
          <a:xfrm>
            <a:off x="11247120" y="6656832"/>
            <a:ext cx="640080" cy="18288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26 / 27</a:t>
            </a:r>
            <a:endParaRPr lang="en-US" sz="900" dirty="0"/>
          </a:p>
        </p:txBody>
      </p:sp>
      <p:sp>
        <p:nvSpPr>
          <p:cNvPr id="48" name="Text 46"/>
          <p:cNvSpPr/>
          <p:nvPr/>
        </p:nvSpPr>
        <p:spPr>
          <a:xfrm>
            <a:off x="457200" y="6656832"/>
            <a:ext cx="64008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Merchandising AI · Multi-Agent System</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E293B"/>
          </a:solidFill>
          <a:ln w="12700">
            <a:solidFill>
              <a:srgbClr val="333333"/>
            </a:solidFill>
            <a:prstDash val="solid"/>
          </a:ln>
        </p:spPr>
        <p:txBody>
          <a:bodyPr/>
          <a:lstStyle/>
          <a:p>
            <a:endParaRPr lang="en-US"/>
          </a:p>
        </p:txBody>
      </p:sp>
      <p:sp>
        <p:nvSpPr>
          <p:cNvPr id="3" name="Text 1"/>
          <p:cNvSpPr/>
          <p:nvPr/>
        </p:nvSpPr>
        <p:spPr>
          <a:xfrm>
            <a:off x="822960" y="914400"/>
            <a:ext cx="10058400" cy="365760"/>
          </a:xfrm>
          <a:prstGeom prst="rect">
            <a:avLst/>
          </a:prstGeom>
          <a:noFill/>
          <a:ln/>
        </p:spPr>
        <p:txBody>
          <a:bodyPr wrap="square" lIns="0" tIns="0" rIns="0" bIns="0" rtlCol="0" anchor="ctr"/>
          <a:lstStyle/>
          <a:p>
            <a:pPr marL="0" indent="0">
              <a:buNone/>
            </a:pPr>
            <a:r>
              <a:rPr lang="en-US" b="1" kern="0" spc="600" dirty="0">
                <a:solidFill>
                  <a:srgbClr val="0F766E"/>
                </a:solidFill>
                <a:latin typeface="Calibri" pitchFamily="34" charset="0"/>
                <a:ea typeface="Calibri" pitchFamily="34" charset="-122"/>
                <a:cs typeface="Calibri" pitchFamily="34" charset="-120"/>
              </a:rPr>
              <a:t>THE ARCHITECTURAL THESIS</a:t>
            </a:r>
            <a:endParaRPr lang="en-US" dirty="0"/>
          </a:p>
        </p:txBody>
      </p:sp>
      <p:sp>
        <p:nvSpPr>
          <p:cNvPr id="4" name="Text 2"/>
          <p:cNvSpPr/>
          <p:nvPr/>
        </p:nvSpPr>
        <p:spPr>
          <a:xfrm>
            <a:off x="822960" y="1371600"/>
            <a:ext cx="10058400" cy="914400"/>
          </a:xfrm>
          <a:prstGeom prst="rect">
            <a:avLst/>
          </a:prstGeom>
          <a:noFill/>
          <a:ln/>
        </p:spPr>
        <p:txBody>
          <a:bodyPr wrap="square" lIns="0" tIns="0" rIns="0" bIns="0" rtlCol="0" anchor="ctr"/>
          <a:lstStyle/>
          <a:p>
            <a:pPr marL="0" indent="0">
              <a:buNone/>
            </a:pPr>
            <a:r>
              <a:rPr lang="en-US" sz="3800" b="1" dirty="0">
                <a:solidFill>
                  <a:srgbClr val="0F172A"/>
                </a:solidFill>
                <a:latin typeface="Calibri" pitchFamily="34" charset="0"/>
                <a:ea typeface="Calibri" pitchFamily="34" charset="-122"/>
                <a:cs typeface="Calibri" pitchFamily="34" charset="-120"/>
              </a:rPr>
              <a:t>Match commitments to the problem.</a:t>
            </a:r>
            <a:endParaRPr lang="en-US" sz="3800" dirty="0"/>
          </a:p>
        </p:txBody>
      </p:sp>
      <p:sp>
        <p:nvSpPr>
          <p:cNvPr id="5" name="Text 3"/>
          <p:cNvSpPr/>
          <p:nvPr/>
        </p:nvSpPr>
        <p:spPr>
          <a:xfrm>
            <a:off x="822960" y="2606040"/>
            <a:ext cx="10607040" cy="1828800"/>
          </a:xfrm>
          <a:prstGeom prst="rect">
            <a:avLst/>
          </a:prstGeom>
          <a:noFill/>
          <a:ln/>
        </p:spPr>
        <p:txBody>
          <a:bodyPr wrap="square" lIns="0" tIns="0" rIns="0" bIns="0" rtlCol="0" anchor="t"/>
          <a:lstStyle/>
          <a:p>
            <a:pPr marL="0" indent="0">
              <a:buNone/>
            </a:pPr>
            <a:r>
              <a:rPr lang="en-US" sz="1600" dirty="0">
                <a:solidFill>
                  <a:srgbClr val="334155"/>
                </a:solidFill>
                <a:latin typeface="Calibri" pitchFamily="34" charset="0"/>
                <a:ea typeface="Calibri" pitchFamily="34" charset="-122"/>
                <a:cs typeface="Calibri" pitchFamily="34" charset="-120"/>
              </a:rPr>
              <a:t>A focused multi-agent system, built with deliberate rule-based orchestration and aggressive layered evaluation, can reliably translate natural-language business questions into grounded SQL answers at a bounded cost-per-turn.</a:t>
            </a:r>
            <a:endParaRPr lang="en-US" sz="16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600" dirty="0">
                <a:solidFill>
                  <a:srgbClr val="334155"/>
                </a:solidFill>
                <a:latin typeface="Calibri" pitchFamily="34" charset="0"/>
                <a:ea typeface="Calibri" pitchFamily="34" charset="-122"/>
                <a:cs typeface="Calibri" pitchFamily="34" charset="-120"/>
              </a:rPr>
              <a:t>Every architectural commitment in this system: </a:t>
            </a:r>
            <a:r>
              <a:rPr lang="en-US" sz="1600" b="1" i="1" dirty="0">
                <a:solidFill>
                  <a:srgbClr val="1E293B"/>
                </a:solidFill>
                <a:latin typeface="Calibri" pitchFamily="34" charset="0"/>
                <a:ea typeface="Calibri" pitchFamily="34" charset="-122"/>
                <a:cs typeface="Calibri" pitchFamily="34" charset="-120"/>
              </a:rPr>
              <a:t>single-hub orchestration, two-tier model selection, CoT scaffolding triplet, hard-block groundedness, end-to-end observability </a:t>
            </a:r>
            <a:r>
              <a:rPr lang="en-US" sz="1600" dirty="0">
                <a:solidFill>
                  <a:srgbClr val="334155"/>
                </a:solidFill>
                <a:latin typeface="Calibri" pitchFamily="34" charset="0"/>
                <a:ea typeface="Calibri" pitchFamily="34" charset="-122"/>
                <a:cs typeface="Calibri" pitchFamily="34" charset="-120"/>
              </a:rPr>
              <a:t>were made because the specific business problem rewards predictability over flexibility.</a:t>
            </a:r>
            <a:endParaRPr lang="en-US" sz="1600" dirty="0"/>
          </a:p>
        </p:txBody>
      </p:sp>
      <p:sp>
        <p:nvSpPr>
          <p:cNvPr id="6" name="Shape 4"/>
          <p:cNvSpPr/>
          <p:nvPr/>
        </p:nvSpPr>
        <p:spPr>
          <a:xfrm>
            <a:off x="822960" y="4937760"/>
            <a:ext cx="3566160" cy="914400"/>
          </a:xfrm>
          <a:prstGeom prst="rect">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822960" y="4937760"/>
            <a:ext cx="73152" cy="914400"/>
          </a:xfrm>
          <a:prstGeom prst="rect">
            <a:avLst/>
          </a:prstGeom>
          <a:solidFill>
            <a:srgbClr val="0F766E"/>
          </a:solidFill>
          <a:ln w="12700">
            <a:solidFill>
              <a:srgbClr val="0F766E"/>
            </a:solidFill>
            <a:prstDash val="solid"/>
          </a:ln>
        </p:spPr>
        <p:txBody>
          <a:bodyPr/>
          <a:lstStyle/>
          <a:p>
            <a:endParaRPr lang="en-US"/>
          </a:p>
        </p:txBody>
      </p:sp>
      <p:sp>
        <p:nvSpPr>
          <p:cNvPr id="8" name="Text 6"/>
          <p:cNvSpPr/>
          <p:nvPr/>
        </p:nvSpPr>
        <p:spPr>
          <a:xfrm>
            <a:off x="1005840" y="4937760"/>
            <a:ext cx="3383280" cy="914400"/>
          </a:xfrm>
          <a:prstGeom prst="rect">
            <a:avLst/>
          </a:prstGeom>
          <a:noFill/>
          <a:ln/>
        </p:spPr>
        <p:txBody>
          <a:bodyPr wrap="square" lIns="0" tIns="0" rIns="0" bIns="0" rtlCol="0" anchor="ctr"/>
          <a:lstStyle/>
          <a:p>
            <a:pPr marL="0" indent="0">
              <a:buNone/>
            </a:pPr>
            <a:r>
              <a:rPr lang="en-US" b="1" dirty="0">
                <a:solidFill>
                  <a:srgbClr val="0F766E"/>
                </a:solidFill>
                <a:latin typeface="Calibri" pitchFamily="34" charset="0"/>
                <a:ea typeface="Calibri" pitchFamily="34" charset="-122"/>
                <a:cs typeface="Calibri" pitchFamily="34" charset="-120"/>
              </a:rPr>
              <a:t>Every answer can be audited</a:t>
            </a:r>
            <a:endParaRPr lang="en-US" dirty="0"/>
          </a:p>
        </p:txBody>
      </p:sp>
      <p:sp>
        <p:nvSpPr>
          <p:cNvPr id="9" name="Shape 7"/>
          <p:cNvSpPr/>
          <p:nvPr/>
        </p:nvSpPr>
        <p:spPr>
          <a:xfrm>
            <a:off x="4663440" y="4937760"/>
            <a:ext cx="3566160" cy="914400"/>
          </a:xfrm>
          <a:prstGeom prst="rect">
            <a:avLst/>
          </a:prstGeom>
          <a:solidFill>
            <a:srgbClr val="F8FAFC"/>
          </a:solidFill>
          <a:ln w="9525">
            <a:solidFill>
              <a:srgbClr val="E2E8F0"/>
            </a:solidFill>
            <a:prstDash val="solid"/>
          </a:ln>
        </p:spPr>
        <p:txBody>
          <a:bodyPr/>
          <a:lstStyle/>
          <a:p>
            <a:endParaRPr lang="en-US"/>
          </a:p>
        </p:txBody>
      </p:sp>
      <p:sp>
        <p:nvSpPr>
          <p:cNvPr id="10" name="Shape 8"/>
          <p:cNvSpPr/>
          <p:nvPr/>
        </p:nvSpPr>
        <p:spPr>
          <a:xfrm>
            <a:off x="4663440" y="4937760"/>
            <a:ext cx="73152" cy="914400"/>
          </a:xfrm>
          <a:prstGeom prst="rect">
            <a:avLst/>
          </a:prstGeom>
          <a:solidFill>
            <a:srgbClr val="B45309"/>
          </a:solidFill>
          <a:ln w="12700">
            <a:solidFill>
              <a:srgbClr val="B45309"/>
            </a:solidFill>
            <a:prstDash val="solid"/>
          </a:ln>
        </p:spPr>
        <p:txBody>
          <a:bodyPr/>
          <a:lstStyle/>
          <a:p>
            <a:endParaRPr lang="en-US"/>
          </a:p>
        </p:txBody>
      </p:sp>
      <p:sp>
        <p:nvSpPr>
          <p:cNvPr id="11" name="Text 9"/>
          <p:cNvSpPr/>
          <p:nvPr/>
        </p:nvSpPr>
        <p:spPr>
          <a:xfrm>
            <a:off x="4846320" y="4937760"/>
            <a:ext cx="3383280" cy="914400"/>
          </a:xfrm>
          <a:prstGeom prst="rect">
            <a:avLst/>
          </a:prstGeom>
          <a:noFill/>
          <a:ln/>
        </p:spPr>
        <p:txBody>
          <a:bodyPr wrap="square" lIns="0" tIns="0" rIns="0" bIns="0" rtlCol="0" anchor="ctr"/>
          <a:lstStyle/>
          <a:p>
            <a:pPr marL="0" indent="0">
              <a:buNone/>
            </a:pPr>
            <a:r>
              <a:rPr lang="en-US" b="1" dirty="0">
                <a:solidFill>
                  <a:srgbClr val="B45309"/>
                </a:solidFill>
                <a:latin typeface="Calibri" pitchFamily="34" charset="0"/>
                <a:ea typeface="Calibri" pitchFamily="34" charset="-122"/>
                <a:cs typeface="Calibri" pitchFamily="34" charset="-120"/>
              </a:rPr>
              <a:t>Every retry can be bounded</a:t>
            </a:r>
            <a:endParaRPr lang="en-US" dirty="0"/>
          </a:p>
        </p:txBody>
      </p:sp>
      <p:sp>
        <p:nvSpPr>
          <p:cNvPr id="12" name="Shape 10"/>
          <p:cNvSpPr/>
          <p:nvPr/>
        </p:nvSpPr>
        <p:spPr>
          <a:xfrm>
            <a:off x="8503920" y="4937760"/>
            <a:ext cx="3566160" cy="914400"/>
          </a:xfrm>
          <a:prstGeom prst="rect">
            <a:avLst/>
          </a:prstGeom>
          <a:solidFill>
            <a:srgbClr val="F8FAFC"/>
          </a:solidFill>
          <a:ln w="9525">
            <a:solidFill>
              <a:srgbClr val="E2E8F0"/>
            </a:solidFill>
            <a:prstDash val="solid"/>
          </a:ln>
        </p:spPr>
        <p:txBody>
          <a:bodyPr/>
          <a:lstStyle/>
          <a:p>
            <a:endParaRPr lang="en-US"/>
          </a:p>
        </p:txBody>
      </p:sp>
      <p:sp>
        <p:nvSpPr>
          <p:cNvPr id="13" name="Shape 11"/>
          <p:cNvSpPr/>
          <p:nvPr/>
        </p:nvSpPr>
        <p:spPr>
          <a:xfrm>
            <a:off x="8503920" y="4937760"/>
            <a:ext cx="73152" cy="914400"/>
          </a:xfrm>
          <a:prstGeom prst="rect">
            <a:avLst/>
          </a:prstGeom>
          <a:solidFill>
            <a:srgbClr val="1E293B"/>
          </a:solidFill>
          <a:ln w="12700">
            <a:solidFill>
              <a:srgbClr val="1E293B"/>
            </a:solidFill>
            <a:prstDash val="solid"/>
          </a:ln>
        </p:spPr>
        <p:txBody>
          <a:bodyPr/>
          <a:lstStyle/>
          <a:p>
            <a:endParaRPr lang="en-US"/>
          </a:p>
        </p:txBody>
      </p:sp>
      <p:sp>
        <p:nvSpPr>
          <p:cNvPr id="14" name="Text 12"/>
          <p:cNvSpPr/>
          <p:nvPr/>
        </p:nvSpPr>
        <p:spPr>
          <a:xfrm>
            <a:off x="8686800" y="4937760"/>
            <a:ext cx="3383280" cy="914400"/>
          </a:xfrm>
          <a:prstGeom prst="rect">
            <a:avLst/>
          </a:prstGeom>
          <a:noFill/>
          <a:ln/>
        </p:spPr>
        <p:txBody>
          <a:bodyPr wrap="square" lIns="0" tIns="0" rIns="0" bIns="0" rtlCol="0" anchor="ctr"/>
          <a:lstStyle/>
          <a:p>
            <a:pPr marL="0" indent="0">
              <a:buNone/>
            </a:pPr>
            <a:r>
              <a:rPr lang="en-US" b="1" dirty="0">
                <a:solidFill>
                  <a:srgbClr val="1E293B"/>
                </a:solidFill>
                <a:latin typeface="Calibri" pitchFamily="34" charset="0"/>
                <a:ea typeface="Calibri" pitchFamily="34" charset="-122"/>
                <a:cs typeface="Calibri" pitchFamily="34" charset="-120"/>
              </a:rPr>
              <a:t>Every regression can be detected</a:t>
            </a:r>
            <a:endParaRPr lang="en-US" dirty="0"/>
          </a:p>
        </p:txBody>
      </p:sp>
      <p:sp>
        <p:nvSpPr>
          <p:cNvPr id="15" name="Text 13"/>
          <p:cNvSpPr/>
          <p:nvPr/>
        </p:nvSpPr>
        <p:spPr>
          <a:xfrm>
            <a:off x="822960" y="6263640"/>
            <a:ext cx="10058400" cy="365760"/>
          </a:xfrm>
          <a:prstGeom prst="rect">
            <a:avLst/>
          </a:prstGeom>
          <a:noFill/>
          <a:ln/>
        </p:spPr>
        <p:txBody>
          <a:bodyPr wrap="square" lIns="0" tIns="0" rIns="0" bIns="0" rtlCol="0" anchor="ctr"/>
          <a:lstStyle/>
          <a:p>
            <a:pPr marL="0" indent="0">
              <a:buNone/>
            </a:pPr>
            <a:r>
              <a:rPr lang="en-US" sz="1600" i="1" dirty="0">
                <a:solidFill>
                  <a:srgbClr val="64748B"/>
                </a:solidFill>
                <a:latin typeface="Calibri" pitchFamily="34" charset="0"/>
                <a:ea typeface="Calibri" pitchFamily="34" charset="-122"/>
                <a:cs typeface="Calibri" pitchFamily="34" charset="-120"/>
              </a:rPr>
              <a:t>Thank you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5448</Words>
  <Application>Microsoft Macintosh PowerPoint</Application>
  <PresentationFormat>Widescreen</PresentationFormat>
  <Paragraphs>792</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Merchandising AI — Multi-Agent System for Non-Purchaser Feedback</dc:title>
  <dc:subject>PptxGenJS Presentation</dc:subject>
  <dc:creator>PptxGenJS</dc:creator>
  <cp:lastModifiedBy>Subramanian, Sundar Ram - (sundarram1997)</cp:lastModifiedBy>
  <cp:revision>38</cp:revision>
  <dcterms:created xsi:type="dcterms:W3CDTF">2026-05-17T03:15:47Z</dcterms:created>
  <dcterms:modified xsi:type="dcterms:W3CDTF">2026-05-17T04:42:59Z</dcterms:modified>
</cp:coreProperties>
</file>