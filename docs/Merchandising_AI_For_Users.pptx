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532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E293B"/>
          </a:solidFill>
          <a:ln w="12700">
            <a:solidFill>
              <a:srgbClr val="333333"/>
            </a:solidFill>
            <a:prstDash val="solid"/>
          </a:ln>
        </p:spPr>
        <p:txBody>
          <a:bodyPr/>
          <a:lstStyle/>
          <a:p>
            <a:endParaRPr lang="en-US"/>
          </a:p>
        </p:txBody>
      </p:sp>
      <p:sp>
        <p:nvSpPr>
          <p:cNvPr id="3" name="Text 1"/>
          <p:cNvSpPr/>
          <p:nvPr/>
        </p:nvSpPr>
        <p:spPr>
          <a:xfrm>
            <a:off x="822960" y="1554480"/>
            <a:ext cx="10972800" cy="365760"/>
          </a:xfrm>
          <a:prstGeom prst="rect">
            <a:avLst/>
          </a:prstGeom>
          <a:noFill/>
          <a:ln/>
        </p:spPr>
        <p:txBody>
          <a:bodyPr wrap="square" lIns="0" tIns="0" rIns="0" bIns="0" rtlCol="0" anchor="ctr"/>
          <a:lstStyle/>
          <a:p>
            <a:pPr marL="0" indent="0">
              <a:buNone/>
            </a:pPr>
            <a:r>
              <a:rPr lang="en-US" sz="1200" b="1" kern="0" spc="600" dirty="0">
                <a:solidFill>
                  <a:srgbClr val="0F766E"/>
                </a:solidFill>
                <a:latin typeface="Calibri" pitchFamily="34" charset="0"/>
                <a:ea typeface="Calibri" pitchFamily="34" charset="-122"/>
                <a:cs typeface="Calibri" pitchFamily="34" charset="-120"/>
              </a:rPr>
              <a:t>PRODUCT LAUNCH  ·  FOR THE MERCHANDISING TEAM</a:t>
            </a:r>
            <a:endParaRPr lang="en-US" sz="1200" dirty="0"/>
          </a:p>
        </p:txBody>
      </p:sp>
      <p:sp>
        <p:nvSpPr>
          <p:cNvPr id="4" name="Text 2"/>
          <p:cNvSpPr/>
          <p:nvPr/>
        </p:nvSpPr>
        <p:spPr>
          <a:xfrm>
            <a:off x="822960" y="2011680"/>
            <a:ext cx="10972800" cy="1097280"/>
          </a:xfrm>
          <a:prstGeom prst="rect">
            <a:avLst/>
          </a:prstGeom>
          <a:noFill/>
          <a:ln/>
        </p:spPr>
        <p:txBody>
          <a:bodyPr wrap="square" lIns="0" tIns="0" rIns="0" bIns="0" rtlCol="0" anchor="ctr"/>
          <a:lstStyle/>
          <a:p>
            <a:pPr marL="0" indent="0">
              <a:buNone/>
            </a:pPr>
            <a:r>
              <a:rPr lang="en-US" sz="5600" b="1" dirty="0">
                <a:solidFill>
                  <a:srgbClr val="0F172A"/>
                </a:solidFill>
                <a:latin typeface="Calibri" pitchFamily="34" charset="0"/>
                <a:ea typeface="Calibri" pitchFamily="34" charset="-122"/>
                <a:cs typeface="Calibri" pitchFamily="34" charset="-120"/>
              </a:rPr>
              <a:t>Merchandising AI</a:t>
            </a:r>
            <a:endParaRPr lang="en-US" sz="5600" dirty="0"/>
          </a:p>
        </p:txBody>
      </p:sp>
      <p:sp>
        <p:nvSpPr>
          <p:cNvPr id="5" name="Text 3"/>
          <p:cNvSpPr/>
          <p:nvPr/>
        </p:nvSpPr>
        <p:spPr>
          <a:xfrm>
            <a:off x="822960" y="3108960"/>
            <a:ext cx="10972800" cy="548640"/>
          </a:xfrm>
          <a:prstGeom prst="rect">
            <a:avLst/>
          </a:prstGeom>
          <a:noFill/>
          <a:ln/>
        </p:spPr>
        <p:txBody>
          <a:bodyPr wrap="square" lIns="0" tIns="0" rIns="0" bIns="0" rtlCol="0" anchor="ctr"/>
          <a:lstStyle/>
          <a:p>
            <a:pPr marL="0" indent="0">
              <a:buNone/>
            </a:pPr>
            <a:r>
              <a:rPr lang="en-US" sz="2200" dirty="0">
                <a:solidFill>
                  <a:srgbClr val="334155"/>
                </a:solidFill>
                <a:latin typeface="Calibri" pitchFamily="34" charset="0"/>
                <a:ea typeface="Calibri" pitchFamily="34" charset="-122"/>
                <a:cs typeface="Calibri" pitchFamily="34" charset="-120"/>
              </a:rPr>
              <a:t>Ask your data in plain English.</a:t>
            </a:r>
            <a:endParaRPr lang="en-US" sz="2200" dirty="0"/>
          </a:p>
        </p:txBody>
      </p:sp>
      <p:sp>
        <p:nvSpPr>
          <p:cNvPr id="6" name="Shape 4"/>
          <p:cNvSpPr/>
          <p:nvPr/>
        </p:nvSpPr>
        <p:spPr>
          <a:xfrm>
            <a:off x="822960" y="3794760"/>
            <a:ext cx="4114800" cy="0"/>
          </a:xfrm>
          <a:prstGeom prst="line">
            <a:avLst/>
          </a:prstGeom>
          <a:noFill/>
          <a:ln w="25400">
            <a:solidFill>
              <a:srgbClr val="1E293B"/>
            </a:solidFill>
            <a:prstDash val="solid"/>
          </a:ln>
        </p:spPr>
        <p:txBody>
          <a:bodyPr/>
          <a:lstStyle/>
          <a:p>
            <a:endParaRPr lang="en-US"/>
          </a:p>
        </p:txBody>
      </p:sp>
      <p:sp>
        <p:nvSpPr>
          <p:cNvPr id="7" name="Text 5"/>
          <p:cNvSpPr/>
          <p:nvPr/>
        </p:nvSpPr>
        <p:spPr>
          <a:xfrm>
            <a:off x="822960" y="3977640"/>
            <a:ext cx="10972800" cy="548640"/>
          </a:xfrm>
          <a:prstGeom prst="rect">
            <a:avLst/>
          </a:prstGeom>
          <a:noFill/>
          <a:ln/>
        </p:spPr>
        <p:txBody>
          <a:bodyPr wrap="square" lIns="0" tIns="0" rIns="0" bIns="0"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A grounded chat assistant for non-purchaser feedback, across X1 — X6.</a:t>
            </a:r>
            <a:endParaRPr lang="en-US" sz="1500" dirty="0"/>
          </a:p>
        </p:txBody>
      </p:sp>
      <p:sp>
        <p:nvSpPr>
          <p:cNvPr id="8" name="Text 6"/>
          <p:cNvSpPr/>
          <p:nvPr/>
        </p:nvSpPr>
        <p:spPr>
          <a:xfrm>
            <a:off x="822960" y="5486400"/>
            <a:ext cx="3657600" cy="274320"/>
          </a:xfrm>
          <a:prstGeom prst="rect">
            <a:avLst/>
          </a:prstGeom>
          <a:noFill/>
          <a:ln/>
        </p:spPr>
        <p:txBody>
          <a:bodyPr wrap="square" lIns="0" tIns="0" rIns="0" bIns="0" rtlCol="0" anchor="ctr"/>
          <a:lstStyle/>
          <a:p>
            <a:pPr marL="0" indent="0">
              <a:buNone/>
            </a:pPr>
            <a:r>
              <a:rPr lang="en-US" sz="1000" b="1" kern="0" spc="400" dirty="0">
                <a:solidFill>
                  <a:srgbClr val="94A3B8"/>
                </a:solidFill>
                <a:latin typeface="Calibri" pitchFamily="34" charset="0"/>
                <a:ea typeface="Calibri" pitchFamily="34" charset="-122"/>
                <a:cs typeface="Calibri" pitchFamily="34" charset="-120"/>
              </a:rPr>
              <a:t>PRESENTED BY</a:t>
            </a:r>
            <a:endParaRPr lang="en-US" sz="1000" dirty="0"/>
          </a:p>
        </p:txBody>
      </p:sp>
      <p:sp>
        <p:nvSpPr>
          <p:cNvPr id="9" name="Text 7"/>
          <p:cNvSpPr/>
          <p:nvPr/>
        </p:nvSpPr>
        <p:spPr>
          <a:xfrm>
            <a:off x="822960" y="5760720"/>
            <a:ext cx="45720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Sundar Ram Subramanian</a:t>
            </a:r>
            <a:endParaRPr lang="en-US" sz="1600" dirty="0"/>
          </a:p>
        </p:txBody>
      </p:sp>
      <p:sp>
        <p:nvSpPr>
          <p:cNvPr id="10" name="Text 8"/>
          <p:cNvSpPr/>
          <p:nvPr/>
        </p:nvSpPr>
        <p:spPr>
          <a:xfrm>
            <a:off x="6858000" y="5486400"/>
            <a:ext cx="3657600" cy="274320"/>
          </a:xfrm>
          <a:prstGeom prst="rect">
            <a:avLst/>
          </a:prstGeom>
          <a:noFill/>
          <a:ln/>
        </p:spPr>
        <p:txBody>
          <a:bodyPr wrap="square" lIns="0" tIns="0" rIns="0" bIns="0" rtlCol="0" anchor="ctr"/>
          <a:lstStyle/>
          <a:p>
            <a:pPr marL="0" indent="0">
              <a:buNone/>
            </a:pPr>
            <a:r>
              <a:rPr lang="en-US" sz="1000" b="1" kern="0" spc="400" dirty="0">
                <a:solidFill>
                  <a:srgbClr val="94A3B8"/>
                </a:solidFill>
                <a:latin typeface="Calibri" pitchFamily="34" charset="0"/>
                <a:ea typeface="Calibri" pitchFamily="34" charset="-122"/>
                <a:cs typeface="Calibri" pitchFamily="34" charset="-120"/>
              </a:rPr>
              <a:t>DATE</a:t>
            </a:r>
            <a:endParaRPr lang="en-US" sz="1000" dirty="0"/>
          </a:p>
        </p:txBody>
      </p:sp>
      <p:sp>
        <p:nvSpPr>
          <p:cNvPr id="11" name="Text 9"/>
          <p:cNvSpPr/>
          <p:nvPr/>
        </p:nvSpPr>
        <p:spPr>
          <a:xfrm>
            <a:off x="6858000" y="5760720"/>
            <a:ext cx="45720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May 16,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THE PROBLEM</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Questions You Already Ask Every Week</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Each one of these is a real question the merchandising team asks. Today, each one takes 30–60 minutes of pivot tables, Excel filtering, and email back-and-forth with analytics.</a:t>
            </a:r>
            <a:endParaRPr lang="en-US" sz="1300" dirty="0"/>
          </a:p>
        </p:txBody>
      </p:sp>
      <p:sp>
        <p:nvSpPr>
          <p:cNvPr id="6" name="Shape 4"/>
          <p:cNvSpPr/>
          <p:nvPr/>
        </p:nvSpPr>
        <p:spPr>
          <a:xfrm>
            <a:off x="457200" y="2103120"/>
            <a:ext cx="5486400" cy="118872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640080" y="2194560"/>
            <a:ext cx="5212080" cy="502920"/>
          </a:xfrm>
          <a:prstGeom prst="rect">
            <a:avLst/>
          </a:prstGeom>
          <a:noFill/>
          <a:ln/>
        </p:spPr>
        <p:txBody>
          <a:bodyPr wrap="square" lIns="0" tIns="0" rIns="0" bIns="0" rtlCol="0" anchor="ctr"/>
          <a:lstStyle/>
          <a:p>
            <a:pPr marL="0" indent="0">
              <a:buNone/>
            </a:pPr>
            <a:r>
              <a:rPr lang="en-US" sz="1300" b="1" i="1" dirty="0">
                <a:solidFill>
                  <a:srgbClr val="0F172A"/>
                </a:solidFill>
                <a:latin typeface="Calibri" pitchFamily="34" charset="0"/>
                <a:ea typeface="Calibri" pitchFamily="34" charset="-122"/>
                <a:cs typeface="Calibri" pitchFamily="34" charset="-120"/>
              </a:rPr>
              <a:t>"Which sizes did we lose customers on at X2 last week?"</a:t>
            </a:r>
            <a:endParaRPr lang="en-US" sz="1300" dirty="0"/>
          </a:p>
        </p:txBody>
      </p:sp>
      <p:sp>
        <p:nvSpPr>
          <p:cNvPr id="9" name="Text 7"/>
          <p:cNvSpPr/>
          <p:nvPr/>
        </p:nvSpPr>
        <p:spPr>
          <a:xfrm>
            <a:off x="640080" y="2788920"/>
            <a:ext cx="5212080" cy="457200"/>
          </a:xfrm>
          <a:prstGeom prst="rect">
            <a:avLst/>
          </a:prstGeom>
          <a:noFill/>
          <a:ln/>
        </p:spPr>
        <p:txBody>
          <a:bodyPr wrap="square" lIns="0" tIns="0" rIns="0" bIns="0" rtlCol="0" anchor="t"/>
          <a:lstStyle/>
          <a:p>
            <a:pPr marL="0" indent="0">
              <a:buNone/>
            </a:pPr>
            <a:r>
              <a:rPr lang="en-US" sz="1100" b="1" dirty="0">
                <a:solidFill>
                  <a:srgbClr val="B45309"/>
                </a:solidFill>
                <a:latin typeface="Calibri" pitchFamily="34" charset="0"/>
                <a:ea typeface="Calibri" pitchFamily="34" charset="-122"/>
                <a:cs typeface="Calibri" pitchFamily="34" charset="-120"/>
              </a:rPr>
              <a:t>Today: </a:t>
            </a:r>
            <a:r>
              <a:rPr lang="en-US" sz="1100" dirty="0">
                <a:solidFill>
                  <a:srgbClr val="334155"/>
                </a:solidFill>
                <a:latin typeface="Calibri" pitchFamily="34" charset="0"/>
                <a:ea typeface="Calibri" pitchFamily="34" charset="-122"/>
                <a:cs typeface="Calibri" pitchFamily="34" charset="-120"/>
              </a:rPr>
              <a:t>Pull Excel, pivot, eyeball, re-pivot  ·  </a:t>
            </a:r>
            <a:r>
              <a:rPr lang="en-US" sz="1100" i="1" dirty="0">
                <a:solidFill>
                  <a:srgbClr val="64748B"/>
                </a:solidFill>
                <a:latin typeface="Calibri" pitchFamily="34" charset="0"/>
                <a:ea typeface="Calibri" pitchFamily="34" charset="-122"/>
                <a:cs typeface="Calibri" pitchFamily="34" charset="-120"/>
              </a:rPr>
              <a:t>~40 min</a:t>
            </a:r>
            <a:endParaRPr lang="en-US" sz="1100" dirty="0"/>
          </a:p>
        </p:txBody>
      </p:sp>
      <p:sp>
        <p:nvSpPr>
          <p:cNvPr id="10" name="Shape 8"/>
          <p:cNvSpPr/>
          <p:nvPr/>
        </p:nvSpPr>
        <p:spPr>
          <a:xfrm>
            <a:off x="6126480" y="2103120"/>
            <a:ext cx="5486400" cy="1188720"/>
          </a:xfrm>
          <a:prstGeom prst="rect">
            <a:avLst/>
          </a:prstGeom>
          <a:solidFill>
            <a:srgbClr val="F8FAFC"/>
          </a:solidFill>
          <a:ln w="9525">
            <a:solidFill>
              <a:srgbClr val="E2E8F0"/>
            </a:solidFill>
            <a:prstDash val="solid"/>
          </a:ln>
        </p:spPr>
        <p:txBody>
          <a:bodyPr/>
          <a:lstStyle/>
          <a:p>
            <a:endParaRPr lang="en-US"/>
          </a:p>
        </p:txBody>
      </p:sp>
      <p:sp>
        <p:nvSpPr>
          <p:cNvPr id="11" name="Shape 9"/>
          <p:cNvSpPr/>
          <p:nvPr/>
        </p:nvSpPr>
        <p:spPr>
          <a:xfrm>
            <a:off x="6126480"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12" name="Text 10"/>
          <p:cNvSpPr/>
          <p:nvPr/>
        </p:nvSpPr>
        <p:spPr>
          <a:xfrm>
            <a:off x="6309360" y="2194560"/>
            <a:ext cx="5212080" cy="502920"/>
          </a:xfrm>
          <a:prstGeom prst="rect">
            <a:avLst/>
          </a:prstGeom>
          <a:noFill/>
          <a:ln/>
        </p:spPr>
        <p:txBody>
          <a:bodyPr wrap="square" lIns="0" tIns="0" rIns="0" bIns="0" rtlCol="0" anchor="ctr"/>
          <a:lstStyle/>
          <a:p>
            <a:pPr marL="0" indent="0">
              <a:buNone/>
            </a:pPr>
            <a:r>
              <a:rPr lang="en-US" sz="1300" b="1" i="1" dirty="0">
                <a:solidFill>
                  <a:srgbClr val="0F172A"/>
                </a:solidFill>
                <a:latin typeface="Calibri" pitchFamily="34" charset="0"/>
                <a:ea typeface="Calibri" pitchFamily="34" charset="-122"/>
                <a:cs typeface="Calibri" pitchFamily="34" charset="-120"/>
              </a:rPr>
              <a:t>"Is the design complaint at X4 still trending up?"</a:t>
            </a:r>
            <a:endParaRPr lang="en-US" sz="1300" dirty="0"/>
          </a:p>
        </p:txBody>
      </p:sp>
      <p:sp>
        <p:nvSpPr>
          <p:cNvPr id="13" name="Text 11"/>
          <p:cNvSpPr/>
          <p:nvPr/>
        </p:nvSpPr>
        <p:spPr>
          <a:xfrm>
            <a:off x="6309360" y="2788920"/>
            <a:ext cx="5212080" cy="457200"/>
          </a:xfrm>
          <a:prstGeom prst="rect">
            <a:avLst/>
          </a:prstGeom>
          <a:noFill/>
          <a:ln/>
        </p:spPr>
        <p:txBody>
          <a:bodyPr wrap="square" lIns="0" tIns="0" rIns="0" bIns="0" rtlCol="0" anchor="t"/>
          <a:lstStyle/>
          <a:p>
            <a:pPr marL="0" indent="0">
              <a:buNone/>
            </a:pPr>
            <a:r>
              <a:rPr lang="en-US" sz="1100" b="1" dirty="0">
                <a:solidFill>
                  <a:srgbClr val="B45309"/>
                </a:solidFill>
                <a:latin typeface="Calibri" pitchFamily="34" charset="0"/>
                <a:ea typeface="Calibri" pitchFamily="34" charset="-122"/>
                <a:cs typeface="Calibri" pitchFamily="34" charset="-120"/>
              </a:rPr>
              <a:t>Today: </a:t>
            </a:r>
            <a:r>
              <a:rPr lang="en-US" sz="1100" dirty="0">
                <a:solidFill>
                  <a:srgbClr val="334155"/>
                </a:solidFill>
                <a:latin typeface="Calibri" pitchFamily="34" charset="0"/>
                <a:ea typeface="Calibri" pitchFamily="34" charset="-122"/>
                <a:cs typeface="Calibri" pitchFamily="34" charset="-120"/>
              </a:rPr>
              <a:t>Compare last 4 weekly reports manually  ·  </a:t>
            </a:r>
            <a:r>
              <a:rPr lang="en-US" sz="1100" i="1" dirty="0">
                <a:solidFill>
                  <a:srgbClr val="64748B"/>
                </a:solidFill>
                <a:latin typeface="Calibri" pitchFamily="34" charset="0"/>
                <a:ea typeface="Calibri" pitchFamily="34" charset="-122"/>
                <a:cs typeface="Calibri" pitchFamily="34" charset="-120"/>
              </a:rPr>
              <a:t>~30 min</a:t>
            </a:r>
            <a:endParaRPr lang="en-US" sz="1100" dirty="0"/>
          </a:p>
        </p:txBody>
      </p:sp>
      <p:sp>
        <p:nvSpPr>
          <p:cNvPr id="14" name="Shape 12"/>
          <p:cNvSpPr/>
          <p:nvPr/>
        </p:nvSpPr>
        <p:spPr>
          <a:xfrm>
            <a:off x="457200" y="3429000"/>
            <a:ext cx="5486400" cy="1188720"/>
          </a:xfrm>
          <a:prstGeom prst="rect">
            <a:avLst/>
          </a:prstGeom>
          <a:solidFill>
            <a:srgbClr val="F8FAFC"/>
          </a:solidFill>
          <a:ln w="9525">
            <a:solidFill>
              <a:srgbClr val="E2E8F0"/>
            </a:solidFill>
            <a:prstDash val="solid"/>
          </a:ln>
        </p:spPr>
        <p:txBody>
          <a:bodyPr/>
          <a:lstStyle/>
          <a:p>
            <a:endParaRPr lang="en-US"/>
          </a:p>
        </p:txBody>
      </p:sp>
      <p:sp>
        <p:nvSpPr>
          <p:cNvPr id="15" name="Shape 13"/>
          <p:cNvSpPr/>
          <p:nvPr/>
        </p:nvSpPr>
        <p:spPr>
          <a:xfrm>
            <a:off x="457200"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16" name="Text 14"/>
          <p:cNvSpPr/>
          <p:nvPr/>
        </p:nvSpPr>
        <p:spPr>
          <a:xfrm>
            <a:off x="640080" y="3520440"/>
            <a:ext cx="5212080" cy="502920"/>
          </a:xfrm>
          <a:prstGeom prst="rect">
            <a:avLst/>
          </a:prstGeom>
          <a:noFill/>
          <a:ln/>
        </p:spPr>
        <p:txBody>
          <a:bodyPr wrap="square" lIns="0" tIns="0" rIns="0" bIns="0" rtlCol="0" anchor="ctr"/>
          <a:lstStyle/>
          <a:p>
            <a:pPr marL="0" indent="0">
              <a:buNone/>
            </a:pPr>
            <a:r>
              <a:rPr lang="en-US" sz="1300" b="1" i="1" dirty="0">
                <a:solidFill>
                  <a:srgbClr val="0F172A"/>
                </a:solidFill>
                <a:latin typeface="Calibri" pitchFamily="34" charset="0"/>
                <a:ea typeface="Calibri" pitchFamily="34" charset="-122"/>
                <a:cs typeface="Calibri" pitchFamily="34" charset="-120"/>
              </a:rPr>
              <a:t>"Stock-out impact across all six stores last month?"</a:t>
            </a:r>
            <a:endParaRPr lang="en-US" sz="1300" dirty="0"/>
          </a:p>
        </p:txBody>
      </p:sp>
      <p:sp>
        <p:nvSpPr>
          <p:cNvPr id="17" name="Text 15"/>
          <p:cNvSpPr/>
          <p:nvPr/>
        </p:nvSpPr>
        <p:spPr>
          <a:xfrm>
            <a:off x="640080" y="4114800"/>
            <a:ext cx="5212080" cy="457200"/>
          </a:xfrm>
          <a:prstGeom prst="rect">
            <a:avLst/>
          </a:prstGeom>
          <a:noFill/>
          <a:ln/>
        </p:spPr>
        <p:txBody>
          <a:bodyPr wrap="square" lIns="0" tIns="0" rIns="0" bIns="0" rtlCol="0" anchor="t"/>
          <a:lstStyle/>
          <a:p>
            <a:pPr marL="0" indent="0">
              <a:buNone/>
            </a:pPr>
            <a:r>
              <a:rPr lang="en-US" sz="1100" b="1" dirty="0">
                <a:solidFill>
                  <a:srgbClr val="B45309"/>
                </a:solidFill>
                <a:latin typeface="Calibri" pitchFamily="34" charset="0"/>
                <a:ea typeface="Calibri" pitchFamily="34" charset="-122"/>
                <a:cs typeface="Calibri" pitchFamily="34" charset="-120"/>
              </a:rPr>
              <a:t>Today: </a:t>
            </a:r>
            <a:r>
              <a:rPr lang="en-US" sz="1100" dirty="0">
                <a:solidFill>
                  <a:srgbClr val="334155"/>
                </a:solidFill>
                <a:latin typeface="Calibri" pitchFamily="34" charset="0"/>
                <a:ea typeface="Calibri" pitchFamily="34" charset="-122"/>
                <a:cs typeface="Calibri" pitchFamily="34" charset="-120"/>
              </a:rPr>
              <a:t>Email analytics, wait for response  ·  </a:t>
            </a:r>
            <a:r>
              <a:rPr lang="en-US" sz="1100" i="1" dirty="0">
                <a:solidFill>
                  <a:srgbClr val="64748B"/>
                </a:solidFill>
                <a:latin typeface="Calibri" pitchFamily="34" charset="0"/>
                <a:ea typeface="Calibri" pitchFamily="34" charset="-122"/>
                <a:cs typeface="Calibri" pitchFamily="34" charset="-120"/>
              </a:rPr>
              <a:t>~60 min</a:t>
            </a:r>
            <a:endParaRPr lang="en-US" sz="1100" dirty="0"/>
          </a:p>
        </p:txBody>
      </p:sp>
      <p:sp>
        <p:nvSpPr>
          <p:cNvPr id="18" name="Shape 16"/>
          <p:cNvSpPr/>
          <p:nvPr/>
        </p:nvSpPr>
        <p:spPr>
          <a:xfrm>
            <a:off x="6126480" y="3429000"/>
            <a:ext cx="5486400" cy="1188720"/>
          </a:xfrm>
          <a:prstGeom prst="rect">
            <a:avLst/>
          </a:prstGeom>
          <a:solidFill>
            <a:srgbClr val="F8FAFC"/>
          </a:solidFill>
          <a:ln w="9525">
            <a:solidFill>
              <a:srgbClr val="E2E8F0"/>
            </a:solidFill>
            <a:prstDash val="solid"/>
          </a:ln>
        </p:spPr>
        <p:txBody>
          <a:bodyPr/>
          <a:lstStyle/>
          <a:p>
            <a:endParaRPr lang="en-US"/>
          </a:p>
        </p:txBody>
      </p:sp>
      <p:sp>
        <p:nvSpPr>
          <p:cNvPr id="19" name="Shape 17"/>
          <p:cNvSpPr/>
          <p:nvPr/>
        </p:nvSpPr>
        <p:spPr>
          <a:xfrm>
            <a:off x="6126480"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20" name="Text 18"/>
          <p:cNvSpPr/>
          <p:nvPr/>
        </p:nvSpPr>
        <p:spPr>
          <a:xfrm>
            <a:off x="6309360" y="3520440"/>
            <a:ext cx="5212080" cy="502920"/>
          </a:xfrm>
          <a:prstGeom prst="rect">
            <a:avLst/>
          </a:prstGeom>
          <a:noFill/>
          <a:ln/>
        </p:spPr>
        <p:txBody>
          <a:bodyPr wrap="square" lIns="0" tIns="0" rIns="0" bIns="0" rtlCol="0" anchor="ctr"/>
          <a:lstStyle/>
          <a:p>
            <a:pPr marL="0" indent="0">
              <a:buNone/>
            </a:pPr>
            <a:r>
              <a:rPr lang="en-US" sz="1300" b="1" i="1" dirty="0">
                <a:solidFill>
                  <a:srgbClr val="0F172A"/>
                </a:solidFill>
                <a:latin typeface="Calibri" pitchFamily="34" charset="0"/>
                <a:ea typeface="Calibri" pitchFamily="34" charset="-122"/>
                <a:cs typeface="Calibri" pitchFamily="34" charset="-120"/>
              </a:rPr>
              <a:t>"Are weight complaints concentrated in one product line?"</a:t>
            </a:r>
            <a:endParaRPr lang="en-US" sz="1300" dirty="0"/>
          </a:p>
        </p:txBody>
      </p:sp>
      <p:sp>
        <p:nvSpPr>
          <p:cNvPr id="21" name="Text 19"/>
          <p:cNvSpPr/>
          <p:nvPr/>
        </p:nvSpPr>
        <p:spPr>
          <a:xfrm>
            <a:off x="6309360" y="4114800"/>
            <a:ext cx="5212080" cy="457200"/>
          </a:xfrm>
          <a:prstGeom prst="rect">
            <a:avLst/>
          </a:prstGeom>
          <a:noFill/>
          <a:ln/>
        </p:spPr>
        <p:txBody>
          <a:bodyPr wrap="square" lIns="0" tIns="0" rIns="0" bIns="0" rtlCol="0" anchor="t"/>
          <a:lstStyle/>
          <a:p>
            <a:pPr marL="0" indent="0">
              <a:buNone/>
            </a:pPr>
            <a:r>
              <a:rPr lang="en-US" sz="1100" b="1" dirty="0">
                <a:solidFill>
                  <a:srgbClr val="B45309"/>
                </a:solidFill>
                <a:latin typeface="Calibri" pitchFamily="34" charset="0"/>
                <a:ea typeface="Calibri" pitchFamily="34" charset="-122"/>
                <a:cs typeface="Calibri" pitchFamily="34" charset="-120"/>
              </a:rPr>
              <a:t>Today: </a:t>
            </a:r>
            <a:r>
              <a:rPr lang="en-US" sz="1100" dirty="0">
                <a:solidFill>
                  <a:srgbClr val="334155"/>
                </a:solidFill>
                <a:latin typeface="Calibri" pitchFamily="34" charset="0"/>
                <a:ea typeface="Calibri" pitchFamily="34" charset="-122"/>
                <a:cs typeface="Calibri" pitchFamily="34" charset="-120"/>
              </a:rPr>
              <a:t>Cross-reference two spreadsheets  ·  </a:t>
            </a:r>
            <a:r>
              <a:rPr lang="en-US" sz="1100" i="1" dirty="0">
                <a:solidFill>
                  <a:srgbClr val="64748B"/>
                </a:solidFill>
                <a:latin typeface="Calibri" pitchFamily="34" charset="0"/>
                <a:ea typeface="Calibri" pitchFamily="34" charset="-122"/>
                <a:cs typeface="Calibri" pitchFamily="34" charset="-120"/>
              </a:rPr>
              <a:t>~45 min</a:t>
            </a:r>
            <a:endParaRPr lang="en-US" sz="1100" dirty="0"/>
          </a:p>
        </p:txBody>
      </p:sp>
      <p:sp>
        <p:nvSpPr>
          <p:cNvPr id="22" name="Shape 20"/>
          <p:cNvSpPr/>
          <p:nvPr/>
        </p:nvSpPr>
        <p:spPr>
          <a:xfrm>
            <a:off x="457200" y="4754880"/>
            <a:ext cx="5486400" cy="1188720"/>
          </a:xfrm>
          <a:prstGeom prst="rect">
            <a:avLst/>
          </a:prstGeom>
          <a:solidFill>
            <a:srgbClr val="F8FAFC"/>
          </a:solidFill>
          <a:ln w="9525">
            <a:solidFill>
              <a:srgbClr val="E2E8F0"/>
            </a:solidFill>
            <a:prstDash val="solid"/>
          </a:ln>
        </p:spPr>
        <p:txBody>
          <a:bodyPr/>
          <a:lstStyle/>
          <a:p>
            <a:endParaRPr lang="en-US"/>
          </a:p>
        </p:txBody>
      </p:sp>
      <p:sp>
        <p:nvSpPr>
          <p:cNvPr id="23" name="Shape 21"/>
          <p:cNvSpPr/>
          <p:nvPr/>
        </p:nvSpPr>
        <p:spPr>
          <a:xfrm>
            <a:off x="457200" y="4754880"/>
            <a:ext cx="64008" cy="1188720"/>
          </a:xfrm>
          <a:prstGeom prst="rect">
            <a:avLst/>
          </a:prstGeom>
          <a:solidFill>
            <a:srgbClr val="0F766E"/>
          </a:solidFill>
          <a:ln w="12700">
            <a:solidFill>
              <a:srgbClr val="333333"/>
            </a:solidFill>
            <a:prstDash val="solid"/>
          </a:ln>
        </p:spPr>
        <p:txBody>
          <a:bodyPr/>
          <a:lstStyle/>
          <a:p>
            <a:endParaRPr lang="en-US"/>
          </a:p>
        </p:txBody>
      </p:sp>
      <p:sp>
        <p:nvSpPr>
          <p:cNvPr id="24" name="Text 22"/>
          <p:cNvSpPr/>
          <p:nvPr/>
        </p:nvSpPr>
        <p:spPr>
          <a:xfrm>
            <a:off x="640080" y="4846320"/>
            <a:ext cx="5212080" cy="502920"/>
          </a:xfrm>
          <a:prstGeom prst="rect">
            <a:avLst/>
          </a:prstGeom>
          <a:noFill/>
          <a:ln/>
        </p:spPr>
        <p:txBody>
          <a:bodyPr wrap="square" lIns="0" tIns="0" rIns="0" bIns="0" rtlCol="0" anchor="ctr"/>
          <a:lstStyle/>
          <a:p>
            <a:pPr marL="0" indent="0">
              <a:buNone/>
            </a:pPr>
            <a:r>
              <a:rPr lang="en-US" sz="1300" b="1" i="1" dirty="0">
                <a:solidFill>
                  <a:srgbClr val="0F172A"/>
                </a:solidFill>
                <a:latin typeface="Calibri" pitchFamily="34" charset="0"/>
                <a:ea typeface="Calibri" pitchFamily="34" charset="-122"/>
                <a:cs typeface="Calibri" pitchFamily="34" charset="-120"/>
              </a:rPr>
              <a:t>"What price points did X3 customers walk away from?"</a:t>
            </a:r>
            <a:endParaRPr lang="en-US" sz="1300" dirty="0"/>
          </a:p>
        </p:txBody>
      </p:sp>
      <p:sp>
        <p:nvSpPr>
          <p:cNvPr id="25" name="Text 23"/>
          <p:cNvSpPr/>
          <p:nvPr/>
        </p:nvSpPr>
        <p:spPr>
          <a:xfrm>
            <a:off x="640080" y="5440680"/>
            <a:ext cx="5212080" cy="457200"/>
          </a:xfrm>
          <a:prstGeom prst="rect">
            <a:avLst/>
          </a:prstGeom>
          <a:noFill/>
          <a:ln/>
        </p:spPr>
        <p:txBody>
          <a:bodyPr wrap="square" lIns="0" tIns="0" rIns="0" bIns="0" rtlCol="0" anchor="t"/>
          <a:lstStyle/>
          <a:p>
            <a:pPr marL="0" indent="0">
              <a:buNone/>
            </a:pPr>
            <a:r>
              <a:rPr lang="en-US" sz="1100" b="1" dirty="0">
                <a:solidFill>
                  <a:srgbClr val="B45309"/>
                </a:solidFill>
                <a:latin typeface="Calibri" pitchFamily="34" charset="0"/>
                <a:ea typeface="Calibri" pitchFamily="34" charset="-122"/>
                <a:cs typeface="Calibri" pitchFamily="34" charset="-120"/>
              </a:rPr>
              <a:t>Today: </a:t>
            </a:r>
            <a:r>
              <a:rPr lang="en-US" sz="1100" dirty="0">
                <a:solidFill>
                  <a:srgbClr val="334155"/>
                </a:solidFill>
                <a:latin typeface="Calibri" pitchFamily="34" charset="0"/>
                <a:ea typeface="Calibri" pitchFamily="34" charset="-122"/>
                <a:cs typeface="Calibri" pitchFamily="34" charset="-120"/>
              </a:rPr>
              <a:t>Filter reason_for_non_purchase by hand  ·  </a:t>
            </a:r>
            <a:r>
              <a:rPr lang="en-US" sz="1100" i="1" dirty="0">
                <a:solidFill>
                  <a:srgbClr val="64748B"/>
                </a:solidFill>
                <a:latin typeface="Calibri" pitchFamily="34" charset="0"/>
                <a:ea typeface="Calibri" pitchFamily="34" charset="-122"/>
                <a:cs typeface="Calibri" pitchFamily="34" charset="-120"/>
              </a:rPr>
              <a:t>~30 min</a:t>
            </a:r>
            <a:endParaRPr lang="en-US" sz="1100" dirty="0"/>
          </a:p>
        </p:txBody>
      </p:sp>
      <p:sp>
        <p:nvSpPr>
          <p:cNvPr id="26" name="Shape 24"/>
          <p:cNvSpPr/>
          <p:nvPr/>
        </p:nvSpPr>
        <p:spPr>
          <a:xfrm>
            <a:off x="6126480" y="4754880"/>
            <a:ext cx="5486400" cy="1188720"/>
          </a:xfrm>
          <a:prstGeom prst="rect">
            <a:avLst/>
          </a:prstGeom>
          <a:solidFill>
            <a:srgbClr val="F8FAFC"/>
          </a:solidFill>
          <a:ln w="9525">
            <a:solidFill>
              <a:srgbClr val="E2E8F0"/>
            </a:solidFill>
            <a:prstDash val="solid"/>
          </a:ln>
        </p:spPr>
        <p:txBody>
          <a:bodyPr/>
          <a:lstStyle/>
          <a:p>
            <a:endParaRPr lang="en-US"/>
          </a:p>
        </p:txBody>
      </p:sp>
      <p:sp>
        <p:nvSpPr>
          <p:cNvPr id="27" name="Shape 25"/>
          <p:cNvSpPr/>
          <p:nvPr/>
        </p:nvSpPr>
        <p:spPr>
          <a:xfrm>
            <a:off x="6126480" y="4754880"/>
            <a:ext cx="64008" cy="1188720"/>
          </a:xfrm>
          <a:prstGeom prst="rect">
            <a:avLst/>
          </a:prstGeom>
          <a:solidFill>
            <a:srgbClr val="0F766E"/>
          </a:solidFill>
          <a:ln w="12700">
            <a:solidFill>
              <a:srgbClr val="333333"/>
            </a:solidFill>
            <a:prstDash val="solid"/>
          </a:ln>
        </p:spPr>
        <p:txBody>
          <a:bodyPr/>
          <a:lstStyle/>
          <a:p>
            <a:endParaRPr lang="en-US"/>
          </a:p>
        </p:txBody>
      </p:sp>
      <p:sp>
        <p:nvSpPr>
          <p:cNvPr id="28" name="Text 26"/>
          <p:cNvSpPr/>
          <p:nvPr/>
        </p:nvSpPr>
        <p:spPr>
          <a:xfrm>
            <a:off x="6309360" y="4846320"/>
            <a:ext cx="5212080" cy="502920"/>
          </a:xfrm>
          <a:prstGeom prst="rect">
            <a:avLst/>
          </a:prstGeom>
          <a:noFill/>
          <a:ln/>
        </p:spPr>
        <p:txBody>
          <a:bodyPr wrap="square" lIns="0" tIns="0" rIns="0" bIns="0" rtlCol="0" anchor="ctr"/>
          <a:lstStyle/>
          <a:p>
            <a:pPr marL="0" indent="0">
              <a:buNone/>
            </a:pPr>
            <a:r>
              <a:rPr lang="en-US" sz="1300" b="1" i="1" dirty="0">
                <a:solidFill>
                  <a:srgbClr val="0F172A"/>
                </a:solidFill>
                <a:latin typeface="Calibri" pitchFamily="34" charset="0"/>
                <a:ea typeface="Calibri" pitchFamily="34" charset="-122"/>
                <a:cs typeface="Calibri" pitchFamily="34" charset="-120"/>
              </a:rPr>
              <a:t>"Did the action we took at X1 last month actually work?"</a:t>
            </a:r>
            <a:endParaRPr lang="en-US" sz="1300" dirty="0"/>
          </a:p>
        </p:txBody>
      </p:sp>
      <p:sp>
        <p:nvSpPr>
          <p:cNvPr id="29" name="Text 27"/>
          <p:cNvSpPr/>
          <p:nvPr/>
        </p:nvSpPr>
        <p:spPr>
          <a:xfrm>
            <a:off x="6309360" y="5440680"/>
            <a:ext cx="5212080" cy="457200"/>
          </a:xfrm>
          <a:prstGeom prst="rect">
            <a:avLst/>
          </a:prstGeom>
          <a:noFill/>
          <a:ln/>
        </p:spPr>
        <p:txBody>
          <a:bodyPr wrap="square" lIns="0" tIns="0" rIns="0" bIns="0" rtlCol="0" anchor="t"/>
          <a:lstStyle/>
          <a:p>
            <a:pPr marL="0" indent="0">
              <a:buNone/>
            </a:pPr>
            <a:r>
              <a:rPr lang="en-US" sz="1100" b="1" dirty="0">
                <a:solidFill>
                  <a:srgbClr val="B45309"/>
                </a:solidFill>
                <a:latin typeface="Calibri" pitchFamily="34" charset="0"/>
                <a:ea typeface="Calibri" pitchFamily="34" charset="-122"/>
                <a:cs typeface="Calibri" pitchFamily="34" charset="-120"/>
              </a:rPr>
              <a:t>Today: </a:t>
            </a:r>
            <a:r>
              <a:rPr lang="en-US" sz="1100" dirty="0">
                <a:solidFill>
                  <a:srgbClr val="334155"/>
                </a:solidFill>
                <a:latin typeface="Calibri" pitchFamily="34" charset="0"/>
                <a:ea typeface="Calibri" pitchFamily="34" charset="-122"/>
                <a:cs typeface="Calibri" pitchFamily="34" charset="-120"/>
              </a:rPr>
              <a:t>Build before/after comparison manually  ·  </a:t>
            </a:r>
            <a:r>
              <a:rPr lang="en-US" sz="1100" i="1" dirty="0">
                <a:solidFill>
                  <a:srgbClr val="64748B"/>
                </a:solidFill>
                <a:latin typeface="Calibri" pitchFamily="34" charset="0"/>
                <a:ea typeface="Calibri" pitchFamily="34" charset="-122"/>
                <a:cs typeface="Calibri" pitchFamily="34" charset="-120"/>
              </a:rPr>
              <a:t>~60 min</a:t>
            </a:r>
            <a:endParaRPr lang="en-US" sz="1100" dirty="0"/>
          </a:p>
        </p:txBody>
      </p:sp>
      <p:sp>
        <p:nvSpPr>
          <p:cNvPr id="30" name="Shape 28"/>
          <p:cNvSpPr/>
          <p:nvPr/>
        </p:nvSpPr>
        <p:spPr>
          <a:xfrm>
            <a:off x="457200" y="5989320"/>
            <a:ext cx="11247120" cy="594360"/>
          </a:xfrm>
          <a:prstGeom prst="rect">
            <a:avLst/>
          </a:prstGeom>
          <a:solidFill>
            <a:srgbClr val="CCFBF1"/>
          </a:solidFill>
          <a:ln w="6350">
            <a:solidFill>
              <a:srgbClr val="0F766E"/>
            </a:solidFill>
            <a:prstDash val="solid"/>
          </a:ln>
        </p:spPr>
        <p:txBody>
          <a:bodyPr/>
          <a:lstStyle/>
          <a:p>
            <a:endParaRPr lang="en-US"/>
          </a:p>
        </p:txBody>
      </p:sp>
      <p:sp>
        <p:nvSpPr>
          <p:cNvPr id="31" name="Text 29"/>
          <p:cNvSpPr/>
          <p:nvPr/>
        </p:nvSpPr>
        <p:spPr>
          <a:xfrm>
            <a:off x="685800" y="6053328"/>
            <a:ext cx="10789920" cy="50292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What if these questions took 30 seconds instead of 30 minutes?  </a:t>
            </a:r>
            <a:r>
              <a:rPr lang="en-US" sz="1300" dirty="0">
                <a:solidFill>
                  <a:srgbClr val="334155"/>
                </a:solidFill>
                <a:latin typeface="Calibri" pitchFamily="34" charset="0"/>
                <a:ea typeface="Calibri" pitchFamily="34" charset="-122"/>
                <a:cs typeface="Calibri" pitchFamily="34" charset="-120"/>
              </a:rPr>
              <a:t>That is the entire product pitch.  Same questions.  Same data.  In your own words.</a:t>
            </a:r>
            <a:endParaRPr lang="en-US" sz="1300" dirty="0"/>
          </a:p>
        </p:txBody>
      </p:sp>
      <p:sp>
        <p:nvSpPr>
          <p:cNvPr id="32" name="Text 30"/>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15</a:t>
            </a:r>
            <a:endParaRPr lang="en-US" sz="900" dirty="0"/>
          </a:p>
        </p:txBody>
      </p:sp>
      <p:sp>
        <p:nvSpPr>
          <p:cNvPr id="33" name="Text 31"/>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WHAT IT IS</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Meet Merchandising AI</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600200"/>
            <a:ext cx="11247120" cy="731520"/>
          </a:xfrm>
          <a:prstGeom prst="rect">
            <a:avLst/>
          </a:prstGeom>
          <a:noFill/>
          <a:ln/>
        </p:spPr>
        <p:txBody>
          <a:bodyPr wrap="square" lIns="0" tIns="0" rIns="0" bIns="0" rtlCol="0" anchor="ctr"/>
          <a:lstStyle/>
          <a:p>
            <a:pPr marL="0" indent="0" algn="ctr">
              <a:buNone/>
            </a:pPr>
            <a:r>
              <a:rPr lang="en-US" sz="3600" b="1" dirty="0">
                <a:solidFill>
                  <a:srgbClr val="0F766E"/>
                </a:solidFill>
                <a:latin typeface="Calibri" pitchFamily="34" charset="0"/>
                <a:ea typeface="Calibri" pitchFamily="34" charset="-122"/>
                <a:cs typeface="Calibri" pitchFamily="34" charset="-120"/>
              </a:rPr>
              <a:t>Type a question. Get a grounded answer.</a:t>
            </a:r>
            <a:endParaRPr lang="en-US" sz="3600" dirty="0"/>
          </a:p>
        </p:txBody>
      </p:sp>
      <p:sp>
        <p:nvSpPr>
          <p:cNvPr id="6" name="Text 4"/>
          <p:cNvSpPr/>
          <p:nvPr/>
        </p:nvSpPr>
        <p:spPr>
          <a:xfrm>
            <a:off x="457200" y="2377440"/>
            <a:ext cx="11247120" cy="365760"/>
          </a:xfrm>
          <a:prstGeom prst="rect">
            <a:avLst/>
          </a:prstGeom>
          <a:noFill/>
          <a:ln/>
        </p:spPr>
        <p:txBody>
          <a:bodyPr wrap="square" lIns="0" tIns="0" rIns="0" bIns="0"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Built on the non-purchaser feedback you already collect at every store.</a:t>
            </a:r>
            <a:endParaRPr lang="en-US" sz="1400" dirty="0"/>
          </a:p>
        </p:txBody>
      </p:sp>
      <p:sp>
        <p:nvSpPr>
          <p:cNvPr id="7" name="Shape 5"/>
          <p:cNvSpPr/>
          <p:nvPr/>
        </p:nvSpPr>
        <p:spPr>
          <a:xfrm>
            <a:off x="457200" y="3063240"/>
            <a:ext cx="3566160" cy="2560320"/>
          </a:xfrm>
          <a:prstGeom prst="rect">
            <a:avLst/>
          </a:prstGeom>
          <a:solidFill>
            <a:srgbClr val="F8FAFC"/>
          </a:solidFill>
          <a:ln w="9525">
            <a:solidFill>
              <a:srgbClr val="E2E8F0"/>
            </a:solidFill>
            <a:prstDash val="solid"/>
          </a:ln>
        </p:spPr>
        <p:txBody>
          <a:bodyPr/>
          <a:lstStyle/>
          <a:p>
            <a:endParaRPr lang="en-US"/>
          </a:p>
        </p:txBody>
      </p:sp>
      <p:sp>
        <p:nvSpPr>
          <p:cNvPr id="8" name="Shape 6"/>
          <p:cNvSpPr/>
          <p:nvPr/>
        </p:nvSpPr>
        <p:spPr>
          <a:xfrm>
            <a:off x="457200" y="3063240"/>
            <a:ext cx="64008" cy="2560320"/>
          </a:xfrm>
          <a:prstGeom prst="rect">
            <a:avLst/>
          </a:prstGeom>
          <a:solidFill>
            <a:srgbClr val="0F766E"/>
          </a:solidFill>
          <a:ln w="12700">
            <a:solidFill>
              <a:srgbClr val="333333"/>
            </a:solidFill>
            <a:prstDash val="solid"/>
          </a:ln>
        </p:spPr>
        <p:txBody>
          <a:bodyPr/>
          <a:lstStyle/>
          <a:p>
            <a:endParaRPr lang="en-US"/>
          </a:p>
        </p:txBody>
      </p:sp>
      <p:sp>
        <p:nvSpPr>
          <p:cNvPr id="9" name="Text 7"/>
          <p:cNvSpPr/>
          <p:nvPr/>
        </p:nvSpPr>
        <p:spPr>
          <a:xfrm>
            <a:off x="685800" y="3246120"/>
            <a:ext cx="731520" cy="640080"/>
          </a:xfrm>
          <a:prstGeom prst="rect">
            <a:avLst/>
          </a:prstGeom>
          <a:noFill/>
          <a:ln/>
        </p:spPr>
        <p:txBody>
          <a:bodyPr wrap="square" lIns="0" tIns="0" rIns="0" bIns="0" rtlCol="0" anchor="ctr"/>
          <a:lstStyle/>
          <a:p>
            <a:pPr marL="0" indent="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0" name="Text 8"/>
          <p:cNvSpPr/>
          <p:nvPr/>
        </p:nvSpPr>
        <p:spPr>
          <a:xfrm>
            <a:off x="685800" y="3931920"/>
            <a:ext cx="310896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Plain English in</a:t>
            </a:r>
            <a:endParaRPr lang="en-US" sz="1600" dirty="0"/>
          </a:p>
        </p:txBody>
      </p:sp>
      <p:sp>
        <p:nvSpPr>
          <p:cNvPr id="11" name="Text 9"/>
          <p:cNvSpPr/>
          <p:nvPr/>
        </p:nvSpPr>
        <p:spPr>
          <a:xfrm>
            <a:off x="685800" y="4343400"/>
            <a:ext cx="3108960" cy="12344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No SQL.  No pivot tables.  No formulas.  Ask the way you would ask a teammate.</a:t>
            </a:r>
            <a:endParaRPr lang="en-US" sz="1200" dirty="0"/>
          </a:p>
        </p:txBody>
      </p:sp>
      <p:sp>
        <p:nvSpPr>
          <p:cNvPr id="12" name="Shape 10"/>
          <p:cNvSpPr/>
          <p:nvPr/>
        </p:nvSpPr>
        <p:spPr>
          <a:xfrm>
            <a:off x="4160520" y="3063240"/>
            <a:ext cx="3566160" cy="2560320"/>
          </a:xfrm>
          <a:prstGeom prst="rect">
            <a:avLst/>
          </a:prstGeom>
          <a:solidFill>
            <a:srgbClr val="F8FAFC"/>
          </a:solidFill>
          <a:ln w="9525">
            <a:solidFill>
              <a:srgbClr val="E2E8F0"/>
            </a:solidFill>
            <a:prstDash val="solid"/>
          </a:ln>
        </p:spPr>
        <p:txBody>
          <a:bodyPr/>
          <a:lstStyle/>
          <a:p>
            <a:endParaRPr lang="en-US"/>
          </a:p>
        </p:txBody>
      </p:sp>
      <p:sp>
        <p:nvSpPr>
          <p:cNvPr id="13" name="Shape 11"/>
          <p:cNvSpPr/>
          <p:nvPr/>
        </p:nvSpPr>
        <p:spPr>
          <a:xfrm>
            <a:off x="4160520" y="3063240"/>
            <a:ext cx="64008" cy="2560320"/>
          </a:xfrm>
          <a:prstGeom prst="rect">
            <a:avLst/>
          </a:prstGeom>
          <a:solidFill>
            <a:srgbClr val="0F766E"/>
          </a:solidFill>
          <a:ln w="12700">
            <a:solidFill>
              <a:srgbClr val="333333"/>
            </a:solidFill>
            <a:prstDash val="solid"/>
          </a:ln>
        </p:spPr>
        <p:txBody>
          <a:bodyPr/>
          <a:lstStyle/>
          <a:p>
            <a:endParaRPr lang="en-US"/>
          </a:p>
        </p:txBody>
      </p:sp>
      <p:sp>
        <p:nvSpPr>
          <p:cNvPr id="14" name="Text 12"/>
          <p:cNvSpPr/>
          <p:nvPr/>
        </p:nvSpPr>
        <p:spPr>
          <a:xfrm>
            <a:off x="4389120" y="3246120"/>
            <a:ext cx="731520" cy="640080"/>
          </a:xfrm>
          <a:prstGeom prst="rect">
            <a:avLst/>
          </a:prstGeom>
          <a:noFill/>
          <a:ln/>
        </p:spPr>
        <p:txBody>
          <a:bodyPr wrap="square" lIns="0" tIns="0" rIns="0" bIns="0" rtlCol="0" anchor="ctr"/>
          <a:lstStyle/>
          <a:p>
            <a:pPr marL="0" indent="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5" name="Text 13"/>
          <p:cNvSpPr/>
          <p:nvPr/>
        </p:nvSpPr>
        <p:spPr>
          <a:xfrm>
            <a:off x="4389120" y="3931920"/>
            <a:ext cx="310896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Numbers, charts, Excel out</a:t>
            </a:r>
            <a:endParaRPr lang="en-US" sz="1600" dirty="0"/>
          </a:p>
        </p:txBody>
      </p:sp>
      <p:sp>
        <p:nvSpPr>
          <p:cNvPr id="16" name="Text 14"/>
          <p:cNvSpPr/>
          <p:nvPr/>
        </p:nvSpPr>
        <p:spPr>
          <a:xfrm>
            <a:off x="4389120" y="4343400"/>
            <a:ext cx="3108960" cy="12344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 answer comes with the underlying numbers, an optional chart, and a one-click Excel download.</a:t>
            </a:r>
            <a:endParaRPr lang="en-US" sz="1200" dirty="0"/>
          </a:p>
        </p:txBody>
      </p:sp>
      <p:sp>
        <p:nvSpPr>
          <p:cNvPr id="17" name="Shape 15"/>
          <p:cNvSpPr/>
          <p:nvPr/>
        </p:nvSpPr>
        <p:spPr>
          <a:xfrm>
            <a:off x="7863840" y="3063240"/>
            <a:ext cx="3566160" cy="2560320"/>
          </a:xfrm>
          <a:prstGeom prst="rect">
            <a:avLst/>
          </a:prstGeom>
          <a:solidFill>
            <a:srgbClr val="F8FAFC"/>
          </a:solidFill>
          <a:ln w="9525">
            <a:solidFill>
              <a:srgbClr val="E2E8F0"/>
            </a:solidFill>
            <a:prstDash val="solid"/>
          </a:ln>
        </p:spPr>
        <p:txBody>
          <a:bodyPr/>
          <a:lstStyle/>
          <a:p>
            <a:endParaRPr lang="en-US"/>
          </a:p>
        </p:txBody>
      </p:sp>
      <p:sp>
        <p:nvSpPr>
          <p:cNvPr id="18" name="Shape 16"/>
          <p:cNvSpPr/>
          <p:nvPr/>
        </p:nvSpPr>
        <p:spPr>
          <a:xfrm>
            <a:off x="7863840" y="3063240"/>
            <a:ext cx="64008" cy="2560320"/>
          </a:xfrm>
          <a:prstGeom prst="rect">
            <a:avLst/>
          </a:prstGeom>
          <a:solidFill>
            <a:srgbClr val="0F766E"/>
          </a:solidFill>
          <a:ln w="12700">
            <a:solidFill>
              <a:srgbClr val="333333"/>
            </a:solidFill>
            <a:prstDash val="solid"/>
          </a:ln>
        </p:spPr>
        <p:txBody>
          <a:bodyPr/>
          <a:lstStyle/>
          <a:p>
            <a:endParaRPr lang="en-US"/>
          </a:p>
        </p:txBody>
      </p:sp>
      <p:sp>
        <p:nvSpPr>
          <p:cNvPr id="19" name="Text 17"/>
          <p:cNvSpPr/>
          <p:nvPr/>
        </p:nvSpPr>
        <p:spPr>
          <a:xfrm>
            <a:off x="8092440" y="3246120"/>
            <a:ext cx="731520" cy="640080"/>
          </a:xfrm>
          <a:prstGeom prst="rect">
            <a:avLst/>
          </a:prstGeom>
          <a:noFill/>
          <a:ln/>
        </p:spPr>
        <p:txBody>
          <a:bodyPr wrap="square" lIns="0" tIns="0" rIns="0" bIns="0" rtlCol="0" anchor="ctr"/>
          <a:lstStyle/>
          <a:p>
            <a:pPr marL="0" indent="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20" name="Text 18"/>
          <p:cNvSpPr/>
          <p:nvPr/>
        </p:nvSpPr>
        <p:spPr>
          <a:xfrm>
            <a:off x="8092440" y="3931920"/>
            <a:ext cx="310896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Every claim cited</a:t>
            </a:r>
            <a:endParaRPr lang="en-US" sz="1600" dirty="0"/>
          </a:p>
        </p:txBody>
      </p:sp>
      <p:sp>
        <p:nvSpPr>
          <p:cNvPr id="21" name="Text 19"/>
          <p:cNvSpPr/>
          <p:nvPr/>
        </p:nvSpPr>
        <p:spPr>
          <a:xfrm>
            <a:off x="8092440" y="4343400"/>
            <a:ext cx="3108960" cy="12344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 number you see was just computed against your live data.  No guessing.  No making things up.</a:t>
            </a:r>
            <a:endParaRPr lang="en-US" sz="1200" dirty="0"/>
          </a:p>
        </p:txBody>
      </p:sp>
      <p:sp>
        <p:nvSpPr>
          <p:cNvPr id="22" name="Text 20"/>
          <p:cNvSpPr/>
          <p:nvPr/>
        </p:nvSpPr>
        <p:spPr>
          <a:xfrm>
            <a:off x="457200" y="5897880"/>
            <a:ext cx="11247120" cy="457200"/>
          </a:xfrm>
          <a:prstGeom prst="rect">
            <a:avLst/>
          </a:prstGeom>
          <a:noFill/>
          <a:ln/>
        </p:spPr>
        <p:txBody>
          <a:bodyPr wrap="square" lIns="0" tIns="0" rIns="0" bIns="0" rtlCol="0" anchor="ctr"/>
          <a:lstStyle/>
          <a:p>
            <a:pPr marL="0" indent="0" algn="ctr">
              <a:buNone/>
            </a:pPr>
            <a:r>
              <a:rPr lang="en-US" sz="1250" i="1" dirty="0">
                <a:solidFill>
                  <a:srgbClr val="64748B"/>
                </a:solidFill>
                <a:latin typeface="Calibri" pitchFamily="34" charset="0"/>
                <a:ea typeface="Calibri" pitchFamily="34" charset="-122"/>
                <a:cs typeface="Calibri" pitchFamily="34" charset="-120"/>
              </a:rPr>
              <a:t>This replaces the Monday-morning Excel scramble — not the merchandising judgement that turns the numbers into decisions.</a:t>
            </a:r>
            <a:endParaRPr lang="en-US" sz="1250" dirty="0"/>
          </a:p>
        </p:txBody>
      </p:sp>
      <p:sp>
        <p:nvSpPr>
          <p:cNvPr id="23" name="Text 21"/>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15</a:t>
            </a:r>
            <a:endParaRPr lang="en-US" sz="900" dirty="0"/>
          </a:p>
        </p:txBody>
      </p:sp>
      <p:sp>
        <p:nvSpPr>
          <p:cNvPr id="24" name="Text 22"/>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CHAT  +  RECOMMENDATIONS</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Two Ways to Use It</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same data, two front doors.  Pick the one that fits the moment.</a:t>
            </a:r>
            <a:endParaRPr lang="en-US" sz="1300" dirty="0"/>
          </a:p>
        </p:txBody>
      </p:sp>
      <p:sp>
        <p:nvSpPr>
          <p:cNvPr id="6" name="Shape 4"/>
          <p:cNvSpPr/>
          <p:nvPr/>
        </p:nvSpPr>
        <p:spPr>
          <a:xfrm>
            <a:off x="457200" y="2011680"/>
            <a:ext cx="5486400" cy="4297680"/>
          </a:xfrm>
          <a:prstGeom prst="rect">
            <a:avLst/>
          </a:prstGeom>
          <a:solidFill>
            <a:srgbClr val="FFFFFF"/>
          </a:solidFill>
          <a:ln w="15240">
            <a:solidFill>
              <a:srgbClr val="0F766E"/>
            </a:solidFill>
            <a:prstDash val="solid"/>
          </a:ln>
        </p:spPr>
        <p:txBody>
          <a:bodyPr/>
          <a:lstStyle/>
          <a:p>
            <a:endParaRPr lang="en-US"/>
          </a:p>
        </p:txBody>
      </p:sp>
      <p:sp>
        <p:nvSpPr>
          <p:cNvPr id="7" name="Shape 5"/>
          <p:cNvSpPr/>
          <p:nvPr/>
        </p:nvSpPr>
        <p:spPr>
          <a:xfrm>
            <a:off x="457200" y="2011680"/>
            <a:ext cx="64008" cy="4297680"/>
          </a:xfrm>
          <a:prstGeom prst="rect">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685800" y="2148840"/>
            <a:ext cx="5029200" cy="274320"/>
          </a:xfrm>
          <a:prstGeom prst="rect">
            <a:avLst/>
          </a:prstGeom>
          <a:noFill/>
          <a:ln/>
        </p:spPr>
        <p:txBody>
          <a:bodyPr wrap="square" lIns="0" tIns="0" rIns="0" bIns="0" rtlCol="0" anchor="ctr"/>
          <a:lstStyle/>
          <a:p>
            <a:pPr marL="0" indent="0">
              <a:buNone/>
            </a:pPr>
            <a:r>
              <a:rPr lang="en-US" sz="1000" b="1" kern="0" spc="400" dirty="0">
                <a:solidFill>
                  <a:srgbClr val="0F766E"/>
                </a:solidFill>
                <a:latin typeface="Calibri" pitchFamily="34" charset="0"/>
                <a:ea typeface="Calibri" pitchFamily="34" charset="-122"/>
                <a:cs typeface="Calibri" pitchFamily="34" charset="-120"/>
              </a:rPr>
              <a:t>SURFACE 1</a:t>
            </a:r>
            <a:endParaRPr lang="en-US" sz="1000" dirty="0"/>
          </a:p>
        </p:txBody>
      </p:sp>
      <p:sp>
        <p:nvSpPr>
          <p:cNvPr id="9" name="Text 7"/>
          <p:cNvSpPr/>
          <p:nvPr/>
        </p:nvSpPr>
        <p:spPr>
          <a:xfrm>
            <a:off x="685800" y="2423160"/>
            <a:ext cx="502920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Chat</a:t>
            </a:r>
            <a:endParaRPr lang="en-US" sz="2800" dirty="0"/>
          </a:p>
        </p:txBody>
      </p:sp>
      <p:sp>
        <p:nvSpPr>
          <p:cNvPr id="10" name="Text 8"/>
          <p:cNvSpPr/>
          <p:nvPr/>
        </p:nvSpPr>
        <p:spPr>
          <a:xfrm>
            <a:off x="685800" y="3017520"/>
            <a:ext cx="502920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Free-form questions, any time</a:t>
            </a:r>
            <a:endParaRPr lang="en-US" sz="1300" dirty="0"/>
          </a:p>
        </p:txBody>
      </p:sp>
      <p:sp>
        <p:nvSpPr>
          <p:cNvPr id="11" name="Shape 9"/>
          <p:cNvSpPr/>
          <p:nvPr/>
        </p:nvSpPr>
        <p:spPr>
          <a:xfrm>
            <a:off x="731520" y="3639312"/>
            <a:ext cx="91440" cy="91440"/>
          </a:xfrm>
          <a:prstGeom prst="ellipse">
            <a:avLst/>
          </a:prstGeom>
          <a:solidFill>
            <a:srgbClr val="0F766E"/>
          </a:solidFill>
          <a:ln w="12700">
            <a:solidFill>
              <a:srgbClr val="333333"/>
            </a:solidFill>
            <a:prstDash val="solid"/>
          </a:ln>
        </p:spPr>
        <p:txBody>
          <a:bodyPr/>
          <a:lstStyle/>
          <a:p>
            <a:endParaRPr lang="en-US"/>
          </a:p>
        </p:txBody>
      </p:sp>
      <p:sp>
        <p:nvSpPr>
          <p:cNvPr id="12" name="Text 10"/>
          <p:cNvSpPr/>
          <p:nvPr/>
        </p:nvSpPr>
        <p:spPr>
          <a:xfrm>
            <a:off x="960120" y="352044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Ask anything in plain English</a:t>
            </a:r>
            <a:endParaRPr lang="en-US" sz="1200" dirty="0"/>
          </a:p>
        </p:txBody>
      </p:sp>
      <p:sp>
        <p:nvSpPr>
          <p:cNvPr id="13" name="Shape 11"/>
          <p:cNvSpPr/>
          <p:nvPr/>
        </p:nvSpPr>
        <p:spPr>
          <a:xfrm>
            <a:off x="731520" y="4050792"/>
            <a:ext cx="91440" cy="91440"/>
          </a:xfrm>
          <a:prstGeom prst="ellipse">
            <a:avLst/>
          </a:prstGeom>
          <a:solidFill>
            <a:srgbClr val="0F766E"/>
          </a:solidFill>
          <a:ln w="12700">
            <a:solidFill>
              <a:srgbClr val="333333"/>
            </a:solidFill>
            <a:prstDash val="solid"/>
          </a:ln>
        </p:spPr>
        <p:txBody>
          <a:bodyPr/>
          <a:lstStyle/>
          <a:p>
            <a:endParaRPr lang="en-US"/>
          </a:p>
        </p:txBody>
      </p:sp>
      <p:sp>
        <p:nvSpPr>
          <p:cNvPr id="14" name="Text 12"/>
          <p:cNvSpPr/>
          <p:nvPr/>
        </p:nvSpPr>
        <p:spPr>
          <a:xfrm>
            <a:off x="960120" y="393192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Multi-turn — follow-ups remember the context</a:t>
            </a:r>
            <a:endParaRPr lang="en-US" sz="1200" dirty="0"/>
          </a:p>
        </p:txBody>
      </p:sp>
      <p:sp>
        <p:nvSpPr>
          <p:cNvPr id="15" name="Shape 13"/>
          <p:cNvSpPr/>
          <p:nvPr/>
        </p:nvSpPr>
        <p:spPr>
          <a:xfrm>
            <a:off x="731520" y="4462272"/>
            <a:ext cx="91440" cy="91440"/>
          </a:xfrm>
          <a:prstGeom prst="ellipse">
            <a:avLst/>
          </a:prstGeom>
          <a:solidFill>
            <a:srgbClr val="0F766E"/>
          </a:solidFill>
          <a:ln w="12700">
            <a:solidFill>
              <a:srgbClr val="333333"/>
            </a:solidFill>
            <a:prstDash val="solid"/>
          </a:ln>
        </p:spPr>
        <p:txBody>
          <a:bodyPr/>
          <a:lstStyle/>
          <a:p>
            <a:endParaRPr lang="en-US"/>
          </a:p>
        </p:txBody>
      </p:sp>
      <p:sp>
        <p:nvSpPr>
          <p:cNvPr id="16" name="Text 14"/>
          <p:cNvSpPr/>
          <p:nvPr/>
        </p:nvSpPr>
        <p:spPr>
          <a:xfrm>
            <a:off x="960120" y="434340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Optional chart on quantitative answers</a:t>
            </a:r>
            <a:endParaRPr lang="en-US" sz="1200" dirty="0"/>
          </a:p>
        </p:txBody>
      </p:sp>
      <p:sp>
        <p:nvSpPr>
          <p:cNvPr id="17" name="Shape 15"/>
          <p:cNvSpPr/>
          <p:nvPr/>
        </p:nvSpPr>
        <p:spPr>
          <a:xfrm>
            <a:off x="731520" y="4873752"/>
            <a:ext cx="91440" cy="91440"/>
          </a:xfrm>
          <a:prstGeom prst="ellipse">
            <a:avLst/>
          </a:prstGeom>
          <a:solidFill>
            <a:srgbClr val="0F766E"/>
          </a:solidFill>
          <a:ln w="12700">
            <a:solidFill>
              <a:srgbClr val="333333"/>
            </a:solidFill>
            <a:prstDash val="solid"/>
          </a:ln>
        </p:spPr>
        <p:txBody>
          <a:bodyPr/>
          <a:lstStyle/>
          <a:p>
            <a:endParaRPr lang="en-US"/>
          </a:p>
        </p:txBody>
      </p:sp>
      <p:sp>
        <p:nvSpPr>
          <p:cNvPr id="18" name="Text 16"/>
          <p:cNvSpPr/>
          <p:nvPr/>
        </p:nvSpPr>
        <p:spPr>
          <a:xfrm>
            <a:off x="960120" y="475488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Excel download on every result</a:t>
            </a:r>
            <a:endParaRPr lang="en-US" sz="1200" dirty="0"/>
          </a:p>
        </p:txBody>
      </p:sp>
      <p:sp>
        <p:nvSpPr>
          <p:cNvPr id="19" name="Shape 17"/>
          <p:cNvSpPr/>
          <p:nvPr/>
        </p:nvSpPr>
        <p:spPr>
          <a:xfrm>
            <a:off x="731520" y="5285232"/>
            <a:ext cx="91440" cy="91440"/>
          </a:xfrm>
          <a:prstGeom prst="ellipse">
            <a:avLst/>
          </a:prstGeom>
          <a:solidFill>
            <a:srgbClr val="0F766E"/>
          </a:solidFill>
          <a:ln w="12700">
            <a:solidFill>
              <a:srgbClr val="333333"/>
            </a:solidFill>
            <a:prstDash val="solid"/>
          </a:ln>
        </p:spPr>
        <p:txBody>
          <a:bodyPr/>
          <a:lstStyle/>
          <a:p>
            <a:endParaRPr lang="en-US"/>
          </a:p>
        </p:txBody>
      </p:sp>
      <p:sp>
        <p:nvSpPr>
          <p:cNvPr id="20" name="Text 18"/>
          <p:cNvSpPr/>
          <p:nvPr/>
        </p:nvSpPr>
        <p:spPr>
          <a:xfrm>
            <a:off x="960120" y="516636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Answers in 15–20 seconds</a:t>
            </a:r>
            <a:endParaRPr lang="en-US" sz="1200" dirty="0"/>
          </a:p>
        </p:txBody>
      </p:sp>
      <p:sp>
        <p:nvSpPr>
          <p:cNvPr id="21" name="Shape 19"/>
          <p:cNvSpPr/>
          <p:nvPr/>
        </p:nvSpPr>
        <p:spPr>
          <a:xfrm>
            <a:off x="685800" y="5669280"/>
            <a:ext cx="5029200" cy="502920"/>
          </a:xfrm>
          <a:prstGeom prst="rect">
            <a:avLst/>
          </a:prstGeom>
          <a:solidFill>
            <a:srgbClr val="CCFBF1"/>
          </a:solidFill>
          <a:ln w="6350">
            <a:solidFill>
              <a:srgbClr val="CCFBF1"/>
            </a:solidFill>
            <a:prstDash val="solid"/>
          </a:ln>
        </p:spPr>
        <p:txBody>
          <a:bodyPr/>
          <a:lstStyle/>
          <a:p>
            <a:endParaRPr lang="en-US"/>
          </a:p>
        </p:txBody>
      </p:sp>
      <p:sp>
        <p:nvSpPr>
          <p:cNvPr id="22" name="Text 20"/>
          <p:cNvSpPr/>
          <p:nvPr/>
        </p:nvSpPr>
        <p:spPr>
          <a:xfrm>
            <a:off x="822960" y="5715000"/>
            <a:ext cx="4754880" cy="411480"/>
          </a:xfrm>
          <a:prstGeom prst="rect">
            <a:avLst/>
          </a:prstGeom>
          <a:noFill/>
          <a:ln/>
        </p:spPr>
        <p:txBody>
          <a:bodyPr wrap="square" lIns="0" tIns="0" rIns="0" bIns="0" rtlCol="0" anchor="ctr"/>
          <a:lstStyle/>
          <a:p>
            <a:pPr marL="0" indent="0">
              <a:buNone/>
            </a:pPr>
            <a:r>
              <a:rPr lang="en-US" sz="1150" i="1" dirty="0">
                <a:solidFill>
                  <a:srgbClr val="0F172A"/>
                </a:solidFill>
                <a:latin typeface="Calibri" pitchFamily="34" charset="0"/>
                <a:ea typeface="Calibri" pitchFamily="34" charset="-122"/>
                <a:cs typeface="Calibri" pitchFamily="34" charset="-120"/>
              </a:rPr>
              <a:t>Use chat when you don't know in advance what you'll need to look at.</a:t>
            </a:r>
            <a:endParaRPr lang="en-US" sz="1150" dirty="0"/>
          </a:p>
        </p:txBody>
      </p:sp>
      <p:sp>
        <p:nvSpPr>
          <p:cNvPr id="23" name="Shape 21"/>
          <p:cNvSpPr/>
          <p:nvPr/>
        </p:nvSpPr>
        <p:spPr>
          <a:xfrm>
            <a:off x="6126480" y="2011680"/>
            <a:ext cx="5486400" cy="4297680"/>
          </a:xfrm>
          <a:prstGeom prst="rect">
            <a:avLst/>
          </a:prstGeom>
          <a:solidFill>
            <a:srgbClr val="FFFFFF"/>
          </a:solidFill>
          <a:ln w="15240">
            <a:solidFill>
              <a:srgbClr val="1E293B"/>
            </a:solidFill>
            <a:prstDash val="solid"/>
          </a:ln>
        </p:spPr>
        <p:txBody>
          <a:bodyPr/>
          <a:lstStyle/>
          <a:p>
            <a:endParaRPr lang="en-US"/>
          </a:p>
        </p:txBody>
      </p:sp>
      <p:sp>
        <p:nvSpPr>
          <p:cNvPr id="24" name="Shape 22"/>
          <p:cNvSpPr/>
          <p:nvPr/>
        </p:nvSpPr>
        <p:spPr>
          <a:xfrm>
            <a:off x="6126480" y="2011680"/>
            <a:ext cx="64008" cy="4297680"/>
          </a:xfrm>
          <a:prstGeom prst="rect">
            <a:avLst/>
          </a:prstGeom>
          <a:solidFill>
            <a:srgbClr val="1E293B"/>
          </a:solidFill>
          <a:ln w="12700">
            <a:solidFill>
              <a:srgbClr val="333333"/>
            </a:solidFill>
            <a:prstDash val="solid"/>
          </a:ln>
        </p:spPr>
        <p:txBody>
          <a:bodyPr/>
          <a:lstStyle/>
          <a:p>
            <a:endParaRPr lang="en-US"/>
          </a:p>
        </p:txBody>
      </p:sp>
      <p:sp>
        <p:nvSpPr>
          <p:cNvPr id="25" name="Text 23"/>
          <p:cNvSpPr/>
          <p:nvPr/>
        </p:nvSpPr>
        <p:spPr>
          <a:xfrm>
            <a:off x="6355080" y="2148840"/>
            <a:ext cx="5029200" cy="274320"/>
          </a:xfrm>
          <a:prstGeom prst="rect">
            <a:avLst/>
          </a:prstGeom>
          <a:noFill/>
          <a:ln/>
        </p:spPr>
        <p:txBody>
          <a:bodyPr wrap="square" lIns="0" tIns="0" rIns="0" bIns="0" rtlCol="0" anchor="ctr"/>
          <a:lstStyle/>
          <a:p>
            <a:pPr marL="0" indent="0">
              <a:buNone/>
            </a:pPr>
            <a:r>
              <a:rPr lang="en-US" sz="1000" b="1" kern="0" spc="400" dirty="0">
                <a:solidFill>
                  <a:srgbClr val="1E293B"/>
                </a:solidFill>
                <a:latin typeface="Calibri" pitchFamily="34" charset="0"/>
                <a:ea typeface="Calibri" pitchFamily="34" charset="-122"/>
                <a:cs typeface="Calibri" pitchFamily="34" charset="-120"/>
              </a:rPr>
              <a:t>SURFACE 2</a:t>
            </a:r>
            <a:endParaRPr lang="en-US" sz="1000" dirty="0"/>
          </a:p>
        </p:txBody>
      </p:sp>
      <p:sp>
        <p:nvSpPr>
          <p:cNvPr id="26" name="Text 24"/>
          <p:cNvSpPr/>
          <p:nvPr/>
        </p:nvSpPr>
        <p:spPr>
          <a:xfrm>
            <a:off x="6355080" y="2423160"/>
            <a:ext cx="502920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Recommendations</a:t>
            </a:r>
            <a:endParaRPr lang="en-US" sz="2800" dirty="0"/>
          </a:p>
        </p:txBody>
      </p:sp>
      <p:sp>
        <p:nvSpPr>
          <p:cNvPr id="27" name="Text 25"/>
          <p:cNvSpPr/>
          <p:nvPr/>
        </p:nvSpPr>
        <p:spPr>
          <a:xfrm>
            <a:off x="6355080" y="3017520"/>
            <a:ext cx="502920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One-click weekly report</a:t>
            </a:r>
            <a:endParaRPr lang="en-US" sz="1300" dirty="0"/>
          </a:p>
        </p:txBody>
      </p:sp>
      <p:sp>
        <p:nvSpPr>
          <p:cNvPr id="28" name="Shape 26"/>
          <p:cNvSpPr/>
          <p:nvPr/>
        </p:nvSpPr>
        <p:spPr>
          <a:xfrm>
            <a:off x="6400800" y="3639312"/>
            <a:ext cx="91440" cy="91440"/>
          </a:xfrm>
          <a:prstGeom prst="ellipse">
            <a:avLst/>
          </a:prstGeom>
          <a:solidFill>
            <a:srgbClr val="1E293B"/>
          </a:solidFill>
          <a:ln w="12700">
            <a:solidFill>
              <a:srgbClr val="333333"/>
            </a:solidFill>
            <a:prstDash val="solid"/>
          </a:ln>
        </p:spPr>
        <p:txBody>
          <a:bodyPr/>
          <a:lstStyle/>
          <a:p>
            <a:endParaRPr lang="en-US"/>
          </a:p>
        </p:txBody>
      </p:sp>
      <p:sp>
        <p:nvSpPr>
          <p:cNvPr id="29" name="Text 27"/>
          <p:cNvSpPr/>
          <p:nvPr/>
        </p:nvSpPr>
        <p:spPr>
          <a:xfrm>
            <a:off x="6629400" y="352044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Same questions, same answers every time</a:t>
            </a:r>
            <a:endParaRPr lang="en-US" sz="1200" dirty="0"/>
          </a:p>
        </p:txBody>
      </p:sp>
      <p:sp>
        <p:nvSpPr>
          <p:cNvPr id="30" name="Shape 28"/>
          <p:cNvSpPr/>
          <p:nvPr/>
        </p:nvSpPr>
        <p:spPr>
          <a:xfrm>
            <a:off x="6400800" y="4050792"/>
            <a:ext cx="91440" cy="91440"/>
          </a:xfrm>
          <a:prstGeom prst="ellipse">
            <a:avLst/>
          </a:prstGeom>
          <a:solidFill>
            <a:srgbClr val="1E293B"/>
          </a:solidFill>
          <a:ln w="12700">
            <a:solidFill>
              <a:srgbClr val="333333"/>
            </a:solidFill>
            <a:prstDash val="solid"/>
          </a:ln>
        </p:spPr>
        <p:txBody>
          <a:bodyPr/>
          <a:lstStyle/>
          <a:p>
            <a:endParaRPr lang="en-US"/>
          </a:p>
        </p:txBody>
      </p:sp>
      <p:sp>
        <p:nvSpPr>
          <p:cNvPr id="31" name="Text 29"/>
          <p:cNvSpPr/>
          <p:nvPr/>
        </p:nvSpPr>
        <p:spPr>
          <a:xfrm>
            <a:off x="6629400" y="393192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Deterministic — no day-to-day drift</a:t>
            </a:r>
            <a:endParaRPr lang="en-US" sz="1200" dirty="0"/>
          </a:p>
        </p:txBody>
      </p:sp>
      <p:sp>
        <p:nvSpPr>
          <p:cNvPr id="32" name="Shape 30"/>
          <p:cNvSpPr/>
          <p:nvPr/>
        </p:nvSpPr>
        <p:spPr>
          <a:xfrm>
            <a:off x="6400800" y="4462272"/>
            <a:ext cx="91440" cy="91440"/>
          </a:xfrm>
          <a:prstGeom prst="ellipse">
            <a:avLst/>
          </a:prstGeom>
          <a:solidFill>
            <a:srgbClr val="1E293B"/>
          </a:solidFill>
          <a:ln w="12700">
            <a:solidFill>
              <a:srgbClr val="333333"/>
            </a:solidFill>
            <a:prstDash val="solid"/>
          </a:ln>
        </p:spPr>
        <p:txBody>
          <a:bodyPr/>
          <a:lstStyle/>
          <a:p>
            <a:endParaRPr lang="en-US"/>
          </a:p>
        </p:txBody>
      </p:sp>
      <p:sp>
        <p:nvSpPr>
          <p:cNvPr id="33" name="Text 31"/>
          <p:cNvSpPr/>
          <p:nvPr/>
        </p:nvSpPr>
        <p:spPr>
          <a:xfrm>
            <a:off x="6629400" y="434340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Ranked stocking and attention recommendations</a:t>
            </a:r>
            <a:endParaRPr lang="en-US" sz="1200" dirty="0"/>
          </a:p>
        </p:txBody>
      </p:sp>
      <p:sp>
        <p:nvSpPr>
          <p:cNvPr id="34" name="Shape 32"/>
          <p:cNvSpPr/>
          <p:nvPr/>
        </p:nvSpPr>
        <p:spPr>
          <a:xfrm>
            <a:off x="6400800" y="4873752"/>
            <a:ext cx="91440" cy="91440"/>
          </a:xfrm>
          <a:prstGeom prst="ellipse">
            <a:avLst/>
          </a:prstGeom>
          <a:solidFill>
            <a:srgbClr val="1E293B"/>
          </a:solidFill>
          <a:ln w="12700">
            <a:solidFill>
              <a:srgbClr val="333333"/>
            </a:solidFill>
            <a:prstDash val="solid"/>
          </a:ln>
        </p:spPr>
        <p:txBody>
          <a:bodyPr/>
          <a:lstStyle/>
          <a:p>
            <a:endParaRPr lang="en-US"/>
          </a:p>
        </p:txBody>
      </p:sp>
      <p:sp>
        <p:nvSpPr>
          <p:cNvPr id="35" name="Text 33"/>
          <p:cNvSpPr/>
          <p:nvPr/>
        </p:nvSpPr>
        <p:spPr>
          <a:xfrm>
            <a:off x="6629400" y="475488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Pre-built for the recurring Monday meeting</a:t>
            </a:r>
            <a:endParaRPr lang="en-US" sz="1200" dirty="0"/>
          </a:p>
        </p:txBody>
      </p:sp>
      <p:sp>
        <p:nvSpPr>
          <p:cNvPr id="36" name="Shape 34"/>
          <p:cNvSpPr/>
          <p:nvPr/>
        </p:nvSpPr>
        <p:spPr>
          <a:xfrm>
            <a:off x="6400800" y="5285232"/>
            <a:ext cx="91440" cy="91440"/>
          </a:xfrm>
          <a:prstGeom prst="ellipse">
            <a:avLst/>
          </a:prstGeom>
          <a:solidFill>
            <a:srgbClr val="1E293B"/>
          </a:solidFill>
          <a:ln w="12700">
            <a:solidFill>
              <a:srgbClr val="333333"/>
            </a:solidFill>
            <a:prstDash val="solid"/>
          </a:ln>
        </p:spPr>
        <p:txBody>
          <a:bodyPr/>
          <a:lstStyle/>
          <a:p>
            <a:endParaRPr lang="en-US"/>
          </a:p>
        </p:txBody>
      </p:sp>
      <p:sp>
        <p:nvSpPr>
          <p:cNvPr id="37" name="Text 35"/>
          <p:cNvSpPr/>
          <p:nvPr/>
        </p:nvSpPr>
        <p:spPr>
          <a:xfrm>
            <a:off x="6629400" y="5166360"/>
            <a:ext cx="484632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Available the moment data refreshes</a:t>
            </a:r>
            <a:endParaRPr lang="en-US" sz="1200" dirty="0"/>
          </a:p>
        </p:txBody>
      </p:sp>
      <p:sp>
        <p:nvSpPr>
          <p:cNvPr id="38" name="Shape 36"/>
          <p:cNvSpPr/>
          <p:nvPr/>
        </p:nvSpPr>
        <p:spPr>
          <a:xfrm>
            <a:off x="6355080" y="5669280"/>
            <a:ext cx="5029200" cy="502920"/>
          </a:xfrm>
          <a:prstGeom prst="rect">
            <a:avLst/>
          </a:prstGeom>
          <a:solidFill>
            <a:srgbClr val="F1F5F9"/>
          </a:solidFill>
          <a:ln w="6350">
            <a:solidFill>
              <a:srgbClr val="F1F5F9"/>
            </a:solidFill>
            <a:prstDash val="solid"/>
          </a:ln>
        </p:spPr>
        <p:txBody>
          <a:bodyPr/>
          <a:lstStyle/>
          <a:p>
            <a:endParaRPr lang="en-US"/>
          </a:p>
        </p:txBody>
      </p:sp>
      <p:sp>
        <p:nvSpPr>
          <p:cNvPr id="39" name="Text 37"/>
          <p:cNvSpPr/>
          <p:nvPr/>
        </p:nvSpPr>
        <p:spPr>
          <a:xfrm>
            <a:off x="6492240" y="5715000"/>
            <a:ext cx="4754880" cy="411480"/>
          </a:xfrm>
          <a:prstGeom prst="rect">
            <a:avLst/>
          </a:prstGeom>
          <a:noFill/>
          <a:ln/>
        </p:spPr>
        <p:txBody>
          <a:bodyPr wrap="square" lIns="0" tIns="0" rIns="0" bIns="0" rtlCol="0" anchor="ctr"/>
          <a:lstStyle/>
          <a:p>
            <a:pPr marL="0" indent="0">
              <a:buNone/>
            </a:pPr>
            <a:r>
              <a:rPr lang="en-US" sz="1150" i="1" dirty="0">
                <a:solidFill>
                  <a:srgbClr val="0F172A"/>
                </a:solidFill>
                <a:latin typeface="Calibri" pitchFamily="34" charset="0"/>
                <a:ea typeface="Calibri" pitchFamily="34" charset="-122"/>
                <a:cs typeface="Calibri" pitchFamily="34" charset="-120"/>
              </a:rPr>
              <a:t>Use recommendations for the questions you already ask every Monday.</a:t>
            </a:r>
            <a:endParaRPr lang="en-US" sz="1150" dirty="0"/>
          </a:p>
        </p:txBody>
      </p:sp>
      <p:sp>
        <p:nvSpPr>
          <p:cNvPr id="40" name="Text 38"/>
          <p:cNvSpPr/>
          <p:nvPr/>
        </p:nvSpPr>
        <p:spPr>
          <a:xfrm>
            <a:off x="457200" y="6400800"/>
            <a:ext cx="1124712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Most of you will live in Chat day-to-day, and pull Recommendations into the Monday meeting.</a:t>
            </a:r>
            <a:endParaRPr lang="en-US" sz="1200" dirty="0"/>
          </a:p>
        </p:txBody>
      </p:sp>
      <p:sp>
        <p:nvSpPr>
          <p:cNvPr id="41" name="Text 39"/>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15</a:t>
            </a:r>
            <a:endParaRPr lang="en-US" sz="900" dirty="0"/>
          </a:p>
        </p:txBody>
      </p:sp>
      <p:sp>
        <p:nvSpPr>
          <p:cNvPr id="42" name="Text 40"/>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EXAMPLE QUESTIONS</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What You Can Ask</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These are real questions you can paste in tomorrow morning.  Pick one, see what happens.</a:t>
            </a:r>
            <a:endParaRPr lang="en-US" sz="1300" dirty="0"/>
          </a:p>
        </p:txBody>
      </p:sp>
      <p:sp>
        <p:nvSpPr>
          <p:cNvPr id="6" name="Shape 4"/>
          <p:cNvSpPr/>
          <p:nvPr/>
        </p:nvSpPr>
        <p:spPr>
          <a:xfrm>
            <a:off x="457200" y="2057400"/>
            <a:ext cx="3657600" cy="420624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2057400"/>
            <a:ext cx="64008" cy="4206240"/>
          </a:xfrm>
          <a:prstGeom prst="rect">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640080" y="2194560"/>
            <a:ext cx="3383280" cy="365760"/>
          </a:xfrm>
          <a:prstGeom prst="rect">
            <a:avLst/>
          </a:prstGeom>
          <a:noFill/>
          <a:ln/>
        </p:spPr>
        <p:txBody>
          <a:bodyPr wrap="square" lIns="0" tIns="0" rIns="0" bIns="0" rtlCol="0" anchor="ctr"/>
          <a:lstStyle/>
          <a:p>
            <a:pPr marL="0" indent="0">
              <a:buNone/>
            </a:pPr>
            <a:r>
              <a:rPr lang="en-US" sz="1000" b="1" kern="0" spc="300" dirty="0">
                <a:solidFill>
                  <a:srgbClr val="0F766E"/>
                </a:solidFill>
                <a:latin typeface="Calibri" pitchFamily="34" charset="0"/>
                <a:ea typeface="Calibri" pitchFamily="34" charset="-122"/>
                <a:cs typeface="Calibri" pitchFamily="34" charset="-120"/>
              </a:rPr>
              <a:t>DAILY  ·  WHAT JUST HAPPENED</a:t>
            </a:r>
            <a:endParaRPr lang="en-US" sz="1000" dirty="0"/>
          </a:p>
        </p:txBody>
      </p:sp>
      <p:sp>
        <p:nvSpPr>
          <p:cNvPr id="9" name="Text 7"/>
          <p:cNvSpPr/>
          <p:nvPr/>
        </p:nvSpPr>
        <p:spPr>
          <a:xfrm>
            <a:off x="640080" y="2697480"/>
            <a:ext cx="365760" cy="457200"/>
          </a:xfrm>
          <a:prstGeom prst="rect">
            <a:avLst/>
          </a:prstGeom>
          <a:noFill/>
          <a:ln/>
        </p:spPr>
        <p:txBody>
          <a:bodyPr wrap="square" lIns="0" tIns="0" rIns="0" bIns="0" rtlCol="0" anchor="ctr"/>
          <a:lstStyle/>
          <a:p>
            <a:pPr marL="0" indent="0">
              <a:buNone/>
            </a:pPr>
            <a:r>
              <a:rPr lang="en-US" sz="2800" dirty="0">
                <a:solidFill>
                  <a:srgbClr val="0F766E"/>
                </a:solidFill>
                <a:latin typeface="Georgia" pitchFamily="34" charset="0"/>
                <a:ea typeface="Georgia" pitchFamily="34" charset="-122"/>
                <a:cs typeface="Georgia" pitchFamily="34" charset="-120"/>
              </a:rPr>
              <a:t>“</a:t>
            </a:r>
            <a:endParaRPr lang="en-US" sz="2800" dirty="0"/>
          </a:p>
        </p:txBody>
      </p:sp>
      <p:sp>
        <p:nvSpPr>
          <p:cNvPr id="10" name="Text 8"/>
          <p:cNvSpPr/>
          <p:nvPr/>
        </p:nvSpPr>
        <p:spPr>
          <a:xfrm>
            <a:off x="914400" y="2743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What's the top reason at X3 yesterday?</a:t>
            </a:r>
            <a:endParaRPr lang="en-US" sz="1200" dirty="0"/>
          </a:p>
        </p:txBody>
      </p:sp>
      <p:sp>
        <p:nvSpPr>
          <p:cNvPr id="11" name="Text 9"/>
          <p:cNvSpPr/>
          <p:nvPr/>
        </p:nvSpPr>
        <p:spPr>
          <a:xfrm>
            <a:off x="640080" y="3840480"/>
            <a:ext cx="365760" cy="457200"/>
          </a:xfrm>
          <a:prstGeom prst="rect">
            <a:avLst/>
          </a:prstGeom>
          <a:noFill/>
          <a:ln/>
        </p:spPr>
        <p:txBody>
          <a:bodyPr wrap="square" lIns="0" tIns="0" rIns="0" bIns="0" rtlCol="0" anchor="ctr"/>
          <a:lstStyle/>
          <a:p>
            <a:pPr marL="0" indent="0">
              <a:buNone/>
            </a:pPr>
            <a:r>
              <a:rPr lang="en-US" sz="2800" dirty="0">
                <a:solidFill>
                  <a:srgbClr val="0F766E"/>
                </a:solidFill>
                <a:latin typeface="Georgia" pitchFamily="34" charset="0"/>
                <a:ea typeface="Georgia" pitchFamily="34" charset="-122"/>
                <a:cs typeface="Georgia" pitchFamily="34" charset="-120"/>
              </a:rPr>
              <a:t>“</a:t>
            </a:r>
            <a:endParaRPr lang="en-US" sz="2800" dirty="0"/>
          </a:p>
        </p:txBody>
      </p:sp>
      <p:sp>
        <p:nvSpPr>
          <p:cNvPr id="12" name="Text 10"/>
          <p:cNvSpPr/>
          <p:nvPr/>
        </p:nvSpPr>
        <p:spPr>
          <a:xfrm>
            <a:off x="914400" y="3886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Any new spike in price complaints today?</a:t>
            </a:r>
            <a:endParaRPr lang="en-US" sz="1200" dirty="0"/>
          </a:p>
        </p:txBody>
      </p:sp>
      <p:sp>
        <p:nvSpPr>
          <p:cNvPr id="13" name="Text 11"/>
          <p:cNvSpPr/>
          <p:nvPr/>
        </p:nvSpPr>
        <p:spPr>
          <a:xfrm>
            <a:off x="640080" y="4983480"/>
            <a:ext cx="365760" cy="457200"/>
          </a:xfrm>
          <a:prstGeom prst="rect">
            <a:avLst/>
          </a:prstGeom>
          <a:noFill/>
          <a:ln/>
        </p:spPr>
        <p:txBody>
          <a:bodyPr wrap="square" lIns="0" tIns="0" rIns="0" bIns="0" rtlCol="0" anchor="ctr"/>
          <a:lstStyle/>
          <a:p>
            <a:pPr marL="0" indent="0">
              <a:buNone/>
            </a:pPr>
            <a:r>
              <a:rPr lang="en-US" sz="2800" dirty="0">
                <a:solidFill>
                  <a:srgbClr val="0F766E"/>
                </a:solidFill>
                <a:latin typeface="Georgia" pitchFamily="34" charset="0"/>
                <a:ea typeface="Georgia" pitchFamily="34" charset="-122"/>
                <a:cs typeface="Georgia" pitchFamily="34" charset="-120"/>
              </a:rPr>
              <a:t>“</a:t>
            </a:r>
            <a:endParaRPr lang="en-US" sz="2800" dirty="0"/>
          </a:p>
        </p:txBody>
      </p:sp>
      <p:sp>
        <p:nvSpPr>
          <p:cNvPr id="14" name="Text 12"/>
          <p:cNvSpPr/>
          <p:nvPr/>
        </p:nvSpPr>
        <p:spPr>
          <a:xfrm>
            <a:off x="914400" y="5029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Walk-aways at X5 in the last 24 hours — broken down by reason.</a:t>
            </a:r>
            <a:endParaRPr lang="en-US" sz="1200" dirty="0"/>
          </a:p>
        </p:txBody>
      </p:sp>
      <p:sp>
        <p:nvSpPr>
          <p:cNvPr id="15" name="Shape 13"/>
          <p:cNvSpPr/>
          <p:nvPr/>
        </p:nvSpPr>
        <p:spPr>
          <a:xfrm>
            <a:off x="4297680" y="2057400"/>
            <a:ext cx="3657600" cy="4206240"/>
          </a:xfrm>
          <a:prstGeom prst="rect">
            <a:avLst/>
          </a:prstGeom>
          <a:solidFill>
            <a:srgbClr val="F8FAFC"/>
          </a:solidFill>
          <a:ln w="9525">
            <a:solidFill>
              <a:srgbClr val="E2E8F0"/>
            </a:solidFill>
            <a:prstDash val="solid"/>
          </a:ln>
        </p:spPr>
        <p:txBody>
          <a:bodyPr/>
          <a:lstStyle/>
          <a:p>
            <a:endParaRPr lang="en-US"/>
          </a:p>
        </p:txBody>
      </p:sp>
      <p:sp>
        <p:nvSpPr>
          <p:cNvPr id="16" name="Shape 14"/>
          <p:cNvSpPr/>
          <p:nvPr/>
        </p:nvSpPr>
        <p:spPr>
          <a:xfrm>
            <a:off x="4297680" y="2057400"/>
            <a:ext cx="64008" cy="4206240"/>
          </a:xfrm>
          <a:prstGeom prst="rect">
            <a:avLst/>
          </a:prstGeom>
          <a:solidFill>
            <a:srgbClr val="B45309"/>
          </a:solidFill>
          <a:ln w="12700">
            <a:solidFill>
              <a:srgbClr val="333333"/>
            </a:solidFill>
            <a:prstDash val="solid"/>
          </a:ln>
        </p:spPr>
        <p:txBody>
          <a:bodyPr/>
          <a:lstStyle/>
          <a:p>
            <a:endParaRPr lang="en-US"/>
          </a:p>
        </p:txBody>
      </p:sp>
      <p:sp>
        <p:nvSpPr>
          <p:cNvPr id="17" name="Text 15"/>
          <p:cNvSpPr/>
          <p:nvPr/>
        </p:nvSpPr>
        <p:spPr>
          <a:xfrm>
            <a:off x="4480560" y="2194560"/>
            <a:ext cx="3383280" cy="365760"/>
          </a:xfrm>
          <a:prstGeom prst="rect">
            <a:avLst/>
          </a:prstGeom>
          <a:noFill/>
          <a:ln/>
        </p:spPr>
        <p:txBody>
          <a:bodyPr wrap="square" lIns="0" tIns="0" rIns="0" bIns="0" rtlCol="0" anchor="ctr"/>
          <a:lstStyle/>
          <a:p>
            <a:pPr marL="0" indent="0">
              <a:buNone/>
            </a:pPr>
            <a:r>
              <a:rPr lang="en-US" sz="1000" b="1" kern="0" spc="300" dirty="0">
                <a:solidFill>
                  <a:srgbClr val="B45309"/>
                </a:solidFill>
                <a:latin typeface="Calibri" pitchFamily="34" charset="0"/>
                <a:ea typeface="Calibri" pitchFamily="34" charset="-122"/>
                <a:cs typeface="Calibri" pitchFamily="34" charset="-120"/>
              </a:rPr>
              <a:t>WEEKLY  ·  PATTERNS AND TRENDS</a:t>
            </a:r>
            <a:endParaRPr lang="en-US" sz="1000" dirty="0"/>
          </a:p>
        </p:txBody>
      </p:sp>
      <p:sp>
        <p:nvSpPr>
          <p:cNvPr id="18" name="Text 16"/>
          <p:cNvSpPr/>
          <p:nvPr/>
        </p:nvSpPr>
        <p:spPr>
          <a:xfrm>
            <a:off x="4480560" y="2697480"/>
            <a:ext cx="365760" cy="457200"/>
          </a:xfrm>
          <a:prstGeom prst="rect">
            <a:avLst/>
          </a:prstGeom>
          <a:noFill/>
          <a:ln/>
        </p:spPr>
        <p:txBody>
          <a:bodyPr wrap="square" lIns="0" tIns="0" rIns="0" bIns="0" rtlCol="0" anchor="ctr"/>
          <a:lstStyle/>
          <a:p>
            <a:pPr marL="0" indent="0">
              <a:buNone/>
            </a:pPr>
            <a:r>
              <a:rPr lang="en-US" sz="2800" dirty="0">
                <a:solidFill>
                  <a:srgbClr val="B45309"/>
                </a:solidFill>
                <a:latin typeface="Georgia" pitchFamily="34" charset="0"/>
                <a:ea typeface="Georgia" pitchFamily="34" charset="-122"/>
                <a:cs typeface="Georgia" pitchFamily="34" charset="-120"/>
              </a:rPr>
              <a:t>“</a:t>
            </a:r>
            <a:endParaRPr lang="en-US" sz="2800" dirty="0"/>
          </a:p>
        </p:txBody>
      </p:sp>
      <p:sp>
        <p:nvSpPr>
          <p:cNvPr id="19" name="Text 17"/>
          <p:cNvSpPr/>
          <p:nvPr/>
        </p:nvSpPr>
        <p:spPr>
          <a:xfrm>
            <a:off x="4754880" y="2743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Top three reasons across all six stores last week.</a:t>
            </a:r>
            <a:endParaRPr lang="en-US" sz="1200" dirty="0"/>
          </a:p>
        </p:txBody>
      </p:sp>
      <p:sp>
        <p:nvSpPr>
          <p:cNvPr id="20" name="Text 18"/>
          <p:cNvSpPr/>
          <p:nvPr/>
        </p:nvSpPr>
        <p:spPr>
          <a:xfrm>
            <a:off x="4480560" y="3840480"/>
            <a:ext cx="365760" cy="457200"/>
          </a:xfrm>
          <a:prstGeom prst="rect">
            <a:avLst/>
          </a:prstGeom>
          <a:noFill/>
          <a:ln/>
        </p:spPr>
        <p:txBody>
          <a:bodyPr wrap="square" lIns="0" tIns="0" rIns="0" bIns="0" rtlCol="0" anchor="ctr"/>
          <a:lstStyle/>
          <a:p>
            <a:pPr marL="0" indent="0">
              <a:buNone/>
            </a:pPr>
            <a:r>
              <a:rPr lang="en-US" sz="2800" dirty="0">
                <a:solidFill>
                  <a:srgbClr val="B45309"/>
                </a:solidFill>
                <a:latin typeface="Georgia" pitchFamily="34" charset="0"/>
                <a:ea typeface="Georgia" pitchFamily="34" charset="-122"/>
                <a:cs typeface="Georgia" pitchFamily="34" charset="-120"/>
              </a:rPr>
              <a:t>“</a:t>
            </a:r>
            <a:endParaRPr lang="en-US" sz="2800" dirty="0"/>
          </a:p>
        </p:txBody>
      </p:sp>
      <p:sp>
        <p:nvSpPr>
          <p:cNvPr id="21" name="Text 19"/>
          <p:cNvSpPr/>
          <p:nvPr/>
        </p:nvSpPr>
        <p:spPr>
          <a:xfrm>
            <a:off x="4754880" y="3886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Has size unavailability changed at X2 since Monday?</a:t>
            </a:r>
            <a:endParaRPr lang="en-US" sz="1200" dirty="0"/>
          </a:p>
        </p:txBody>
      </p:sp>
      <p:sp>
        <p:nvSpPr>
          <p:cNvPr id="22" name="Text 20"/>
          <p:cNvSpPr/>
          <p:nvPr/>
        </p:nvSpPr>
        <p:spPr>
          <a:xfrm>
            <a:off x="4480560" y="4983480"/>
            <a:ext cx="365760" cy="457200"/>
          </a:xfrm>
          <a:prstGeom prst="rect">
            <a:avLst/>
          </a:prstGeom>
          <a:noFill/>
          <a:ln/>
        </p:spPr>
        <p:txBody>
          <a:bodyPr wrap="square" lIns="0" tIns="0" rIns="0" bIns="0" rtlCol="0" anchor="ctr"/>
          <a:lstStyle/>
          <a:p>
            <a:pPr marL="0" indent="0">
              <a:buNone/>
            </a:pPr>
            <a:r>
              <a:rPr lang="en-US" sz="2800" dirty="0">
                <a:solidFill>
                  <a:srgbClr val="B45309"/>
                </a:solidFill>
                <a:latin typeface="Georgia" pitchFamily="34" charset="0"/>
                <a:ea typeface="Georgia" pitchFamily="34" charset="-122"/>
                <a:cs typeface="Georgia" pitchFamily="34" charset="-120"/>
              </a:rPr>
              <a:t>“</a:t>
            </a:r>
            <a:endParaRPr lang="en-US" sz="2800" dirty="0"/>
          </a:p>
        </p:txBody>
      </p:sp>
      <p:sp>
        <p:nvSpPr>
          <p:cNvPr id="23" name="Text 21"/>
          <p:cNvSpPr/>
          <p:nvPr/>
        </p:nvSpPr>
        <p:spPr>
          <a:xfrm>
            <a:off x="4754880" y="5029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Compare design issues at X1 and X4 over the last 30 days.</a:t>
            </a:r>
            <a:endParaRPr lang="en-US" sz="1200" dirty="0"/>
          </a:p>
        </p:txBody>
      </p:sp>
      <p:sp>
        <p:nvSpPr>
          <p:cNvPr id="24" name="Shape 22"/>
          <p:cNvSpPr/>
          <p:nvPr/>
        </p:nvSpPr>
        <p:spPr>
          <a:xfrm>
            <a:off x="8138160" y="2057400"/>
            <a:ext cx="3657600" cy="4206240"/>
          </a:xfrm>
          <a:prstGeom prst="rect">
            <a:avLst/>
          </a:prstGeom>
          <a:solidFill>
            <a:srgbClr val="F8FAFC"/>
          </a:solidFill>
          <a:ln w="9525">
            <a:solidFill>
              <a:srgbClr val="E2E8F0"/>
            </a:solidFill>
            <a:prstDash val="solid"/>
          </a:ln>
        </p:spPr>
        <p:txBody>
          <a:bodyPr/>
          <a:lstStyle/>
          <a:p>
            <a:endParaRPr lang="en-US"/>
          </a:p>
        </p:txBody>
      </p:sp>
      <p:sp>
        <p:nvSpPr>
          <p:cNvPr id="25" name="Shape 23"/>
          <p:cNvSpPr/>
          <p:nvPr/>
        </p:nvSpPr>
        <p:spPr>
          <a:xfrm>
            <a:off x="8138160" y="2057400"/>
            <a:ext cx="64008" cy="4206240"/>
          </a:xfrm>
          <a:prstGeom prst="rect">
            <a:avLst/>
          </a:prstGeom>
          <a:solidFill>
            <a:srgbClr val="1E293B"/>
          </a:solidFill>
          <a:ln w="12700">
            <a:solidFill>
              <a:srgbClr val="333333"/>
            </a:solidFill>
            <a:prstDash val="solid"/>
          </a:ln>
        </p:spPr>
        <p:txBody>
          <a:bodyPr/>
          <a:lstStyle/>
          <a:p>
            <a:endParaRPr lang="en-US"/>
          </a:p>
        </p:txBody>
      </p:sp>
      <p:sp>
        <p:nvSpPr>
          <p:cNvPr id="26" name="Text 24"/>
          <p:cNvSpPr/>
          <p:nvPr/>
        </p:nvSpPr>
        <p:spPr>
          <a:xfrm>
            <a:off x="8321040" y="2194560"/>
            <a:ext cx="3383280" cy="365760"/>
          </a:xfrm>
          <a:prstGeom prst="rect">
            <a:avLst/>
          </a:prstGeom>
          <a:noFill/>
          <a:ln/>
        </p:spPr>
        <p:txBody>
          <a:bodyPr wrap="square" lIns="0" tIns="0" rIns="0" bIns="0" rtlCol="0" anchor="ctr"/>
          <a:lstStyle/>
          <a:p>
            <a:pPr marL="0" indent="0">
              <a:buNone/>
            </a:pPr>
            <a:r>
              <a:rPr lang="en-US" sz="1000" b="1" kern="0" spc="300" dirty="0">
                <a:solidFill>
                  <a:srgbClr val="1E293B"/>
                </a:solidFill>
                <a:latin typeface="Calibri" pitchFamily="34" charset="0"/>
                <a:ea typeface="Calibri" pitchFamily="34" charset="-122"/>
                <a:cs typeface="Calibri" pitchFamily="34" charset="-120"/>
              </a:rPr>
              <a:t>MONTHLY  ·  STOCKING DECISIONS</a:t>
            </a:r>
            <a:endParaRPr lang="en-US" sz="1000" dirty="0"/>
          </a:p>
        </p:txBody>
      </p:sp>
      <p:sp>
        <p:nvSpPr>
          <p:cNvPr id="27" name="Text 25"/>
          <p:cNvSpPr/>
          <p:nvPr/>
        </p:nvSpPr>
        <p:spPr>
          <a:xfrm>
            <a:off x="8321040" y="2697480"/>
            <a:ext cx="365760" cy="457200"/>
          </a:xfrm>
          <a:prstGeom prst="rect">
            <a:avLst/>
          </a:prstGeom>
          <a:noFill/>
          <a:ln/>
        </p:spPr>
        <p:txBody>
          <a:bodyPr wrap="square" lIns="0" tIns="0" rIns="0" bIns="0" rtlCol="0" anchor="ctr"/>
          <a:lstStyle/>
          <a:p>
            <a:pPr marL="0" indent="0">
              <a:buNone/>
            </a:pPr>
            <a:r>
              <a:rPr lang="en-US" sz="2800" dirty="0">
                <a:solidFill>
                  <a:srgbClr val="1E293B"/>
                </a:solidFill>
                <a:latin typeface="Georgia" pitchFamily="34" charset="0"/>
                <a:ea typeface="Georgia" pitchFamily="34" charset="-122"/>
                <a:cs typeface="Georgia" pitchFamily="34" charset="-120"/>
              </a:rPr>
              <a:t>“</a:t>
            </a:r>
            <a:endParaRPr lang="en-US" sz="2800" dirty="0"/>
          </a:p>
        </p:txBody>
      </p:sp>
      <p:sp>
        <p:nvSpPr>
          <p:cNvPr id="28" name="Text 26"/>
          <p:cNvSpPr/>
          <p:nvPr/>
        </p:nvSpPr>
        <p:spPr>
          <a:xfrm>
            <a:off x="8595360" y="2743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What products were customers looking for that we didn't have at X2?</a:t>
            </a:r>
            <a:endParaRPr lang="en-US" sz="1200" dirty="0"/>
          </a:p>
        </p:txBody>
      </p:sp>
      <p:sp>
        <p:nvSpPr>
          <p:cNvPr id="29" name="Text 27"/>
          <p:cNvSpPr/>
          <p:nvPr/>
        </p:nvSpPr>
        <p:spPr>
          <a:xfrm>
            <a:off x="8321040" y="3840480"/>
            <a:ext cx="365760" cy="457200"/>
          </a:xfrm>
          <a:prstGeom prst="rect">
            <a:avLst/>
          </a:prstGeom>
          <a:noFill/>
          <a:ln/>
        </p:spPr>
        <p:txBody>
          <a:bodyPr wrap="square" lIns="0" tIns="0" rIns="0" bIns="0" rtlCol="0" anchor="ctr"/>
          <a:lstStyle/>
          <a:p>
            <a:pPr marL="0" indent="0">
              <a:buNone/>
            </a:pPr>
            <a:r>
              <a:rPr lang="en-US" sz="2800" dirty="0">
                <a:solidFill>
                  <a:srgbClr val="1E293B"/>
                </a:solidFill>
                <a:latin typeface="Georgia" pitchFamily="34" charset="0"/>
                <a:ea typeface="Georgia" pitchFamily="34" charset="-122"/>
                <a:cs typeface="Georgia" pitchFamily="34" charset="-120"/>
              </a:rPr>
              <a:t>“</a:t>
            </a:r>
            <a:endParaRPr lang="en-US" sz="2800" dirty="0"/>
          </a:p>
        </p:txBody>
      </p:sp>
      <p:sp>
        <p:nvSpPr>
          <p:cNvPr id="30" name="Text 28"/>
          <p:cNvSpPr/>
          <p:nvPr/>
        </p:nvSpPr>
        <p:spPr>
          <a:xfrm>
            <a:off x="8595360" y="3886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Which attribute values get the most weight complaints overall?</a:t>
            </a:r>
            <a:endParaRPr lang="en-US" sz="1200" dirty="0"/>
          </a:p>
        </p:txBody>
      </p:sp>
      <p:sp>
        <p:nvSpPr>
          <p:cNvPr id="31" name="Text 29"/>
          <p:cNvSpPr/>
          <p:nvPr/>
        </p:nvSpPr>
        <p:spPr>
          <a:xfrm>
            <a:off x="8321040" y="4983480"/>
            <a:ext cx="365760" cy="457200"/>
          </a:xfrm>
          <a:prstGeom prst="rect">
            <a:avLst/>
          </a:prstGeom>
          <a:noFill/>
          <a:ln/>
        </p:spPr>
        <p:txBody>
          <a:bodyPr wrap="square" lIns="0" tIns="0" rIns="0" bIns="0" rtlCol="0" anchor="ctr"/>
          <a:lstStyle/>
          <a:p>
            <a:pPr marL="0" indent="0">
              <a:buNone/>
            </a:pPr>
            <a:r>
              <a:rPr lang="en-US" sz="2800" dirty="0">
                <a:solidFill>
                  <a:srgbClr val="1E293B"/>
                </a:solidFill>
                <a:latin typeface="Georgia" pitchFamily="34" charset="0"/>
                <a:ea typeface="Georgia" pitchFamily="34" charset="-122"/>
                <a:cs typeface="Georgia" pitchFamily="34" charset="-120"/>
              </a:rPr>
              <a:t>“</a:t>
            </a:r>
            <a:endParaRPr lang="en-US" sz="2800" dirty="0"/>
          </a:p>
        </p:txBody>
      </p:sp>
      <p:sp>
        <p:nvSpPr>
          <p:cNvPr id="32" name="Text 30"/>
          <p:cNvSpPr/>
          <p:nvPr/>
        </p:nvSpPr>
        <p:spPr>
          <a:xfrm>
            <a:off x="8595360" y="5029200"/>
            <a:ext cx="3108960" cy="100584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Did the action we took at X1 last month change anything?</a:t>
            </a:r>
            <a:endParaRPr lang="en-US" sz="1200" dirty="0"/>
          </a:p>
        </p:txBody>
      </p:sp>
      <p:sp>
        <p:nvSpPr>
          <p:cNvPr id="33" name="Shape 31"/>
          <p:cNvSpPr/>
          <p:nvPr/>
        </p:nvSpPr>
        <p:spPr>
          <a:xfrm>
            <a:off x="457200" y="6400800"/>
            <a:ext cx="11247120" cy="228600"/>
          </a:xfrm>
          <a:prstGeom prst="rect">
            <a:avLst/>
          </a:prstGeom>
          <a:solidFill>
            <a:srgbClr val="CCFBF1"/>
          </a:solidFill>
          <a:ln w="6350">
            <a:solidFill>
              <a:srgbClr val="0F766E"/>
            </a:solidFill>
            <a:prstDash val="solid"/>
          </a:ln>
        </p:spPr>
        <p:txBody>
          <a:bodyPr/>
          <a:lstStyle/>
          <a:p>
            <a:endParaRPr lang="en-US"/>
          </a:p>
        </p:txBody>
      </p:sp>
      <p:sp>
        <p:nvSpPr>
          <p:cNvPr id="34" name="Text 32"/>
          <p:cNvSpPr/>
          <p:nvPr/>
        </p:nvSpPr>
        <p:spPr>
          <a:xfrm>
            <a:off x="640080" y="6419088"/>
            <a:ext cx="10972800" cy="201168"/>
          </a:xfrm>
          <a:prstGeom prst="rect">
            <a:avLst/>
          </a:prstGeom>
          <a:noFill/>
          <a:ln/>
        </p:spPr>
        <p:txBody>
          <a:bodyPr wrap="square" lIns="0" tIns="0" rIns="0" bIns="0" rtlCol="0" anchor="ctr"/>
          <a:lstStyle/>
          <a:p>
            <a:pPr marL="0" indent="0">
              <a:buNone/>
            </a:pPr>
            <a:r>
              <a:rPr lang="en-US" sz="1050" b="1" dirty="0">
                <a:solidFill>
                  <a:srgbClr val="0F766E"/>
                </a:solidFill>
                <a:latin typeface="Calibri" pitchFamily="34" charset="0"/>
                <a:ea typeface="Calibri" pitchFamily="34" charset="-122"/>
                <a:cs typeface="Calibri" pitchFamily="34" charset="-120"/>
              </a:rPr>
              <a:t>Pro tip:  </a:t>
            </a:r>
            <a:r>
              <a:rPr lang="en-US" sz="1050" i="1" dirty="0">
                <a:solidFill>
                  <a:srgbClr val="334155"/>
                </a:solidFill>
                <a:latin typeface="Calibri" pitchFamily="34" charset="0"/>
                <a:ea typeface="Calibri" pitchFamily="34" charset="-122"/>
                <a:cs typeface="Calibri" pitchFamily="34" charset="-120"/>
              </a:rPr>
              <a:t>if your first question is too vague, the system asks you to clarify rather than guess.  That is on purpose.</a:t>
            </a:r>
            <a:endParaRPr lang="en-US" sz="1050" dirty="0"/>
          </a:p>
        </p:txBody>
      </p:sp>
      <p:sp>
        <p:nvSpPr>
          <p:cNvPr id="35" name="Text 33"/>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15</a:t>
            </a:r>
            <a:endParaRPr lang="en-US" sz="900" dirty="0"/>
          </a:p>
        </p:txBody>
      </p:sp>
      <p:sp>
        <p:nvSpPr>
          <p:cNvPr id="36" name="Text 34"/>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HOW ONE QUESTION BECOMES ONE ANSWER</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A Complete Example  ·  End to End</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Shape 3"/>
          <p:cNvSpPr/>
          <p:nvPr/>
        </p:nvSpPr>
        <p:spPr>
          <a:xfrm>
            <a:off x="457200" y="1463040"/>
            <a:ext cx="6858000" cy="5029200"/>
          </a:xfrm>
          <a:prstGeom prst="rect">
            <a:avLst/>
          </a:prstGeom>
          <a:solidFill>
            <a:srgbClr val="F8FAFC"/>
          </a:solidFill>
          <a:ln w="9525">
            <a:solidFill>
              <a:srgbClr val="E2E8F0"/>
            </a:solidFill>
            <a:prstDash val="solid"/>
          </a:ln>
        </p:spPr>
        <p:txBody>
          <a:bodyPr/>
          <a:lstStyle/>
          <a:p>
            <a:endParaRPr lang="en-US"/>
          </a:p>
        </p:txBody>
      </p:sp>
      <p:sp>
        <p:nvSpPr>
          <p:cNvPr id="6" name="Shape 4"/>
          <p:cNvSpPr/>
          <p:nvPr/>
        </p:nvSpPr>
        <p:spPr>
          <a:xfrm>
            <a:off x="457200" y="1463040"/>
            <a:ext cx="6858000" cy="365760"/>
          </a:xfrm>
          <a:prstGeom prst="rect">
            <a:avLst/>
          </a:prstGeom>
          <a:solidFill>
            <a:srgbClr val="1E293B"/>
          </a:solidFill>
          <a:ln w="9525">
            <a:solidFill>
              <a:srgbClr val="1E293B"/>
            </a:solidFill>
            <a:prstDash val="solid"/>
          </a:ln>
        </p:spPr>
        <p:txBody>
          <a:bodyPr/>
          <a:lstStyle/>
          <a:p>
            <a:endParaRPr lang="en-US"/>
          </a:p>
        </p:txBody>
      </p:sp>
      <p:sp>
        <p:nvSpPr>
          <p:cNvPr id="7" name="Text 5"/>
          <p:cNvSpPr/>
          <p:nvPr/>
        </p:nvSpPr>
        <p:spPr>
          <a:xfrm>
            <a:off x="640080" y="1508760"/>
            <a:ext cx="64922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Merchandising AI  ·  Chat</a:t>
            </a:r>
            <a:endParaRPr lang="en-US" sz="1100" dirty="0"/>
          </a:p>
        </p:txBody>
      </p:sp>
      <p:sp>
        <p:nvSpPr>
          <p:cNvPr id="8" name="Shape 6"/>
          <p:cNvSpPr/>
          <p:nvPr/>
        </p:nvSpPr>
        <p:spPr>
          <a:xfrm>
            <a:off x="2651760" y="1965960"/>
            <a:ext cx="4480560" cy="411480"/>
          </a:xfrm>
          <a:prstGeom prst="roundRect">
            <a:avLst>
              <a:gd name="adj" fmla="val 22222"/>
            </a:avLst>
          </a:prstGeom>
          <a:solidFill>
            <a:srgbClr val="EFF6FF"/>
          </a:solidFill>
          <a:ln w="6350">
            <a:solidFill>
              <a:srgbClr val="DBEAFE"/>
            </a:solidFill>
            <a:prstDash val="solid"/>
          </a:ln>
        </p:spPr>
        <p:txBody>
          <a:bodyPr/>
          <a:lstStyle/>
          <a:p>
            <a:endParaRPr lang="en-US"/>
          </a:p>
        </p:txBody>
      </p:sp>
      <p:sp>
        <p:nvSpPr>
          <p:cNvPr id="9" name="Text 7"/>
          <p:cNvSpPr/>
          <p:nvPr/>
        </p:nvSpPr>
        <p:spPr>
          <a:xfrm>
            <a:off x="2743200" y="2029968"/>
            <a:ext cx="4297680" cy="292608"/>
          </a:xfrm>
          <a:prstGeom prst="rect">
            <a:avLst/>
          </a:prstGeom>
          <a:noFill/>
          <a:ln/>
        </p:spPr>
        <p:txBody>
          <a:bodyPr wrap="square" lIns="0" tIns="0" rIns="0" bIns="0" rtlCol="0" anchor="ctr"/>
          <a:lstStyle/>
          <a:p>
            <a:pPr marL="0" indent="0">
              <a:buNone/>
            </a:pPr>
            <a:r>
              <a:rPr lang="en-US" sz="1200" dirty="0">
                <a:solidFill>
                  <a:srgbClr val="1E3A8A"/>
                </a:solidFill>
                <a:latin typeface="Calibri" pitchFamily="34" charset="0"/>
                <a:ea typeface="Calibri" pitchFamily="34" charset="-122"/>
                <a:cs typeface="Calibri" pitchFamily="34" charset="-120"/>
              </a:rPr>
              <a:t>What should we stock more at X2?</a:t>
            </a:r>
            <a:endParaRPr lang="en-US" sz="1200" dirty="0"/>
          </a:p>
        </p:txBody>
      </p:sp>
      <p:sp>
        <p:nvSpPr>
          <p:cNvPr id="10" name="Text 8"/>
          <p:cNvSpPr/>
          <p:nvPr/>
        </p:nvSpPr>
        <p:spPr>
          <a:xfrm>
            <a:off x="6492240" y="2423160"/>
            <a:ext cx="640080" cy="164592"/>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You</a:t>
            </a:r>
            <a:endParaRPr lang="en-US" sz="800" dirty="0"/>
          </a:p>
        </p:txBody>
      </p:sp>
      <p:sp>
        <p:nvSpPr>
          <p:cNvPr id="11" name="Shape 9"/>
          <p:cNvSpPr/>
          <p:nvPr/>
        </p:nvSpPr>
        <p:spPr>
          <a:xfrm>
            <a:off x="640080" y="2743200"/>
            <a:ext cx="4480560" cy="2377440"/>
          </a:xfrm>
          <a:prstGeom prst="roundRect">
            <a:avLst>
              <a:gd name="adj" fmla="val 3846"/>
            </a:avLst>
          </a:prstGeom>
          <a:solidFill>
            <a:srgbClr val="ECFDF5"/>
          </a:solidFill>
          <a:ln w="6350">
            <a:solidFill>
              <a:srgbClr val="CCFBF1"/>
            </a:solidFill>
            <a:prstDash val="solid"/>
          </a:ln>
        </p:spPr>
        <p:txBody>
          <a:bodyPr/>
          <a:lstStyle/>
          <a:p>
            <a:endParaRPr lang="en-US"/>
          </a:p>
        </p:txBody>
      </p:sp>
      <p:sp>
        <p:nvSpPr>
          <p:cNvPr id="12" name="Text 10"/>
          <p:cNvSpPr/>
          <p:nvPr/>
        </p:nvSpPr>
        <p:spPr>
          <a:xfrm>
            <a:off x="731520" y="2788920"/>
            <a:ext cx="2743200" cy="182880"/>
          </a:xfrm>
          <a:prstGeom prst="rect">
            <a:avLst/>
          </a:prstGeom>
          <a:noFill/>
          <a:ln/>
        </p:spPr>
        <p:txBody>
          <a:bodyPr wrap="square" lIns="0" tIns="0" rIns="0" bIns="0" rtlCol="0" anchor="ctr"/>
          <a:lstStyle/>
          <a:p>
            <a:pPr marL="0" indent="0">
              <a:buNone/>
            </a:pPr>
            <a:r>
              <a:rPr lang="en-US" sz="850" b="1" kern="0" spc="200" dirty="0">
                <a:solidFill>
                  <a:srgbClr val="0F766E"/>
                </a:solidFill>
                <a:latin typeface="Calibri" pitchFamily="34" charset="0"/>
                <a:ea typeface="Calibri" pitchFamily="34" charset="-122"/>
                <a:cs typeface="Calibri" pitchFamily="34" charset="-120"/>
              </a:rPr>
              <a:t>Merchandising AI</a:t>
            </a:r>
            <a:endParaRPr lang="en-US" sz="850" dirty="0"/>
          </a:p>
        </p:txBody>
      </p:sp>
      <p:sp>
        <p:nvSpPr>
          <p:cNvPr id="13" name="Text 11"/>
          <p:cNvSpPr/>
          <p:nvPr/>
        </p:nvSpPr>
        <p:spPr>
          <a:xfrm>
            <a:off x="731520" y="3017520"/>
            <a:ext cx="4251960" cy="2057400"/>
          </a:xfrm>
          <a:prstGeom prst="rect">
            <a:avLst/>
          </a:prstGeom>
          <a:noFill/>
          <a:ln/>
        </p:spPr>
        <p:txBody>
          <a:bodyPr wrap="square" lIns="0" tIns="0" rIns="0" bIns="0" rtlCol="0" anchor="t"/>
          <a:lstStyle/>
          <a:p>
            <a:pPr marL="0" indent="0">
              <a:buNone/>
            </a:pPr>
            <a:r>
              <a:rPr lang="en-US" sz="1100" dirty="0">
                <a:solidFill>
                  <a:srgbClr val="0F172A"/>
                </a:solidFill>
                <a:latin typeface="Calibri" pitchFamily="34" charset="0"/>
                <a:ea typeface="Calibri" pitchFamily="34" charset="-122"/>
                <a:cs typeface="Calibri" pitchFamily="34" charset="-120"/>
              </a:rPr>
              <a:t>Across X2 last week, customers walked away most often because of </a:t>
            </a:r>
            <a:r>
              <a:rPr lang="en-US" sz="1100" b="1" dirty="0">
                <a:solidFill>
                  <a:srgbClr val="0F172A"/>
                </a:solidFill>
                <a:latin typeface="Calibri" pitchFamily="34" charset="0"/>
                <a:ea typeface="Calibri" pitchFamily="34" charset="-122"/>
                <a:cs typeface="Calibri" pitchFamily="34" charset="-120"/>
              </a:rPr>
              <a:t>stock unavailability (41 cases) </a:t>
            </a:r>
            <a:r>
              <a:rPr lang="en-US" sz="1100" dirty="0">
                <a:solidFill>
                  <a:srgbClr val="0F172A"/>
                </a:solidFill>
                <a:latin typeface="Calibri" pitchFamily="34" charset="0"/>
                <a:ea typeface="Calibri" pitchFamily="34" charset="-122"/>
                <a:cs typeface="Calibri" pitchFamily="34" charset="-120"/>
              </a:rPr>
              <a:t>and </a:t>
            </a:r>
            <a:r>
              <a:rPr lang="en-US" sz="1100" b="1" dirty="0">
                <a:solidFill>
                  <a:srgbClr val="0F172A"/>
                </a:solidFill>
                <a:latin typeface="Calibri" pitchFamily="34" charset="0"/>
                <a:ea typeface="Calibri" pitchFamily="34" charset="-122"/>
                <a:cs typeface="Calibri" pitchFamily="34" charset="-120"/>
              </a:rPr>
              <a:t>size unavailability (28 cases)</a:t>
            </a:r>
            <a:r>
              <a:rPr lang="en-US" sz="1100" dirty="0">
                <a:solidFill>
                  <a:srgbClr val="0F172A"/>
                </a:solidFill>
                <a:latin typeface="Calibri" pitchFamily="34" charset="0"/>
                <a:ea typeface="Calibri" pitchFamily="34" charset="-122"/>
                <a:cs typeface="Calibri" pitchFamily="34" charset="-120"/>
              </a:rPr>
              <a:t>. Of the 41 stock complaints, </a:t>
            </a:r>
            <a:r>
              <a:rPr lang="en-US" sz="1100" b="1" dirty="0">
                <a:solidFill>
                  <a:srgbClr val="0F172A"/>
                </a:solidFill>
                <a:latin typeface="Calibri" pitchFamily="34" charset="0"/>
                <a:ea typeface="Calibri" pitchFamily="34" charset="-122"/>
                <a:cs typeface="Calibri" pitchFamily="34" charset="-120"/>
              </a:rPr>
              <a:t>23 mentioned rose-gold rings</a:t>
            </a:r>
            <a:r>
              <a:rPr lang="en-US" sz="1100" dirty="0">
                <a:solidFill>
                  <a:srgbClr val="0F172A"/>
                </a:solidFill>
                <a:latin typeface="Calibri" pitchFamily="34" charset="0"/>
                <a:ea typeface="Calibri" pitchFamily="34" charset="-122"/>
                <a:cs typeface="Calibri" pitchFamily="34" charset="-120"/>
              </a:rPr>
              <a:t> in the 6–8 size range — concentrated in one category.
</a:t>
            </a:r>
            <a:endParaRPr lang="en-US" sz="1100" dirty="0"/>
          </a:p>
          <a:p>
            <a:pPr marL="0" indent="0">
              <a:buNone/>
            </a:pPr>
            <a:r>
              <a:rPr lang="en-US" sz="1100" i="1" dirty="0">
                <a:solidFill>
                  <a:srgbClr val="64748B"/>
                </a:solidFill>
                <a:latin typeface="Calibri" pitchFamily="34" charset="0"/>
                <a:ea typeface="Calibri" pitchFamily="34" charset="-122"/>
                <a:cs typeface="Calibri" pitchFamily="34" charset="-120"/>
              </a:rPr>
              <a:t>Suggested action: </a:t>
            </a:r>
            <a:endParaRPr lang="en-US" sz="1100" dirty="0"/>
          </a:p>
          <a:p>
            <a:pPr marL="0" indent="0">
              <a:buNone/>
            </a:pPr>
            <a:r>
              <a:rPr lang="en-US" sz="1100" i="1" dirty="0">
                <a:solidFill>
                  <a:srgbClr val="334155"/>
                </a:solidFill>
                <a:latin typeface="Calibri" pitchFamily="34" charset="0"/>
                <a:ea typeface="Calibri" pitchFamily="34" charset="-122"/>
                <a:cs typeface="Calibri" pitchFamily="34" charset="-120"/>
              </a:rPr>
              <a:t>review rose-gold ring inventory at X2 for sizes 6, 7, 8.</a:t>
            </a:r>
            <a:endParaRPr lang="en-US" sz="1100" dirty="0"/>
          </a:p>
        </p:txBody>
      </p:sp>
      <p:sp>
        <p:nvSpPr>
          <p:cNvPr id="14" name="Shape 12"/>
          <p:cNvSpPr/>
          <p:nvPr/>
        </p:nvSpPr>
        <p:spPr>
          <a:xfrm>
            <a:off x="640080" y="5212080"/>
            <a:ext cx="754380" cy="256032"/>
          </a:xfrm>
          <a:prstGeom prst="roundRect">
            <a:avLst>
              <a:gd name="adj" fmla="val 35714"/>
            </a:avLst>
          </a:prstGeom>
          <a:solidFill>
            <a:srgbClr val="FFFFFF"/>
          </a:solidFill>
          <a:ln w="6350">
            <a:solidFill>
              <a:srgbClr val="E2E8F0"/>
            </a:solidFill>
            <a:prstDash val="solid"/>
          </a:ln>
        </p:spPr>
        <p:txBody>
          <a:bodyPr/>
          <a:lstStyle/>
          <a:p>
            <a:endParaRPr lang="en-US"/>
          </a:p>
        </p:txBody>
      </p:sp>
      <p:sp>
        <p:nvSpPr>
          <p:cNvPr id="15" name="Text 13"/>
          <p:cNvSpPr/>
          <p:nvPr/>
        </p:nvSpPr>
        <p:spPr>
          <a:xfrm>
            <a:off x="685800" y="5248656"/>
            <a:ext cx="662940" cy="201168"/>
          </a:xfrm>
          <a:prstGeom prst="rect">
            <a:avLst/>
          </a:prstGeom>
          <a:noFill/>
          <a:ln/>
        </p:spPr>
        <p:txBody>
          <a:bodyPr wrap="square" lIns="0" tIns="0" rIns="0" bIns="0" rtlCol="0" anchor="ctr"/>
          <a:lstStyle/>
          <a:p>
            <a:pPr marL="0" indent="0">
              <a:buNone/>
            </a:pPr>
            <a:r>
              <a:rPr lang="en-US" sz="900" dirty="0">
                <a:solidFill>
                  <a:srgbClr val="0F766E"/>
                </a:solidFill>
                <a:latin typeface="Calibri" pitchFamily="34" charset="0"/>
                <a:ea typeface="Calibri" pitchFamily="34" charset="-122"/>
                <a:cs typeface="Calibri" pitchFamily="34" charset="-120"/>
              </a:rPr>
              <a:t>▶  Answer</a:t>
            </a:r>
            <a:endParaRPr lang="en-US" sz="900" dirty="0"/>
          </a:p>
        </p:txBody>
      </p:sp>
      <p:sp>
        <p:nvSpPr>
          <p:cNvPr id="16" name="Shape 14"/>
          <p:cNvSpPr/>
          <p:nvPr/>
        </p:nvSpPr>
        <p:spPr>
          <a:xfrm>
            <a:off x="1485900" y="5212080"/>
            <a:ext cx="548640" cy="256032"/>
          </a:xfrm>
          <a:prstGeom prst="roundRect">
            <a:avLst>
              <a:gd name="adj" fmla="val 35714"/>
            </a:avLst>
          </a:prstGeom>
          <a:solidFill>
            <a:srgbClr val="FFFFFF"/>
          </a:solidFill>
          <a:ln w="6350">
            <a:solidFill>
              <a:srgbClr val="E2E8F0"/>
            </a:solidFill>
            <a:prstDash val="solid"/>
          </a:ln>
        </p:spPr>
        <p:txBody>
          <a:bodyPr/>
          <a:lstStyle/>
          <a:p>
            <a:endParaRPr lang="en-US"/>
          </a:p>
        </p:txBody>
      </p:sp>
      <p:sp>
        <p:nvSpPr>
          <p:cNvPr id="17" name="Text 15"/>
          <p:cNvSpPr/>
          <p:nvPr/>
        </p:nvSpPr>
        <p:spPr>
          <a:xfrm>
            <a:off x="1531620" y="5248656"/>
            <a:ext cx="4572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SQL</a:t>
            </a:r>
            <a:endParaRPr lang="en-US" sz="900" dirty="0"/>
          </a:p>
        </p:txBody>
      </p:sp>
      <p:sp>
        <p:nvSpPr>
          <p:cNvPr id="18" name="Shape 16"/>
          <p:cNvSpPr/>
          <p:nvPr/>
        </p:nvSpPr>
        <p:spPr>
          <a:xfrm>
            <a:off x="2125980" y="5212080"/>
            <a:ext cx="1028700" cy="256032"/>
          </a:xfrm>
          <a:prstGeom prst="roundRect">
            <a:avLst>
              <a:gd name="adj" fmla="val 35714"/>
            </a:avLst>
          </a:prstGeom>
          <a:solidFill>
            <a:srgbClr val="FFFFFF"/>
          </a:solidFill>
          <a:ln w="6350">
            <a:solidFill>
              <a:srgbClr val="E2E8F0"/>
            </a:solidFill>
            <a:prstDash val="solid"/>
          </a:ln>
        </p:spPr>
        <p:txBody>
          <a:bodyPr/>
          <a:lstStyle/>
          <a:p>
            <a:endParaRPr lang="en-US"/>
          </a:p>
        </p:txBody>
      </p:sp>
      <p:sp>
        <p:nvSpPr>
          <p:cNvPr id="19" name="Text 17"/>
          <p:cNvSpPr/>
          <p:nvPr/>
        </p:nvSpPr>
        <p:spPr>
          <a:xfrm>
            <a:off x="2171700" y="5248656"/>
            <a:ext cx="93726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Chart code</a:t>
            </a:r>
            <a:endParaRPr lang="en-US" sz="900" dirty="0"/>
          </a:p>
        </p:txBody>
      </p:sp>
      <p:sp>
        <p:nvSpPr>
          <p:cNvPr id="20" name="Shape 18"/>
          <p:cNvSpPr/>
          <p:nvPr/>
        </p:nvSpPr>
        <p:spPr>
          <a:xfrm>
            <a:off x="3246120" y="5212080"/>
            <a:ext cx="1097280" cy="256032"/>
          </a:xfrm>
          <a:prstGeom prst="roundRect">
            <a:avLst>
              <a:gd name="adj" fmla="val 35714"/>
            </a:avLst>
          </a:prstGeom>
          <a:solidFill>
            <a:srgbClr val="FFFFFF"/>
          </a:solidFill>
          <a:ln w="6350">
            <a:solidFill>
              <a:srgbClr val="E2E8F0"/>
            </a:solidFill>
            <a:prstDash val="solid"/>
          </a:ln>
        </p:spPr>
        <p:txBody>
          <a:bodyPr/>
          <a:lstStyle/>
          <a:p>
            <a:endParaRPr lang="en-US"/>
          </a:p>
        </p:txBody>
      </p:sp>
      <p:sp>
        <p:nvSpPr>
          <p:cNvPr id="21" name="Text 19"/>
          <p:cNvSpPr/>
          <p:nvPr/>
        </p:nvSpPr>
        <p:spPr>
          <a:xfrm>
            <a:off x="3291840" y="5248656"/>
            <a:ext cx="1005840" cy="201168"/>
          </a:xfrm>
          <a:prstGeom prst="rect">
            <a:avLst/>
          </a:prstGeom>
          <a:noFill/>
          <a:ln/>
        </p:spPr>
        <p:txBody>
          <a:bodyPr wrap="square" lIns="0" tIns="0" rIns="0" bIns="0" rtlCol="0" anchor="ctr"/>
          <a:lstStyle/>
          <a:p>
            <a:pPr marL="0" indent="0">
              <a:buNone/>
            </a:pPr>
            <a:r>
              <a:rPr lang="en-US" sz="900" dirty="0">
                <a:solidFill>
                  <a:srgbClr val="B45309"/>
                </a:solidFill>
                <a:latin typeface="Calibri" pitchFamily="34" charset="0"/>
                <a:ea typeface="Calibri" pitchFamily="34" charset="-122"/>
                <a:cs typeface="Calibri" pitchFamily="34" charset="-120"/>
              </a:rPr>
              <a:t>▶  Audit trail</a:t>
            </a:r>
            <a:endParaRPr lang="en-US" sz="900" dirty="0"/>
          </a:p>
        </p:txBody>
      </p:sp>
      <p:sp>
        <p:nvSpPr>
          <p:cNvPr id="22" name="Shape 20"/>
          <p:cNvSpPr/>
          <p:nvPr/>
        </p:nvSpPr>
        <p:spPr>
          <a:xfrm>
            <a:off x="4434840" y="5212080"/>
            <a:ext cx="754380" cy="256032"/>
          </a:xfrm>
          <a:prstGeom prst="roundRect">
            <a:avLst>
              <a:gd name="adj" fmla="val 35714"/>
            </a:avLst>
          </a:prstGeom>
          <a:solidFill>
            <a:srgbClr val="FFFFFF"/>
          </a:solidFill>
          <a:ln w="6350">
            <a:solidFill>
              <a:srgbClr val="E2E8F0"/>
            </a:solidFill>
            <a:prstDash val="solid"/>
          </a:ln>
        </p:spPr>
        <p:txBody>
          <a:bodyPr/>
          <a:lstStyle/>
          <a:p>
            <a:endParaRPr lang="en-US"/>
          </a:p>
        </p:txBody>
      </p:sp>
      <p:sp>
        <p:nvSpPr>
          <p:cNvPr id="23" name="Text 21"/>
          <p:cNvSpPr/>
          <p:nvPr/>
        </p:nvSpPr>
        <p:spPr>
          <a:xfrm>
            <a:off x="4480560" y="5248656"/>
            <a:ext cx="662940" cy="201168"/>
          </a:xfrm>
          <a:prstGeom prst="rect">
            <a:avLst/>
          </a:prstGeom>
          <a:noFill/>
          <a:ln/>
        </p:spPr>
        <p:txBody>
          <a:bodyPr wrap="square" lIns="0" tIns="0" rIns="0" bIns="0" rtlCol="0" anchor="ctr"/>
          <a:lstStyle/>
          <a:p>
            <a:pPr marL="0" indent="0">
              <a:buNone/>
            </a:pPr>
            <a:r>
              <a:rPr lang="en-US" sz="900" dirty="0">
                <a:solidFill>
                  <a:srgbClr val="15803D"/>
                </a:solidFill>
                <a:latin typeface="Calibri" pitchFamily="34" charset="0"/>
                <a:ea typeface="Calibri" pitchFamily="34" charset="-122"/>
                <a:cs typeface="Calibri" pitchFamily="34" charset="-120"/>
              </a:rPr>
              <a:t>📥  Excel</a:t>
            </a:r>
            <a:endParaRPr lang="en-US" sz="900" dirty="0"/>
          </a:p>
        </p:txBody>
      </p:sp>
      <p:sp>
        <p:nvSpPr>
          <p:cNvPr id="24" name="Shape 22"/>
          <p:cNvSpPr/>
          <p:nvPr/>
        </p:nvSpPr>
        <p:spPr>
          <a:xfrm>
            <a:off x="640080" y="5989320"/>
            <a:ext cx="6492240" cy="365760"/>
          </a:xfrm>
          <a:prstGeom prst="roundRect">
            <a:avLst>
              <a:gd name="adj" fmla="val 25000"/>
            </a:avLst>
          </a:prstGeom>
          <a:solidFill>
            <a:srgbClr val="FFFFFF"/>
          </a:solidFill>
          <a:ln w="6350">
            <a:solidFill>
              <a:srgbClr val="E2E8F0"/>
            </a:solidFill>
            <a:prstDash val="solid"/>
          </a:ln>
        </p:spPr>
        <p:txBody>
          <a:bodyPr/>
          <a:lstStyle/>
          <a:p>
            <a:endParaRPr lang="en-US"/>
          </a:p>
        </p:txBody>
      </p:sp>
      <p:sp>
        <p:nvSpPr>
          <p:cNvPr id="25" name="Text 23"/>
          <p:cNvSpPr/>
          <p:nvPr/>
        </p:nvSpPr>
        <p:spPr>
          <a:xfrm>
            <a:off x="777240" y="6035040"/>
            <a:ext cx="621792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Ask a question…</a:t>
            </a:r>
            <a:endParaRPr lang="en-US" sz="1050" dirty="0"/>
          </a:p>
        </p:txBody>
      </p:sp>
      <p:sp>
        <p:nvSpPr>
          <p:cNvPr id="26" name="Text 24"/>
          <p:cNvSpPr/>
          <p:nvPr/>
        </p:nvSpPr>
        <p:spPr>
          <a:xfrm>
            <a:off x="7680960" y="1463040"/>
            <a:ext cx="4160520" cy="274320"/>
          </a:xfrm>
          <a:prstGeom prst="rect">
            <a:avLst/>
          </a:prstGeom>
          <a:noFill/>
          <a:ln/>
        </p:spPr>
        <p:txBody>
          <a:bodyPr wrap="square" lIns="0" tIns="0" rIns="0" bIns="0" rtlCol="0" anchor="ctr"/>
          <a:lstStyle/>
          <a:p>
            <a:pPr marL="0" indent="0">
              <a:buNone/>
            </a:pPr>
            <a:r>
              <a:rPr lang="en-US" sz="1050" b="1" kern="0" spc="400" dirty="0">
                <a:solidFill>
                  <a:srgbClr val="0F766E"/>
                </a:solidFill>
                <a:latin typeface="Calibri" pitchFamily="34" charset="0"/>
                <a:ea typeface="Calibri" pitchFamily="34" charset="-122"/>
                <a:cs typeface="Calibri" pitchFamily="34" charset="-120"/>
              </a:rPr>
              <a:t>WHAT JUST HAPPENED</a:t>
            </a:r>
            <a:endParaRPr lang="en-US" sz="1050" dirty="0"/>
          </a:p>
        </p:txBody>
      </p:sp>
      <p:sp>
        <p:nvSpPr>
          <p:cNvPr id="27" name="Shape 25"/>
          <p:cNvSpPr/>
          <p:nvPr/>
        </p:nvSpPr>
        <p:spPr>
          <a:xfrm>
            <a:off x="7680960" y="1783080"/>
            <a:ext cx="411480" cy="411480"/>
          </a:xfrm>
          <a:prstGeom prst="ellipse">
            <a:avLst/>
          </a:prstGeom>
          <a:solidFill>
            <a:srgbClr val="0F766E"/>
          </a:solidFill>
          <a:ln w="12700">
            <a:solidFill>
              <a:srgbClr val="333333"/>
            </a:solidFill>
            <a:prstDash val="solid"/>
          </a:ln>
        </p:spPr>
        <p:txBody>
          <a:bodyPr/>
          <a:lstStyle/>
          <a:p>
            <a:endParaRPr lang="en-US"/>
          </a:p>
        </p:txBody>
      </p:sp>
      <p:sp>
        <p:nvSpPr>
          <p:cNvPr id="28" name="Text 26"/>
          <p:cNvSpPr/>
          <p:nvPr/>
        </p:nvSpPr>
        <p:spPr>
          <a:xfrm>
            <a:off x="7680960" y="17830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9" name="Text 27"/>
          <p:cNvSpPr/>
          <p:nvPr/>
        </p:nvSpPr>
        <p:spPr>
          <a:xfrm>
            <a:off x="8229600" y="1783080"/>
            <a:ext cx="3611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Plain English in</a:t>
            </a:r>
            <a:endParaRPr lang="en-US" sz="1300" dirty="0"/>
          </a:p>
        </p:txBody>
      </p:sp>
      <p:sp>
        <p:nvSpPr>
          <p:cNvPr id="30" name="Text 28"/>
          <p:cNvSpPr/>
          <p:nvPr/>
        </p:nvSpPr>
        <p:spPr>
          <a:xfrm>
            <a:off x="8229600" y="2057400"/>
            <a:ext cx="3611880" cy="50292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You typed a vague-sounding question.</a:t>
            </a:r>
            <a:endParaRPr lang="en-US" sz="1050" dirty="0"/>
          </a:p>
        </p:txBody>
      </p:sp>
      <p:sp>
        <p:nvSpPr>
          <p:cNvPr id="31" name="Shape 29"/>
          <p:cNvSpPr/>
          <p:nvPr/>
        </p:nvSpPr>
        <p:spPr>
          <a:xfrm>
            <a:off x="7680960" y="2651760"/>
            <a:ext cx="411480" cy="411480"/>
          </a:xfrm>
          <a:prstGeom prst="ellipse">
            <a:avLst/>
          </a:prstGeom>
          <a:solidFill>
            <a:srgbClr val="0F766E"/>
          </a:solidFill>
          <a:ln w="12700">
            <a:solidFill>
              <a:srgbClr val="333333"/>
            </a:solidFill>
            <a:prstDash val="solid"/>
          </a:ln>
        </p:spPr>
        <p:txBody>
          <a:bodyPr/>
          <a:lstStyle/>
          <a:p>
            <a:endParaRPr lang="en-US"/>
          </a:p>
        </p:txBody>
      </p:sp>
      <p:sp>
        <p:nvSpPr>
          <p:cNvPr id="32" name="Text 30"/>
          <p:cNvSpPr/>
          <p:nvPr/>
        </p:nvSpPr>
        <p:spPr>
          <a:xfrm>
            <a:off x="7680960" y="26517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3" name="Text 31"/>
          <p:cNvSpPr/>
          <p:nvPr/>
        </p:nvSpPr>
        <p:spPr>
          <a:xfrm>
            <a:off x="8229600" y="2651760"/>
            <a:ext cx="3611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Real data out</a:t>
            </a:r>
            <a:endParaRPr lang="en-US" sz="1300" dirty="0"/>
          </a:p>
        </p:txBody>
      </p:sp>
      <p:sp>
        <p:nvSpPr>
          <p:cNvPr id="34" name="Text 32"/>
          <p:cNvSpPr/>
          <p:nvPr/>
        </p:nvSpPr>
        <p:spPr>
          <a:xfrm>
            <a:off x="8229600" y="2926080"/>
            <a:ext cx="3611880" cy="50292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Behind the scenes, your live feedback table was just queried.  The 41 and 28 are not estimates.</a:t>
            </a:r>
            <a:endParaRPr lang="en-US" sz="1050" dirty="0"/>
          </a:p>
        </p:txBody>
      </p:sp>
      <p:sp>
        <p:nvSpPr>
          <p:cNvPr id="35" name="Shape 33"/>
          <p:cNvSpPr/>
          <p:nvPr/>
        </p:nvSpPr>
        <p:spPr>
          <a:xfrm>
            <a:off x="7680960" y="3520440"/>
            <a:ext cx="411480" cy="411480"/>
          </a:xfrm>
          <a:prstGeom prst="ellipse">
            <a:avLst/>
          </a:prstGeom>
          <a:solidFill>
            <a:srgbClr val="0F766E"/>
          </a:solidFill>
          <a:ln w="12700">
            <a:solidFill>
              <a:srgbClr val="333333"/>
            </a:solidFill>
            <a:prstDash val="solid"/>
          </a:ln>
        </p:spPr>
        <p:txBody>
          <a:bodyPr/>
          <a:lstStyle/>
          <a:p>
            <a:endParaRPr lang="en-US"/>
          </a:p>
        </p:txBody>
      </p:sp>
      <p:sp>
        <p:nvSpPr>
          <p:cNvPr id="36" name="Text 34"/>
          <p:cNvSpPr/>
          <p:nvPr/>
        </p:nvSpPr>
        <p:spPr>
          <a:xfrm>
            <a:off x="7680960" y="35204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7" name="Text 35"/>
          <p:cNvSpPr/>
          <p:nvPr/>
        </p:nvSpPr>
        <p:spPr>
          <a:xfrm>
            <a:off x="8229600" y="3520440"/>
            <a:ext cx="3611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 suggested action</a:t>
            </a:r>
            <a:endParaRPr lang="en-US" sz="1300" dirty="0"/>
          </a:p>
        </p:txBody>
      </p:sp>
      <p:sp>
        <p:nvSpPr>
          <p:cNvPr id="38" name="Text 36"/>
          <p:cNvSpPr/>
          <p:nvPr/>
        </p:nvSpPr>
        <p:spPr>
          <a:xfrm>
            <a:off x="8229600" y="3794760"/>
            <a:ext cx="3611880" cy="50292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Not just numbers — the system points at where to look next.</a:t>
            </a:r>
            <a:endParaRPr lang="en-US" sz="1050" dirty="0"/>
          </a:p>
        </p:txBody>
      </p:sp>
      <p:sp>
        <p:nvSpPr>
          <p:cNvPr id="39" name="Shape 37"/>
          <p:cNvSpPr/>
          <p:nvPr/>
        </p:nvSpPr>
        <p:spPr>
          <a:xfrm>
            <a:off x="7680960" y="4389120"/>
            <a:ext cx="411480" cy="411480"/>
          </a:xfrm>
          <a:prstGeom prst="ellipse">
            <a:avLst/>
          </a:prstGeom>
          <a:solidFill>
            <a:srgbClr val="0F766E"/>
          </a:solidFill>
          <a:ln w="12700">
            <a:solidFill>
              <a:srgbClr val="333333"/>
            </a:solidFill>
            <a:prstDash val="solid"/>
          </a:ln>
        </p:spPr>
        <p:txBody>
          <a:bodyPr/>
          <a:lstStyle/>
          <a:p>
            <a:endParaRPr lang="en-US"/>
          </a:p>
        </p:txBody>
      </p:sp>
      <p:sp>
        <p:nvSpPr>
          <p:cNvPr id="40" name="Text 38"/>
          <p:cNvSpPr/>
          <p:nvPr/>
        </p:nvSpPr>
        <p:spPr>
          <a:xfrm>
            <a:off x="7680960" y="43891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1" name="Text 39"/>
          <p:cNvSpPr/>
          <p:nvPr/>
        </p:nvSpPr>
        <p:spPr>
          <a:xfrm>
            <a:off x="8229600" y="4389120"/>
            <a:ext cx="3611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Audit on demand</a:t>
            </a:r>
            <a:endParaRPr lang="en-US" sz="1300" dirty="0"/>
          </a:p>
        </p:txBody>
      </p:sp>
      <p:sp>
        <p:nvSpPr>
          <p:cNvPr id="42" name="Text 40"/>
          <p:cNvSpPr/>
          <p:nvPr/>
        </p:nvSpPr>
        <p:spPr>
          <a:xfrm>
            <a:off x="8229600" y="4663440"/>
            <a:ext cx="3611880" cy="50292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Every claim above can be traced back to the rows it came from.</a:t>
            </a:r>
            <a:endParaRPr lang="en-US" sz="1050" dirty="0"/>
          </a:p>
        </p:txBody>
      </p:sp>
      <p:sp>
        <p:nvSpPr>
          <p:cNvPr id="43" name="Shape 41"/>
          <p:cNvSpPr/>
          <p:nvPr/>
        </p:nvSpPr>
        <p:spPr>
          <a:xfrm>
            <a:off x="7680960" y="5257800"/>
            <a:ext cx="411480" cy="411480"/>
          </a:xfrm>
          <a:prstGeom prst="ellipse">
            <a:avLst/>
          </a:prstGeom>
          <a:solidFill>
            <a:srgbClr val="0F766E"/>
          </a:solidFill>
          <a:ln w="12700">
            <a:solidFill>
              <a:srgbClr val="333333"/>
            </a:solidFill>
            <a:prstDash val="solid"/>
          </a:ln>
        </p:spPr>
        <p:txBody>
          <a:bodyPr/>
          <a:lstStyle/>
          <a:p>
            <a:endParaRPr lang="en-US"/>
          </a:p>
        </p:txBody>
      </p:sp>
      <p:sp>
        <p:nvSpPr>
          <p:cNvPr id="44" name="Text 42"/>
          <p:cNvSpPr/>
          <p:nvPr/>
        </p:nvSpPr>
        <p:spPr>
          <a:xfrm>
            <a:off x="7680960" y="52578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5" name="Text 43"/>
          <p:cNvSpPr/>
          <p:nvPr/>
        </p:nvSpPr>
        <p:spPr>
          <a:xfrm>
            <a:off x="8229600" y="5257800"/>
            <a:ext cx="361188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Excel download</a:t>
            </a:r>
            <a:endParaRPr lang="en-US" sz="1300" dirty="0"/>
          </a:p>
        </p:txBody>
      </p:sp>
      <p:sp>
        <p:nvSpPr>
          <p:cNvPr id="46" name="Text 44"/>
          <p:cNvSpPr/>
          <p:nvPr/>
        </p:nvSpPr>
        <p:spPr>
          <a:xfrm>
            <a:off x="8229600" y="5532120"/>
            <a:ext cx="3611880" cy="50292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Take the result straight into the Monday meeting.</a:t>
            </a:r>
            <a:endParaRPr lang="en-US" sz="1050" dirty="0"/>
          </a:p>
        </p:txBody>
      </p:sp>
      <p:sp>
        <p:nvSpPr>
          <p:cNvPr id="47" name="Text 45"/>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15</a:t>
            </a:r>
            <a:endParaRPr lang="en-US" sz="900" dirty="0"/>
          </a:p>
        </p:txBody>
      </p:sp>
      <p:sp>
        <p:nvSpPr>
          <p:cNvPr id="48" name="Text 46"/>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HOW REASONS ARE ORGANISED</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Ten Feedback Categories</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Every customer reason captured at the storefront is automatically sorted into one of these ten buckets.  You can filter, group, compare, and trend on any of them.</a:t>
            </a:r>
            <a:endParaRPr lang="en-US" sz="1300" dirty="0"/>
          </a:p>
        </p:txBody>
      </p:sp>
      <p:sp>
        <p:nvSpPr>
          <p:cNvPr id="6" name="Shape 4"/>
          <p:cNvSpPr/>
          <p:nvPr/>
        </p:nvSpPr>
        <p:spPr>
          <a:xfrm>
            <a:off x="457200" y="2103120"/>
            <a:ext cx="2212848" cy="118872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640080" y="219456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Design</a:t>
            </a:r>
            <a:endParaRPr lang="en-US" sz="1500" dirty="0"/>
          </a:p>
        </p:txBody>
      </p:sp>
      <p:sp>
        <p:nvSpPr>
          <p:cNvPr id="9" name="Text 7"/>
          <p:cNvSpPr/>
          <p:nvPr/>
        </p:nvSpPr>
        <p:spPr>
          <a:xfrm>
            <a:off x="640080" y="256032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“Didn't like the style”</a:t>
            </a:r>
            <a:endParaRPr lang="en-US" sz="1050" dirty="0"/>
          </a:p>
        </p:txBody>
      </p:sp>
      <p:sp>
        <p:nvSpPr>
          <p:cNvPr id="10" name="Shape 8"/>
          <p:cNvSpPr/>
          <p:nvPr/>
        </p:nvSpPr>
        <p:spPr>
          <a:xfrm>
            <a:off x="2807208" y="2103120"/>
            <a:ext cx="2212848" cy="1188720"/>
          </a:xfrm>
          <a:prstGeom prst="rect">
            <a:avLst/>
          </a:prstGeom>
          <a:solidFill>
            <a:srgbClr val="F8FAFC"/>
          </a:solidFill>
          <a:ln w="9525">
            <a:solidFill>
              <a:srgbClr val="E2E8F0"/>
            </a:solidFill>
            <a:prstDash val="solid"/>
          </a:ln>
        </p:spPr>
        <p:txBody>
          <a:bodyPr/>
          <a:lstStyle/>
          <a:p>
            <a:endParaRPr lang="en-US"/>
          </a:p>
        </p:txBody>
      </p:sp>
      <p:sp>
        <p:nvSpPr>
          <p:cNvPr id="11" name="Shape 9"/>
          <p:cNvSpPr/>
          <p:nvPr/>
        </p:nvSpPr>
        <p:spPr>
          <a:xfrm>
            <a:off x="2807208"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12" name="Text 10"/>
          <p:cNvSpPr/>
          <p:nvPr/>
        </p:nvSpPr>
        <p:spPr>
          <a:xfrm>
            <a:off x="2990088" y="219456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Size</a:t>
            </a:r>
            <a:endParaRPr lang="en-US" sz="1500" dirty="0"/>
          </a:p>
        </p:txBody>
      </p:sp>
      <p:sp>
        <p:nvSpPr>
          <p:cNvPr id="13" name="Text 11"/>
          <p:cNvSpPr/>
          <p:nvPr/>
        </p:nvSpPr>
        <p:spPr>
          <a:xfrm>
            <a:off x="2990088" y="256032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“Didn't have my size”</a:t>
            </a:r>
            <a:endParaRPr lang="en-US" sz="1050" dirty="0"/>
          </a:p>
        </p:txBody>
      </p:sp>
      <p:sp>
        <p:nvSpPr>
          <p:cNvPr id="14" name="Shape 12"/>
          <p:cNvSpPr/>
          <p:nvPr/>
        </p:nvSpPr>
        <p:spPr>
          <a:xfrm>
            <a:off x="5157216" y="2103120"/>
            <a:ext cx="2212848" cy="1188720"/>
          </a:xfrm>
          <a:prstGeom prst="rect">
            <a:avLst/>
          </a:prstGeom>
          <a:solidFill>
            <a:srgbClr val="F8FAFC"/>
          </a:solidFill>
          <a:ln w="9525">
            <a:solidFill>
              <a:srgbClr val="E2E8F0"/>
            </a:solidFill>
            <a:prstDash val="solid"/>
          </a:ln>
        </p:spPr>
        <p:txBody>
          <a:bodyPr/>
          <a:lstStyle/>
          <a:p>
            <a:endParaRPr lang="en-US"/>
          </a:p>
        </p:txBody>
      </p:sp>
      <p:sp>
        <p:nvSpPr>
          <p:cNvPr id="15" name="Shape 13"/>
          <p:cNvSpPr/>
          <p:nvPr/>
        </p:nvSpPr>
        <p:spPr>
          <a:xfrm>
            <a:off x="5157216"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16" name="Text 14"/>
          <p:cNvSpPr/>
          <p:nvPr/>
        </p:nvSpPr>
        <p:spPr>
          <a:xfrm>
            <a:off x="5340096" y="219456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Stock</a:t>
            </a:r>
            <a:endParaRPr lang="en-US" sz="1500" dirty="0"/>
          </a:p>
        </p:txBody>
      </p:sp>
      <p:sp>
        <p:nvSpPr>
          <p:cNvPr id="17" name="Text 15"/>
          <p:cNvSpPr/>
          <p:nvPr/>
        </p:nvSpPr>
        <p:spPr>
          <a:xfrm>
            <a:off x="5340096" y="256032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“Item was out of stock”</a:t>
            </a:r>
            <a:endParaRPr lang="en-US" sz="1050" dirty="0"/>
          </a:p>
        </p:txBody>
      </p:sp>
      <p:sp>
        <p:nvSpPr>
          <p:cNvPr id="18" name="Shape 16"/>
          <p:cNvSpPr/>
          <p:nvPr/>
        </p:nvSpPr>
        <p:spPr>
          <a:xfrm>
            <a:off x="7507224" y="2103120"/>
            <a:ext cx="2212848" cy="1188720"/>
          </a:xfrm>
          <a:prstGeom prst="rect">
            <a:avLst/>
          </a:prstGeom>
          <a:solidFill>
            <a:srgbClr val="F8FAFC"/>
          </a:solidFill>
          <a:ln w="9525">
            <a:solidFill>
              <a:srgbClr val="E2E8F0"/>
            </a:solidFill>
            <a:prstDash val="solid"/>
          </a:ln>
        </p:spPr>
        <p:txBody>
          <a:bodyPr/>
          <a:lstStyle/>
          <a:p>
            <a:endParaRPr lang="en-US"/>
          </a:p>
        </p:txBody>
      </p:sp>
      <p:sp>
        <p:nvSpPr>
          <p:cNvPr id="19" name="Shape 17"/>
          <p:cNvSpPr/>
          <p:nvPr/>
        </p:nvSpPr>
        <p:spPr>
          <a:xfrm>
            <a:off x="7507224"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20" name="Text 18"/>
          <p:cNvSpPr/>
          <p:nvPr/>
        </p:nvSpPr>
        <p:spPr>
          <a:xfrm>
            <a:off x="7690104" y="219456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Price</a:t>
            </a:r>
            <a:endParaRPr lang="en-US" sz="1500" dirty="0"/>
          </a:p>
        </p:txBody>
      </p:sp>
      <p:sp>
        <p:nvSpPr>
          <p:cNvPr id="21" name="Text 19"/>
          <p:cNvSpPr/>
          <p:nvPr/>
        </p:nvSpPr>
        <p:spPr>
          <a:xfrm>
            <a:off x="7690104" y="256032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“Too expensive”</a:t>
            </a:r>
            <a:endParaRPr lang="en-US" sz="1050" dirty="0"/>
          </a:p>
        </p:txBody>
      </p:sp>
      <p:sp>
        <p:nvSpPr>
          <p:cNvPr id="22" name="Shape 20"/>
          <p:cNvSpPr/>
          <p:nvPr/>
        </p:nvSpPr>
        <p:spPr>
          <a:xfrm>
            <a:off x="9857232" y="2103120"/>
            <a:ext cx="2212848" cy="1188720"/>
          </a:xfrm>
          <a:prstGeom prst="rect">
            <a:avLst/>
          </a:prstGeom>
          <a:solidFill>
            <a:srgbClr val="F8FAFC"/>
          </a:solidFill>
          <a:ln w="9525">
            <a:solidFill>
              <a:srgbClr val="E2E8F0"/>
            </a:solidFill>
            <a:prstDash val="solid"/>
          </a:ln>
        </p:spPr>
        <p:txBody>
          <a:bodyPr/>
          <a:lstStyle/>
          <a:p>
            <a:endParaRPr lang="en-US"/>
          </a:p>
        </p:txBody>
      </p:sp>
      <p:sp>
        <p:nvSpPr>
          <p:cNvPr id="23" name="Shape 21"/>
          <p:cNvSpPr/>
          <p:nvPr/>
        </p:nvSpPr>
        <p:spPr>
          <a:xfrm>
            <a:off x="9857232" y="2103120"/>
            <a:ext cx="64008" cy="1188720"/>
          </a:xfrm>
          <a:prstGeom prst="rect">
            <a:avLst/>
          </a:prstGeom>
          <a:solidFill>
            <a:srgbClr val="0F766E"/>
          </a:solidFill>
          <a:ln w="12700">
            <a:solidFill>
              <a:srgbClr val="333333"/>
            </a:solidFill>
            <a:prstDash val="solid"/>
          </a:ln>
        </p:spPr>
        <p:txBody>
          <a:bodyPr/>
          <a:lstStyle/>
          <a:p>
            <a:endParaRPr lang="en-US"/>
          </a:p>
        </p:txBody>
      </p:sp>
      <p:sp>
        <p:nvSpPr>
          <p:cNvPr id="24" name="Text 22"/>
          <p:cNvSpPr/>
          <p:nvPr/>
        </p:nvSpPr>
        <p:spPr>
          <a:xfrm>
            <a:off x="10040112" y="219456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Quality</a:t>
            </a:r>
            <a:endParaRPr lang="en-US" sz="1500" dirty="0"/>
          </a:p>
        </p:txBody>
      </p:sp>
      <p:sp>
        <p:nvSpPr>
          <p:cNvPr id="25" name="Text 23"/>
          <p:cNvSpPr/>
          <p:nvPr/>
        </p:nvSpPr>
        <p:spPr>
          <a:xfrm>
            <a:off x="10040112" y="256032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“Quality felt off”</a:t>
            </a:r>
            <a:endParaRPr lang="en-US" sz="1050" dirty="0"/>
          </a:p>
        </p:txBody>
      </p:sp>
      <p:sp>
        <p:nvSpPr>
          <p:cNvPr id="26" name="Shape 24"/>
          <p:cNvSpPr/>
          <p:nvPr/>
        </p:nvSpPr>
        <p:spPr>
          <a:xfrm>
            <a:off x="457200" y="3429000"/>
            <a:ext cx="2212848" cy="1188720"/>
          </a:xfrm>
          <a:prstGeom prst="rect">
            <a:avLst/>
          </a:prstGeom>
          <a:solidFill>
            <a:srgbClr val="F8FAFC"/>
          </a:solidFill>
          <a:ln w="9525">
            <a:solidFill>
              <a:srgbClr val="E2E8F0"/>
            </a:solidFill>
            <a:prstDash val="solid"/>
          </a:ln>
        </p:spPr>
        <p:txBody>
          <a:bodyPr/>
          <a:lstStyle/>
          <a:p>
            <a:endParaRPr lang="en-US"/>
          </a:p>
        </p:txBody>
      </p:sp>
      <p:sp>
        <p:nvSpPr>
          <p:cNvPr id="27" name="Shape 25"/>
          <p:cNvSpPr/>
          <p:nvPr/>
        </p:nvSpPr>
        <p:spPr>
          <a:xfrm>
            <a:off x="457200"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28" name="Text 26"/>
          <p:cNvSpPr/>
          <p:nvPr/>
        </p:nvSpPr>
        <p:spPr>
          <a:xfrm>
            <a:off x="640080" y="352044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Weight</a:t>
            </a:r>
            <a:endParaRPr lang="en-US" sz="1500" dirty="0"/>
          </a:p>
        </p:txBody>
      </p:sp>
      <p:sp>
        <p:nvSpPr>
          <p:cNvPr id="29" name="Text 27"/>
          <p:cNvSpPr/>
          <p:nvPr/>
        </p:nvSpPr>
        <p:spPr>
          <a:xfrm>
            <a:off x="640080" y="388620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“Too heavy / too light”</a:t>
            </a:r>
            <a:endParaRPr lang="en-US" sz="1050" dirty="0"/>
          </a:p>
        </p:txBody>
      </p:sp>
      <p:sp>
        <p:nvSpPr>
          <p:cNvPr id="30" name="Shape 28"/>
          <p:cNvSpPr/>
          <p:nvPr/>
        </p:nvSpPr>
        <p:spPr>
          <a:xfrm>
            <a:off x="2807208" y="3429000"/>
            <a:ext cx="2212848" cy="1188720"/>
          </a:xfrm>
          <a:prstGeom prst="rect">
            <a:avLst/>
          </a:prstGeom>
          <a:solidFill>
            <a:srgbClr val="F8FAFC"/>
          </a:solidFill>
          <a:ln w="9525">
            <a:solidFill>
              <a:srgbClr val="E2E8F0"/>
            </a:solidFill>
            <a:prstDash val="solid"/>
          </a:ln>
        </p:spPr>
        <p:txBody>
          <a:bodyPr/>
          <a:lstStyle/>
          <a:p>
            <a:endParaRPr lang="en-US"/>
          </a:p>
        </p:txBody>
      </p:sp>
      <p:sp>
        <p:nvSpPr>
          <p:cNvPr id="31" name="Shape 29"/>
          <p:cNvSpPr/>
          <p:nvPr/>
        </p:nvSpPr>
        <p:spPr>
          <a:xfrm>
            <a:off x="2807208"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32" name="Text 30"/>
          <p:cNvSpPr/>
          <p:nvPr/>
        </p:nvSpPr>
        <p:spPr>
          <a:xfrm>
            <a:off x="2990088" y="352044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Color</a:t>
            </a:r>
            <a:endParaRPr lang="en-US" sz="1500" dirty="0"/>
          </a:p>
        </p:txBody>
      </p:sp>
      <p:sp>
        <p:nvSpPr>
          <p:cNvPr id="33" name="Text 31"/>
          <p:cNvSpPr/>
          <p:nvPr/>
        </p:nvSpPr>
        <p:spPr>
          <a:xfrm>
            <a:off x="2990088" y="388620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“Wrong color / finish mismatch”</a:t>
            </a:r>
            <a:endParaRPr lang="en-US" sz="1050" dirty="0"/>
          </a:p>
        </p:txBody>
      </p:sp>
      <p:sp>
        <p:nvSpPr>
          <p:cNvPr id="34" name="Shape 32"/>
          <p:cNvSpPr/>
          <p:nvPr/>
        </p:nvSpPr>
        <p:spPr>
          <a:xfrm>
            <a:off x="5157216" y="3429000"/>
            <a:ext cx="2212848" cy="1188720"/>
          </a:xfrm>
          <a:prstGeom prst="rect">
            <a:avLst/>
          </a:prstGeom>
          <a:solidFill>
            <a:srgbClr val="F8FAFC"/>
          </a:solidFill>
          <a:ln w="9525">
            <a:solidFill>
              <a:srgbClr val="E2E8F0"/>
            </a:solidFill>
            <a:prstDash val="solid"/>
          </a:ln>
        </p:spPr>
        <p:txBody>
          <a:bodyPr/>
          <a:lstStyle/>
          <a:p>
            <a:endParaRPr lang="en-US"/>
          </a:p>
        </p:txBody>
      </p:sp>
      <p:sp>
        <p:nvSpPr>
          <p:cNvPr id="35" name="Shape 33"/>
          <p:cNvSpPr/>
          <p:nvPr/>
        </p:nvSpPr>
        <p:spPr>
          <a:xfrm>
            <a:off x="5157216"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36" name="Text 34"/>
          <p:cNvSpPr/>
          <p:nvPr/>
        </p:nvSpPr>
        <p:spPr>
          <a:xfrm>
            <a:off x="5340096" y="352044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Customization</a:t>
            </a:r>
            <a:endParaRPr lang="en-US" sz="1500" dirty="0"/>
          </a:p>
        </p:txBody>
      </p:sp>
      <p:sp>
        <p:nvSpPr>
          <p:cNvPr id="37" name="Text 35"/>
          <p:cNvSpPr/>
          <p:nvPr/>
        </p:nvSpPr>
        <p:spPr>
          <a:xfrm>
            <a:off x="5340096" y="388620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“Couldn't customise to taste”</a:t>
            </a:r>
            <a:endParaRPr lang="en-US" sz="1050" dirty="0"/>
          </a:p>
        </p:txBody>
      </p:sp>
      <p:sp>
        <p:nvSpPr>
          <p:cNvPr id="38" name="Shape 36"/>
          <p:cNvSpPr/>
          <p:nvPr/>
        </p:nvSpPr>
        <p:spPr>
          <a:xfrm>
            <a:off x="7507224" y="3429000"/>
            <a:ext cx="2212848" cy="1188720"/>
          </a:xfrm>
          <a:prstGeom prst="rect">
            <a:avLst/>
          </a:prstGeom>
          <a:solidFill>
            <a:srgbClr val="F8FAFC"/>
          </a:solidFill>
          <a:ln w="9525">
            <a:solidFill>
              <a:srgbClr val="E2E8F0"/>
            </a:solidFill>
            <a:prstDash val="solid"/>
          </a:ln>
        </p:spPr>
        <p:txBody>
          <a:bodyPr/>
          <a:lstStyle/>
          <a:p>
            <a:endParaRPr lang="en-US"/>
          </a:p>
        </p:txBody>
      </p:sp>
      <p:sp>
        <p:nvSpPr>
          <p:cNvPr id="39" name="Shape 37"/>
          <p:cNvSpPr/>
          <p:nvPr/>
        </p:nvSpPr>
        <p:spPr>
          <a:xfrm>
            <a:off x="7507224"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40" name="Text 38"/>
          <p:cNvSpPr/>
          <p:nvPr/>
        </p:nvSpPr>
        <p:spPr>
          <a:xfrm>
            <a:off x="7690104" y="352044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Service</a:t>
            </a:r>
            <a:endParaRPr lang="en-US" sz="1500" dirty="0"/>
          </a:p>
        </p:txBody>
      </p:sp>
      <p:sp>
        <p:nvSpPr>
          <p:cNvPr id="41" name="Text 39"/>
          <p:cNvSpPr/>
          <p:nvPr/>
        </p:nvSpPr>
        <p:spPr>
          <a:xfrm>
            <a:off x="7690104" y="388620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“Sales experience issue”</a:t>
            </a:r>
            <a:endParaRPr lang="en-US" sz="1050" dirty="0"/>
          </a:p>
        </p:txBody>
      </p:sp>
      <p:sp>
        <p:nvSpPr>
          <p:cNvPr id="42" name="Shape 40"/>
          <p:cNvSpPr/>
          <p:nvPr/>
        </p:nvSpPr>
        <p:spPr>
          <a:xfrm>
            <a:off x="9857232" y="3429000"/>
            <a:ext cx="2212848" cy="1188720"/>
          </a:xfrm>
          <a:prstGeom prst="rect">
            <a:avLst/>
          </a:prstGeom>
          <a:solidFill>
            <a:srgbClr val="F8FAFC"/>
          </a:solidFill>
          <a:ln w="9525">
            <a:solidFill>
              <a:srgbClr val="E2E8F0"/>
            </a:solidFill>
            <a:prstDash val="solid"/>
          </a:ln>
        </p:spPr>
        <p:txBody>
          <a:bodyPr/>
          <a:lstStyle/>
          <a:p>
            <a:endParaRPr lang="en-US"/>
          </a:p>
        </p:txBody>
      </p:sp>
      <p:sp>
        <p:nvSpPr>
          <p:cNvPr id="43" name="Shape 41"/>
          <p:cNvSpPr/>
          <p:nvPr/>
        </p:nvSpPr>
        <p:spPr>
          <a:xfrm>
            <a:off x="9857232" y="3429000"/>
            <a:ext cx="64008" cy="1188720"/>
          </a:xfrm>
          <a:prstGeom prst="rect">
            <a:avLst/>
          </a:prstGeom>
          <a:solidFill>
            <a:srgbClr val="0F766E"/>
          </a:solidFill>
          <a:ln w="12700">
            <a:solidFill>
              <a:srgbClr val="333333"/>
            </a:solidFill>
            <a:prstDash val="solid"/>
          </a:ln>
        </p:spPr>
        <p:txBody>
          <a:bodyPr/>
          <a:lstStyle/>
          <a:p>
            <a:endParaRPr lang="en-US"/>
          </a:p>
        </p:txBody>
      </p:sp>
      <p:sp>
        <p:nvSpPr>
          <p:cNvPr id="44" name="Text 42"/>
          <p:cNvSpPr/>
          <p:nvPr/>
        </p:nvSpPr>
        <p:spPr>
          <a:xfrm>
            <a:off x="10040112" y="3520440"/>
            <a:ext cx="1938528"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Other</a:t>
            </a:r>
            <a:endParaRPr lang="en-US" sz="1500" dirty="0"/>
          </a:p>
        </p:txBody>
      </p:sp>
      <p:sp>
        <p:nvSpPr>
          <p:cNvPr id="45" name="Text 43"/>
          <p:cNvSpPr/>
          <p:nvPr/>
        </p:nvSpPr>
        <p:spPr>
          <a:xfrm>
            <a:off x="10040112" y="3886200"/>
            <a:ext cx="1938528" cy="68580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“None of the above”</a:t>
            </a:r>
            <a:endParaRPr lang="en-US" sz="1050" dirty="0"/>
          </a:p>
        </p:txBody>
      </p:sp>
      <p:sp>
        <p:nvSpPr>
          <p:cNvPr id="46" name="Shape 44"/>
          <p:cNvSpPr/>
          <p:nvPr/>
        </p:nvSpPr>
        <p:spPr>
          <a:xfrm>
            <a:off x="457200" y="5074920"/>
            <a:ext cx="11247120" cy="1280160"/>
          </a:xfrm>
          <a:prstGeom prst="rect">
            <a:avLst/>
          </a:prstGeom>
          <a:solidFill>
            <a:srgbClr val="FEF3C7"/>
          </a:solidFill>
          <a:ln w="6350">
            <a:solidFill>
              <a:srgbClr val="B45309"/>
            </a:solidFill>
            <a:prstDash val="solid"/>
          </a:ln>
        </p:spPr>
        <p:txBody>
          <a:bodyPr/>
          <a:lstStyle/>
          <a:p>
            <a:endParaRPr lang="en-US"/>
          </a:p>
        </p:txBody>
      </p:sp>
      <p:sp>
        <p:nvSpPr>
          <p:cNvPr id="47" name="Shape 45"/>
          <p:cNvSpPr/>
          <p:nvPr/>
        </p:nvSpPr>
        <p:spPr>
          <a:xfrm>
            <a:off x="457200" y="5074920"/>
            <a:ext cx="64008" cy="1280160"/>
          </a:xfrm>
          <a:prstGeom prst="rect">
            <a:avLst/>
          </a:prstGeom>
          <a:solidFill>
            <a:srgbClr val="B45309"/>
          </a:solidFill>
          <a:ln w="12700">
            <a:solidFill>
              <a:srgbClr val="333333"/>
            </a:solidFill>
            <a:prstDash val="solid"/>
          </a:ln>
        </p:spPr>
        <p:txBody>
          <a:bodyPr/>
          <a:lstStyle/>
          <a:p>
            <a:endParaRPr lang="en-US"/>
          </a:p>
        </p:txBody>
      </p:sp>
      <p:sp>
        <p:nvSpPr>
          <p:cNvPr id="48" name="Text 46"/>
          <p:cNvSpPr/>
          <p:nvPr/>
        </p:nvSpPr>
        <p:spPr>
          <a:xfrm>
            <a:off x="640080" y="5166360"/>
            <a:ext cx="10972800" cy="274320"/>
          </a:xfrm>
          <a:prstGeom prst="rect">
            <a:avLst/>
          </a:prstGeom>
          <a:noFill/>
          <a:ln/>
        </p:spPr>
        <p:txBody>
          <a:bodyPr wrap="square" lIns="0" tIns="0" rIns="0" bIns="0" rtlCol="0" anchor="ctr"/>
          <a:lstStyle/>
          <a:p>
            <a:pPr marL="0" indent="0">
              <a:buNone/>
            </a:pPr>
            <a:r>
              <a:rPr lang="en-US" sz="1050" b="1" kern="0" spc="400" dirty="0">
                <a:solidFill>
                  <a:srgbClr val="B45309"/>
                </a:solidFill>
                <a:latin typeface="Calibri" pitchFamily="34" charset="0"/>
                <a:ea typeface="Calibri" pitchFamily="34" charset="-122"/>
                <a:cs typeface="Calibri" pitchFamily="34" charset="-120"/>
              </a:rPr>
              <a:t>HOW THIS HELPS YOU</a:t>
            </a:r>
            <a:endParaRPr lang="en-US" sz="1050" dirty="0"/>
          </a:p>
        </p:txBody>
      </p:sp>
      <p:sp>
        <p:nvSpPr>
          <p:cNvPr id="49" name="Text 47"/>
          <p:cNvSpPr/>
          <p:nvPr/>
        </p:nvSpPr>
        <p:spPr>
          <a:xfrm>
            <a:off x="640080" y="5440680"/>
            <a:ext cx="10972800" cy="86868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These categories never drift.  </a:t>
            </a:r>
            <a:r>
              <a:rPr lang="en-US" sz="1200" dirty="0">
                <a:solidFill>
                  <a:srgbClr val="334155"/>
                </a:solidFill>
                <a:latin typeface="Calibri" pitchFamily="34" charset="0"/>
                <a:ea typeface="Calibri" pitchFamily="34" charset="-122"/>
                <a:cs typeface="Calibri" pitchFamily="34" charset="-120"/>
              </a:rPr>
              <a:t>The 'Size' bucket at X2 in May means the same thing as the 'Size' bucket at X5 in November.  That is what makes cross-store comparisons and trend lines trustworthy — and it is why you can confidently say </a:t>
            </a:r>
            <a:r>
              <a:rPr lang="en-US" sz="1200" i="1" dirty="0">
                <a:solidFill>
                  <a:srgbClr val="0F172A"/>
                </a:solidFill>
                <a:latin typeface="Calibri" pitchFamily="34" charset="0"/>
                <a:ea typeface="Calibri" pitchFamily="34" charset="-122"/>
                <a:cs typeface="Calibri" pitchFamily="34" charset="-120"/>
              </a:rPr>
              <a:t>“price complaints at X3 are up 18% over the quarter”</a:t>
            </a:r>
            <a:r>
              <a:rPr lang="en-US" sz="1200" dirty="0">
                <a:solidFill>
                  <a:srgbClr val="334155"/>
                </a:solidFill>
                <a:latin typeface="Calibri" pitchFamily="34" charset="0"/>
                <a:ea typeface="Calibri" pitchFamily="34" charset="-122"/>
                <a:cs typeface="Calibri" pitchFamily="34" charset="-120"/>
              </a:rPr>
              <a:t> without worrying that the underlying definition shifted.</a:t>
            </a:r>
            <a:endParaRPr lang="en-US" sz="1200" dirty="0"/>
          </a:p>
        </p:txBody>
      </p:sp>
      <p:sp>
        <p:nvSpPr>
          <p:cNvPr id="50" name="Text 48"/>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15</a:t>
            </a:r>
            <a:endParaRPr lang="en-US" sz="900" dirty="0"/>
          </a:p>
        </p:txBody>
      </p:sp>
      <p:sp>
        <p:nvSpPr>
          <p:cNvPr id="51" name="Text 49"/>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SNAPSHOT · COMPARISON · TREND</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Three Patterns You'll Use Most</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Most of what you'll ask falls into one of these three shapes.  Once you have the shape in mind, the wording is easy.</a:t>
            </a:r>
            <a:endParaRPr lang="en-US" sz="1300" dirty="0"/>
          </a:p>
        </p:txBody>
      </p:sp>
      <p:sp>
        <p:nvSpPr>
          <p:cNvPr id="6" name="Shape 4"/>
          <p:cNvSpPr/>
          <p:nvPr/>
        </p:nvSpPr>
        <p:spPr>
          <a:xfrm>
            <a:off x="457200" y="2011680"/>
            <a:ext cx="3657600" cy="411480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2011680"/>
            <a:ext cx="64008" cy="4114800"/>
          </a:xfrm>
          <a:prstGeom prst="rect">
            <a:avLst/>
          </a:prstGeom>
          <a:solidFill>
            <a:srgbClr val="0F766E"/>
          </a:solidFill>
          <a:ln w="12700">
            <a:solidFill>
              <a:srgbClr val="333333"/>
            </a:solidFill>
            <a:prstDash val="solid"/>
          </a:ln>
        </p:spPr>
        <p:txBody>
          <a:bodyPr/>
          <a:lstStyle/>
          <a:p>
            <a:endParaRPr lang="en-US"/>
          </a:p>
        </p:txBody>
      </p:sp>
      <p:sp>
        <p:nvSpPr>
          <p:cNvPr id="8" name="Shape 6"/>
          <p:cNvSpPr/>
          <p:nvPr/>
        </p:nvSpPr>
        <p:spPr>
          <a:xfrm>
            <a:off x="640080" y="2194560"/>
            <a:ext cx="502920" cy="502920"/>
          </a:xfrm>
          <a:prstGeom prst="ellipse">
            <a:avLst/>
          </a:prstGeom>
          <a:solidFill>
            <a:srgbClr val="0F766E"/>
          </a:solidFill>
          <a:ln w="12700">
            <a:solidFill>
              <a:srgbClr val="333333"/>
            </a:solidFill>
            <a:prstDash val="solid"/>
          </a:ln>
        </p:spPr>
        <p:txBody>
          <a:bodyPr/>
          <a:lstStyle/>
          <a:p>
            <a:endParaRPr lang="en-US"/>
          </a:p>
        </p:txBody>
      </p:sp>
      <p:sp>
        <p:nvSpPr>
          <p:cNvPr id="9" name="Text 7"/>
          <p:cNvSpPr/>
          <p:nvPr/>
        </p:nvSpPr>
        <p:spPr>
          <a:xfrm>
            <a:off x="640080" y="219456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280160" y="2212848"/>
            <a:ext cx="274320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Snapshot</a:t>
            </a:r>
            <a:endParaRPr lang="en-US" sz="1700" dirty="0"/>
          </a:p>
        </p:txBody>
      </p:sp>
      <p:sp>
        <p:nvSpPr>
          <p:cNvPr id="11" name="Text 9"/>
          <p:cNvSpPr/>
          <p:nvPr/>
        </p:nvSpPr>
        <p:spPr>
          <a:xfrm>
            <a:off x="1280160" y="2514600"/>
            <a:ext cx="274320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One store · one moment in time</a:t>
            </a:r>
            <a:endParaRPr lang="en-US" sz="1050" dirty="0"/>
          </a:p>
        </p:txBody>
      </p:sp>
      <p:sp>
        <p:nvSpPr>
          <p:cNvPr id="12" name="Text 10"/>
          <p:cNvSpPr/>
          <p:nvPr/>
        </p:nvSpPr>
        <p:spPr>
          <a:xfrm>
            <a:off x="640080" y="2926080"/>
            <a:ext cx="3291840" cy="228600"/>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EXAMPLE</a:t>
            </a:r>
            <a:endParaRPr lang="en-US" sz="850" dirty="0"/>
          </a:p>
        </p:txBody>
      </p:sp>
      <p:sp>
        <p:nvSpPr>
          <p:cNvPr id="13" name="Shape 11"/>
          <p:cNvSpPr/>
          <p:nvPr/>
        </p:nvSpPr>
        <p:spPr>
          <a:xfrm>
            <a:off x="640080" y="3154680"/>
            <a:ext cx="3291840" cy="594360"/>
          </a:xfrm>
          <a:prstGeom prst="roundRect">
            <a:avLst>
              <a:gd name="adj" fmla="val 15385"/>
            </a:avLst>
          </a:prstGeom>
          <a:solidFill>
            <a:srgbClr val="FFFFFF"/>
          </a:solidFill>
          <a:ln w="6350">
            <a:solidFill>
              <a:srgbClr val="E2E8F0"/>
            </a:solidFill>
            <a:prstDash val="solid"/>
          </a:ln>
        </p:spPr>
        <p:txBody>
          <a:bodyPr/>
          <a:lstStyle/>
          <a:p>
            <a:endParaRPr lang="en-US"/>
          </a:p>
        </p:txBody>
      </p:sp>
      <p:sp>
        <p:nvSpPr>
          <p:cNvPr id="14" name="Text 12"/>
          <p:cNvSpPr/>
          <p:nvPr/>
        </p:nvSpPr>
        <p:spPr>
          <a:xfrm>
            <a:off x="731520" y="3200400"/>
            <a:ext cx="3108960" cy="502920"/>
          </a:xfrm>
          <a:prstGeom prst="rect">
            <a:avLst/>
          </a:prstGeom>
          <a:noFill/>
          <a:ln/>
        </p:spPr>
        <p:txBody>
          <a:bodyPr wrap="square" lIns="0" tIns="0" rIns="0" bIns="0" rtlCol="0" anchor="ctr"/>
          <a:lstStyle/>
          <a:p>
            <a:pPr marL="0" indent="0">
              <a:buNone/>
            </a:pPr>
            <a:r>
              <a:rPr lang="en-US" sz="1100" i="1" dirty="0">
                <a:solidFill>
                  <a:srgbClr val="0F172A"/>
                </a:solidFill>
                <a:latin typeface="Calibri" pitchFamily="34" charset="0"/>
                <a:ea typeface="Calibri" pitchFamily="34" charset="-122"/>
                <a:cs typeface="Calibri" pitchFamily="34" charset="-120"/>
              </a:rPr>
              <a:t>"What's the top reason at X3 yesterday?"</a:t>
            </a:r>
            <a:endParaRPr lang="en-US" sz="1100" dirty="0"/>
          </a:p>
        </p:txBody>
      </p:sp>
      <p:sp>
        <p:nvSpPr>
          <p:cNvPr id="15" name="Text 13"/>
          <p:cNvSpPr/>
          <p:nvPr/>
        </p:nvSpPr>
        <p:spPr>
          <a:xfrm>
            <a:off x="640080" y="3886200"/>
            <a:ext cx="3291840" cy="228600"/>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WHAT YOU'LL SEE</a:t>
            </a:r>
            <a:endParaRPr lang="en-US" sz="850" dirty="0"/>
          </a:p>
        </p:txBody>
      </p:sp>
      <p:sp>
        <p:nvSpPr>
          <p:cNvPr id="16" name="Text 14"/>
          <p:cNvSpPr/>
          <p:nvPr/>
        </p:nvSpPr>
        <p:spPr>
          <a:xfrm>
            <a:off x="640080" y="4114800"/>
            <a:ext cx="3291840" cy="7772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 ranked list of reasons, with counts and the one or two stand-out drivers called out.</a:t>
            </a:r>
            <a:endParaRPr lang="en-US" sz="1100" dirty="0"/>
          </a:p>
        </p:txBody>
      </p:sp>
      <p:sp>
        <p:nvSpPr>
          <p:cNvPr id="17" name="Text 15"/>
          <p:cNvSpPr/>
          <p:nvPr/>
        </p:nvSpPr>
        <p:spPr>
          <a:xfrm>
            <a:off x="640080" y="4983480"/>
            <a:ext cx="3291840" cy="228600"/>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WHEN TO USE</a:t>
            </a:r>
            <a:endParaRPr lang="en-US" sz="850" dirty="0"/>
          </a:p>
        </p:txBody>
      </p:sp>
      <p:sp>
        <p:nvSpPr>
          <p:cNvPr id="18" name="Text 16"/>
          <p:cNvSpPr/>
          <p:nvPr/>
        </p:nvSpPr>
        <p:spPr>
          <a:xfrm>
            <a:off x="640080" y="5212080"/>
            <a:ext cx="3291840" cy="8686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Quick read on a specific store.  Useful before a store visit or a call with the store manager.</a:t>
            </a:r>
            <a:endParaRPr lang="en-US" sz="1100" dirty="0"/>
          </a:p>
        </p:txBody>
      </p:sp>
      <p:sp>
        <p:nvSpPr>
          <p:cNvPr id="19" name="Shape 17"/>
          <p:cNvSpPr/>
          <p:nvPr/>
        </p:nvSpPr>
        <p:spPr>
          <a:xfrm>
            <a:off x="4297680" y="2011680"/>
            <a:ext cx="3657600" cy="4114800"/>
          </a:xfrm>
          <a:prstGeom prst="rect">
            <a:avLst/>
          </a:prstGeom>
          <a:solidFill>
            <a:srgbClr val="F8FAFC"/>
          </a:solidFill>
          <a:ln w="9525">
            <a:solidFill>
              <a:srgbClr val="E2E8F0"/>
            </a:solidFill>
            <a:prstDash val="solid"/>
          </a:ln>
        </p:spPr>
        <p:txBody>
          <a:bodyPr/>
          <a:lstStyle/>
          <a:p>
            <a:endParaRPr lang="en-US"/>
          </a:p>
        </p:txBody>
      </p:sp>
      <p:sp>
        <p:nvSpPr>
          <p:cNvPr id="20" name="Shape 18"/>
          <p:cNvSpPr/>
          <p:nvPr/>
        </p:nvSpPr>
        <p:spPr>
          <a:xfrm>
            <a:off x="4297680" y="2011680"/>
            <a:ext cx="64008" cy="4114800"/>
          </a:xfrm>
          <a:prstGeom prst="rect">
            <a:avLst/>
          </a:prstGeom>
          <a:solidFill>
            <a:srgbClr val="B45309"/>
          </a:solidFill>
          <a:ln w="12700">
            <a:solidFill>
              <a:srgbClr val="333333"/>
            </a:solidFill>
            <a:prstDash val="solid"/>
          </a:ln>
        </p:spPr>
        <p:txBody>
          <a:bodyPr/>
          <a:lstStyle/>
          <a:p>
            <a:endParaRPr lang="en-US"/>
          </a:p>
        </p:txBody>
      </p:sp>
      <p:sp>
        <p:nvSpPr>
          <p:cNvPr id="21" name="Shape 19"/>
          <p:cNvSpPr/>
          <p:nvPr/>
        </p:nvSpPr>
        <p:spPr>
          <a:xfrm>
            <a:off x="4480560" y="2194560"/>
            <a:ext cx="502920" cy="502920"/>
          </a:xfrm>
          <a:prstGeom prst="ellipse">
            <a:avLst/>
          </a:prstGeom>
          <a:solidFill>
            <a:srgbClr val="B45309"/>
          </a:solidFill>
          <a:ln w="12700">
            <a:solidFill>
              <a:srgbClr val="333333"/>
            </a:solidFill>
            <a:prstDash val="solid"/>
          </a:ln>
        </p:spPr>
        <p:txBody>
          <a:bodyPr/>
          <a:lstStyle/>
          <a:p>
            <a:endParaRPr lang="en-US"/>
          </a:p>
        </p:txBody>
      </p:sp>
      <p:sp>
        <p:nvSpPr>
          <p:cNvPr id="22" name="Text 20"/>
          <p:cNvSpPr/>
          <p:nvPr/>
        </p:nvSpPr>
        <p:spPr>
          <a:xfrm>
            <a:off x="4480560" y="219456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3" name="Text 21"/>
          <p:cNvSpPr/>
          <p:nvPr/>
        </p:nvSpPr>
        <p:spPr>
          <a:xfrm>
            <a:off x="5120640" y="2212848"/>
            <a:ext cx="274320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Comparison</a:t>
            </a:r>
            <a:endParaRPr lang="en-US" sz="1700" dirty="0"/>
          </a:p>
        </p:txBody>
      </p:sp>
      <p:sp>
        <p:nvSpPr>
          <p:cNvPr id="24" name="Text 22"/>
          <p:cNvSpPr/>
          <p:nvPr/>
        </p:nvSpPr>
        <p:spPr>
          <a:xfrm>
            <a:off x="5120640" y="2514600"/>
            <a:ext cx="274320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Two or more stores side by side</a:t>
            </a:r>
            <a:endParaRPr lang="en-US" sz="1050" dirty="0"/>
          </a:p>
        </p:txBody>
      </p:sp>
      <p:sp>
        <p:nvSpPr>
          <p:cNvPr id="25" name="Text 23"/>
          <p:cNvSpPr/>
          <p:nvPr/>
        </p:nvSpPr>
        <p:spPr>
          <a:xfrm>
            <a:off x="4480560" y="2926080"/>
            <a:ext cx="3291840" cy="228600"/>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EXAMPLE</a:t>
            </a:r>
            <a:endParaRPr lang="en-US" sz="850" dirty="0"/>
          </a:p>
        </p:txBody>
      </p:sp>
      <p:sp>
        <p:nvSpPr>
          <p:cNvPr id="26" name="Shape 24"/>
          <p:cNvSpPr/>
          <p:nvPr/>
        </p:nvSpPr>
        <p:spPr>
          <a:xfrm>
            <a:off x="4480560" y="3154680"/>
            <a:ext cx="3291840" cy="594360"/>
          </a:xfrm>
          <a:prstGeom prst="roundRect">
            <a:avLst>
              <a:gd name="adj" fmla="val 15385"/>
            </a:avLst>
          </a:prstGeom>
          <a:solidFill>
            <a:srgbClr val="FFFFFF"/>
          </a:solidFill>
          <a:ln w="6350">
            <a:solidFill>
              <a:srgbClr val="E2E8F0"/>
            </a:solidFill>
            <a:prstDash val="solid"/>
          </a:ln>
        </p:spPr>
        <p:txBody>
          <a:bodyPr/>
          <a:lstStyle/>
          <a:p>
            <a:endParaRPr lang="en-US"/>
          </a:p>
        </p:txBody>
      </p:sp>
      <p:sp>
        <p:nvSpPr>
          <p:cNvPr id="27" name="Text 25"/>
          <p:cNvSpPr/>
          <p:nvPr/>
        </p:nvSpPr>
        <p:spPr>
          <a:xfrm>
            <a:off x="4572000" y="3200400"/>
            <a:ext cx="3108960" cy="502920"/>
          </a:xfrm>
          <a:prstGeom prst="rect">
            <a:avLst/>
          </a:prstGeom>
          <a:noFill/>
          <a:ln/>
        </p:spPr>
        <p:txBody>
          <a:bodyPr wrap="square" lIns="0" tIns="0" rIns="0" bIns="0" rtlCol="0" anchor="ctr"/>
          <a:lstStyle/>
          <a:p>
            <a:pPr marL="0" indent="0">
              <a:buNone/>
            </a:pPr>
            <a:r>
              <a:rPr lang="en-US" sz="1100" i="1" dirty="0">
                <a:solidFill>
                  <a:srgbClr val="0F172A"/>
                </a:solidFill>
                <a:latin typeface="Calibri" pitchFamily="34" charset="0"/>
                <a:ea typeface="Calibri" pitchFamily="34" charset="-122"/>
                <a:cs typeface="Calibri" pitchFamily="34" charset="-120"/>
              </a:rPr>
              <a:t>"Compare size issues across X1 and X4 last month."</a:t>
            </a:r>
            <a:endParaRPr lang="en-US" sz="1100" dirty="0"/>
          </a:p>
        </p:txBody>
      </p:sp>
      <p:sp>
        <p:nvSpPr>
          <p:cNvPr id="28" name="Text 26"/>
          <p:cNvSpPr/>
          <p:nvPr/>
        </p:nvSpPr>
        <p:spPr>
          <a:xfrm>
            <a:off x="4480560" y="3886200"/>
            <a:ext cx="3291840" cy="228600"/>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WHAT YOU'LL SEE</a:t>
            </a:r>
            <a:endParaRPr lang="en-US" sz="850" dirty="0"/>
          </a:p>
        </p:txBody>
      </p:sp>
      <p:sp>
        <p:nvSpPr>
          <p:cNvPr id="29" name="Text 27"/>
          <p:cNvSpPr/>
          <p:nvPr/>
        </p:nvSpPr>
        <p:spPr>
          <a:xfrm>
            <a:off x="4480560" y="4114800"/>
            <a:ext cx="3291840" cy="7772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 side-by-side table or grouped bar chart.  Differences flagged in the prose.</a:t>
            </a:r>
            <a:endParaRPr lang="en-US" sz="1100" dirty="0"/>
          </a:p>
        </p:txBody>
      </p:sp>
      <p:sp>
        <p:nvSpPr>
          <p:cNvPr id="30" name="Text 28"/>
          <p:cNvSpPr/>
          <p:nvPr/>
        </p:nvSpPr>
        <p:spPr>
          <a:xfrm>
            <a:off x="4480560" y="4983480"/>
            <a:ext cx="3291840" cy="228600"/>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WHEN TO USE</a:t>
            </a:r>
            <a:endParaRPr lang="en-US" sz="850" dirty="0"/>
          </a:p>
        </p:txBody>
      </p:sp>
      <p:sp>
        <p:nvSpPr>
          <p:cNvPr id="31" name="Text 29"/>
          <p:cNvSpPr/>
          <p:nvPr/>
        </p:nvSpPr>
        <p:spPr>
          <a:xfrm>
            <a:off x="4480560" y="5212080"/>
            <a:ext cx="3291840" cy="8686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Spot where one store is doing better or worse than its peers — useful for the weekly review.</a:t>
            </a:r>
            <a:endParaRPr lang="en-US" sz="1100" dirty="0"/>
          </a:p>
        </p:txBody>
      </p:sp>
      <p:sp>
        <p:nvSpPr>
          <p:cNvPr id="32" name="Shape 30"/>
          <p:cNvSpPr/>
          <p:nvPr/>
        </p:nvSpPr>
        <p:spPr>
          <a:xfrm>
            <a:off x="8138160" y="2011680"/>
            <a:ext cx="3657600" cy="4114800"/>
          </a:xfrm>
          <a:prstGeom prst="rect">
            <a:avLst/>
          </a:prstGeom>
          <a:solidFill>
            <a:srgbClr val="F8FAFC"/>
          </a:solidFill>
          <a:ln w="9525">
            <a:solidFill>
              <a:srgbClr val="E2E8F0"/>
            </a:solidFill>
            <a:prstDash val="solid"/>
          </a:ln>
        </p:spPr>
        <p:txBody>
          <a:bodyPr/>
          <a:lstStyle/>
          <a:p>
            <a:endParaRPr lang="en-US"/>
          </a:p>
        </p:txBody>
      </p:sp>
      <p:sp>
        <p:nvSpPr>
          <p:cNvPr id="33" name="Shape 31"/>
          <p:cNvSpPr/>
          <p:nvPr/>
        </p:nvSpPr>
        <p:spPr>
          <a:xfrm>
            <a:off x="8138160" y="2011680"/>
            <a:ext cx="64008" cy="4114800"/>
          </a:xfrm>
          <a:prstGeom prst="rect">
            <a:avLst/>
          </a:prstGeom>
          <a:solidFill>
            <a:srgbClr val="1E293B"/>
          </a:solidFill>
          <a:ln w="12700">
            <a:solidFill>
              <a:srgbClr val="333333"/>
            </a:solidFill>
            <a:prstDash val="solid"/>
          </a:ln>
        </p:spPr>
        <p:txBody>
          <a:bodyPr/>
          <a:lstStyle/>
          <a:p>
            <a:endParaRPr lang="en-US"/>
          </a:p>
        </p:txBody>
      </p:sp>
      <p:sp>
        <p:nvSpPr>
          <p:cNvPr id="34" name="Shape 32"/>
          <p:cNvSpPr/>
          <p:nvPr/>
        </p:nvSpPr>
        <p:spPr>
          <a:xfrm>
            <a:off x="8321040" y="2194560"/>
            <a:ext cx="502920" cy="502920"/>
          </a:xfrm>
          <a:prstGeom prst="ellipse">
            <a:avLst/>
          </a:prstGeom>
          <a:solidFill>
            <a:srgbClr val="1E293B"/>
          </a:solidFill>
          <a:ln w="12700">
            <a:solidFill>
              <a:srgbClr val="333333"/>
            </a:solidFill>
            <a:prstDash val="solid"/>
          </a:ln>
        </p:spPr>
        <p:txBody>
          <a:bodyPr/>
          <a:lstStyle/>
          <a:p>
            <a:endParaRPr lang="en-US"/>
          </a:p>
        </p:txBody>
      </p:sp>
      <p:sp>
        <p:nvSpPr>
          <p:cNvPr id="35" name="Text 33"/>
          <p:cNvSpPr/>
          <p:nvPr/>
        </p:nvSpPr>
        <p:spPr>
          <a:xfrm>
            <a:off x="8321040" y="219456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36" name="Text 34"/>
          <p:cNvSpPr/>
          <p:nvPr/>
        </p:nvSpPr>
        <p:spPr>
          <a:xfrm>
            <a:off x="8961120" y="2212848"/>
            <a:ext cx="274320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Trend</a:t>
            </a:r>
            <a:endParaRPr lang="en-US" sz="1700" dirty="0"/>
          </a:p>
        </p:txBody>
      </p:sp>
      <p:sp>
        <p:nvSpPr>
          <p:cNvPr id="37" name="Text 35"/>
          <p:cNvSpPr/>
          <p:nvPr/>
        </p:nvSpPr>
        <p:spPr>
          <a:xfrm>
            <a:off x="8961120" y="2514600"/>
            <a:ext cx="274320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One topic · over a window of time</a:t>
            </a:r>
            <a:endParaRPr lang="en-US" sz="1050" dirty="0"/>
          </a:p>
        </p:txBody>
      </p:sp>
      <p:sp>
        <p:nvSpPr>
          <p:cNvPr id="38" name="Text 36"/>
          <p:cNvSpPr/>
          <p:nvPr/>
        </p:nvSpPr>
        <p:spPr>
          <a:xfrm>
            <a:off x="8321040" y="2926080"/>
            <a:ext cx="3291840" cy="228600"/>
          </a:xfrm>
          <a:prstGeom prst="rect">
            <a:avLst/>
          </a:prstGeom>
          <a:noFill/>
          <a:ln/>
        </p:spPr>
        <p:txBody>
          <a:bodyPr wrap="square" lIns="0" tIns="0" rIns="0" bIns="0" rtlCol="0" anchor="ctr"/>
          <a:lstStyle/>
          <a:p>
            <a:pPr marL="0" indent="0">
              <a:buNone/>
            </a:pPr>
            <a:r>
              <a:rPr lang="en-US" sz="850" b="1" kern="0" spc="300" dirty="0">
                <a:solidFill>
                  <a:srgbClr val="1E293B"/>
                </a:solidFill>
                <a:latin typeface="Calibri" pitchFamily="34" charset="0"/>
                <a:ea typeface="Calibri" pitchFamily="34" charset="-122"/>
                <a:cs typeface="Calibri" pitchFamily="34" charset="-120"/>
              </a:rPr>
              <a:t>EXAMPLE</a:t>
            </a:r>
            <a:endParaRPr lang="en-US" sz="850" dirty="0"/>
          </a:p>
        </p:txBody>
      </p:sp>
      <p:sp>
        <p:nvSpPr>
          <p:cNvPr id="39" name="Shape 37"/>
          <p:cNvSpPr/>
          <p:nvPr/>
        </p:nvSpPr>
        <p:spPr>
          <a:xfrm>
            <a:off x="8321040" y="3154680"/>
            <a:ext cx="3291840" cy="594360"/>
          </a:xfrm>
          <a:prstGeom prst="roundRect">
            <a:avLst>
              <a:gd name="adj" fmla="val 15385"/>
            </a:avLst>
          </a:prstGeom>
          <a:solidFill>
            <a:srgbClr val="FFFFFF"/>
          </a:solidFill>
          <a:ln w="6350">
            <a:solidFill>
              <a:srgbClr val="E2E8F0"/>
            </a:solidFill>
            <a:prstDash val="solid"/>
          </a:ln>
        </p:spPr>
        <p:txBody>
          <a:bodyPr/>
          <a:lstStyle/>
          <a:p>
            <a:endParaRPr lang="en-US"/>
          </a:p>
        </p:txBody>
      </p:sp>
      <p:sp>
        <p:nvSpPr>
          <p:cNvPr id="40" name="Text 38"/>
          <p:cNvSpPr/>
          <p:nvPr/>
        </p:nvSpPr>
        <p:spPr>
          <a:xfrm>
            <a:off x="8412480" y="3200400"/>
            <a:ext cx="3108960" cy="502920"/>
          </a:xfrm>
          <a:prstGeom prst="rect">
            <a:avLst/>
          </a:prstGeom>
          <a:noFill/>
          <a:ln/>
        </p:spPr>
        <p:txBody>
          <a:bodyPr wrap="square" lIns="0" tIns="0" rIns="0" bIns="0" rtlCol="0" anchor="ctr"/>
          <a:lstStyle/>
          <a:p>
            <a:pPr marL="0" indent="0">
              <a:buNone/>
            </a:pPr>
            <a:r>
              <a:rPr lang="en-US" sz="1100" i="1" dirty="0">
                <a:solidFill>
                  <a:srgbClr val="0F172A"/>
                </a:solidFill>
                <a:latin typeface="Calibri" pitchFamily="34" charset="0"/>
                <a:ea typeface="Calibri" pitchFamily="34" charset="-122"/>
                <a:cs typeface="Calibri" pitchFamily="34" charset="-120"/>
              </a:rPr>
              <a:t>"Has stock unavailability changed at X5 since we restocked?"</a:t>
            </a:r>
            <a:endParaRPr lang="en-US" sz="1100" dirty="0"/>
          </a:p>
        </p:txBody>
      </p:sp>
      <p:sp>
        <p:nvSpPr>
          <p:cNvPr id="41" name="Text 39"/>
          <p:cNvSpPr/>
          <p:nvPr/>
        </p:nvSpPr>
        <p:spPr>
          <a:xfrm>
            <a:off x="8321040" y="3886200"/>
            <a:ext cx="3291840" cy="228600"/>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WHAT YOU'LL SEE</a:t>
            </a:r>
            <a:endParaRPr lang="en-US" sz="850" dirty="0"/>
          </a:p>
        </p:txBody>
      </p:sp>
      <p:sp>
        <p:nvSpPr>
          <p:cNvPr id="42" name="Text 40"/>
          <p:cNvSpPr/>
          <p:nvPr/>
        </p:nvSpPr>
        <p:spPr>
          <a:xfrm>
            <a:off x="8321040" y="4114800"/>
            <a:ext cx="3291840" cy="7772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 time-series line chart with the inflection point called out.</a:t>
            </a:r>
            <a:endParaRPr lang="en-US" sz="1100" dirty="0"/>
          </a:p>
        </p:txBody>
      </p:sp>
      <p:sp>
        <p:nvSpPr>
          <p:cNvPr id="43" name="Text 41"/>
          <p:cNvSpPr/>
          <p:nvPr/>
        </p:nvSpPr>
        <p:spPr>
          <a:xfrm>
            <a:off x="8321040" y="4983480"/>
            <a:ext cx="3291840" cy="228600"/>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WHEN TO USE</a:t>
            </a:r>
            <a:endParaRPr lang="en-US" sz="850" dirty="0"/>
          </a:p>
        </p:txBody>
      </p:sp>
      <p:sp>
        <p:nvSpPr>
          <p:cNvPr id="44" name="Text 42"/>
          <p:cNvSpPr/>
          <p:nvPr/>
        </p:nvSpPr>
        <p:spPr>
          <a:xfrm>
            <a:off x="8321040" y="5212080"/>
            <a:ext cx="3291840" cy="8686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Answer 'did the action we took actually work?' — and bring evidence to the Monday meeting.</a:t>
            </a:r>
            <a:endParaRPr lang="en-US" sz="1100" dirty="0"/>
          </a:p>
        </p:txBody>
      </p:sp>
      <p:sp>
        <p:nvSpPr>
          <p:cNvPr id="45" name="Text 43"/>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15</a:t>
            </a:r>
            <a:endParaRPr lang="en-US" sz="900" dirty="0"/>
          </a:p>
        </p:txBody>
      </p:sp>
      <p:sp>
        <p:nvSpPr>
          <p:cNvPr id="46" name="Text 44"/>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WHY YOU CAN TRUST THE NUMBERS</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How It Stays Honest</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This is a real merchandising tool, not a chatbot toy.  The numbers feed real decisions.  Four things are built in to protect you from a wrong answer.</a:t>
            </a:r>
            <a:endParaRPr lang="en-US" sz="1300" dirty="0"/>
          </a:p>
        </p:txBody>
      </p:sp>
      <p:sp>
        <p:nvSpPr>
          <p:cNvPr id="6" name="Shape 4"/>
          <p:cNvSpPr/>
          <p:nvPr/>
        </p:nvSpPr>
        <p:spPr>
          <a:xfrm>
            <a:off x="457200" y="2011680"/>
            <a:ext cx="5486400" cy="1920240"/>
          </a:xfrm>
          <a:prstGeom prst="rect">
            <a:avLst/>
          </a:prstGeom>
          <a:solidFill>
            <a:srgbClr val="ECFDF5"/>
          </a:solidFill>
          <a:ln w="8890">
            <a:solidFill>
              <a:srgbClr val="0F766E"/>
            </a:solidFill>
            <a:prstDash val="solid"/>
          </a:ln>
        </p:spPr>
        <p:txBody>
          <a:bodyPr/>
          <a:lstStyle/>
          <a:p>
            <a:endParaRPr lang="en-US"/>
          </a:p>
        </p:txBody>
      </p:sp>
      <p:sp>
        <p:nvSpPr>
          <p:cNvPr id="7" name="Shape 5"/>
          <p:cNvSpPr/>
          <p:nvPr/>
        </p:nvSpPr>
        <p:spPr>
          <a:xfrm>
            <a:off x="685800" y="2286000"/>
            <a:ext cx="594360" cy="594360"/>
          </a:xfrm>
          <a:prstGeom prst="ellipse">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685800" y="22860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1417320" y="2240280"/>
            <a:ext cx="438912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Every number is checked against the data</a:t>
            </a:r>
            <a:endParaRPr lang="en-US" sz="1500" dirty="0"/>
          </a:p>
        </p:txBody>
      </p:sp>
      <p:sp>
        <p:nvSpPr>
          <p:cNvPr id="10" name="Text 8"/>
          <p:cNvSpPr/>
          <p:nvPr/>
        </p:nvSpPr>
        <p:spPr>
          <a:xfrm>
            <a:off x="1417320" y="2651760"/>
            <a:ext cx="4389120" cy="118872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If the answer claims 41 stock complaints at X2, that 41 was just counted — not estimated, not approximated, not pattern-matched.</a:t>
            </a:r>
            <a:endParaRPr lang="en-US" sz="1200" dirty="0"/>
          </a:p>
        </p:txBody>
      </p:sp>
      <p:sp>
        <p:nvSpPr>
          <p:cNvPr id="11" name="Shape 9"/>
          <p:cNvSpPr/>
          <p:nvPr/>
        </p:nvSpPr>
        <p:spPr>
          <a:xfrm>
            <a:off x="6126480" y="2011680"/>
            <a:ext cx="5486400" cy="1920240"/>
          </a:xfrm>
          <a:prstGeom prst="rect">
            <a:avLst/>
          </a:prstGeom>
          <a:solidFill>
            <a:srgbClr val="ECFDF5"/>
          </a:solidFill>
          <a:ln w="8890">
            <a:solidFill>
              <a:srgbClr val="0F766E"/>
            </a:solidFill>
            <a:prstDash val="solid"/>
          </a:ln>
        </p:spPr>
        <p:txBody>
          <a:bodyPr/>
          <a:lstStyle/>
          <a:p>
            <a:endParaRPr lang="en-US"/>
          </a:p>
        </p:txBody>
      </p:sp>
      <p:sp>
        <p:nvSpPr>
          <p:cNvPr id="12" name="Shape 10"/>
          <p:cNvSpPr/>
          <p:nvPr/>
        </p:nvSpPr>
        <p:spPr>
          <a:xfrm>
            <a:off x="6355080" y="2286000"/>
            <a:ext cx="594360" cy="594360"/>
          </a:xfrm>
          <a:prstGeom prst="ellipse">
            <a:avLst/>
          </a:prstGeom>
          <a:solidFill>
            <a:srgbClr val="0F766E"/>
          </a:solidFill>
          <a:ln w="12700">
            <a:solidFill>
              <a:srgbClr val="333333"/>
            </a:solidFill>
            <a:prstDash val="solid"/>
          </a:ln>
        </p:spPr>
        <p:txBody>
          <a:bodyPr/>
          <a:lstStyle/>
          <a:p>
            <a:endParaRPr lang="en-US"/>
          </a:p>
        </p:txBody>
      </p:sp>
      <p:sp>
        <p:nvSpPr>
          <p:cNvPr id="13" name="Text 11"/>
          <p:cNvSpPr/>
          <p:nvPr/>
        </p:nvSpPr>
        <p:spPr>
          <a:xfrm>
            <a:off x="6355080" y="22860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7086600" y="2240280"/>
            <a:ext cx="438912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If it isn't sure, it says so</a:t>
            </a:r>
            <a:endParaRPr lang="en-US" sz="1500" dirty="0"/>
          </a:p>
        </p:txBody>
      </p:sp>
      <p:sp>
        <p:nvSpPr>
          <p:cNvPr id="15" name="Text 13"/>
          <p:cNvSpPr/>
          <p:nvPr/>
        </p:nvSpPr>
        <p:spPr>
          <a:xfrm>
            <a:off x="7086600" y="2651760"/>
            <a:ext cx="4389120" cy="118872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When the system cannot ground a number, it returns "I don't have enough to answer that" — instead of inventing a plausible-looking number.</a:t>
            </a:r>
            <a:endParaRPr lang="en-US" sz="1200" dirty="0"/>
          </a:p>
        </p:txBody>
      </p:sp>
      <p:sp>
        <p:nvSpPr>
          <p:cNvPr id="16" name="Shape 14"/>
          <p:cNvSpPr/>
          <p:nvPr/>
        </p:nvSpPr>
        <p:spPr>
          <a:xfrm>
            <a:off x="457200" y="4114800"/>
            <a:ext cx="5486400" cy="1920240"/>
          </a:xfrm>
          <a:prstGeom prst="rect">
            <a:avLst/>
          </a:prstGeom>
          <a:solidFill>
            <a:srgbClr val="ECFDF5"/>
          </a:solidFill>
          <a:ln w="8890">
            <a:solidFill>
              <a:srgbClr val="0F766E"/>
            </a:solidFill>
            <a:prstDash val="solid"/>
          </a:ln>
        </p:spPr>
        <p:txBody>
          <a:bodyPr/>
          <a:lstStyle/>
          <a:p>
            <a:endParaRPr lang="en-US"/>
          </a:p>
        </p:txBody>
      </p:sp>
      <p:sp>
        <p:nvSpPr>
          <p:cNvPr id="17" name="Shape 15"/>
          <p:cNvSpPr/>
          <p:nvPr/>
        </p:nvSpPr>
        <p:spPr>
          <a:xfrm>
            <a:off x="685800" y="4389120"/>
            <a:ext cx="594360" cy="594360"/>
          </a:xfrm>
          <a:prstGeom prst="ellipse">
            <a:avLst/>
          </a:prstGeom>
          <a:solidFill>
            <a:srgbClr val="0F766E"/>
          </a:solidFill>
          <a:ln w="12700">
            <a:solidFill>
              <a:srgbClr val="333333"/>
            </a:solidFill>
            <a:prstDash val="solid"/>
          </a:ln>
        </p:spPr>
        <p:txBody>
          <a:bodyPr/>
          <a:lstStyle/>
          <a:p>
            <a:endParaRPr lang="en-US"/>
          </a:p>
        </p:txBody>
      </p:sp>
      <p:sp>
        <p:nvSpPr>
          <p:cNvPr id="18" name="Text 16"/>
          <p:cNvSpPr/>
          <p:nvPr/>
        </p:nvSpPr>
        <p:spPr>
          <a:xfrm>
            <a:off x="685800" y="4389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1417320" y="4343400"/>
            <a:ext cx="438912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Categories never drift</a:t>
            </a:r>
            <a:endParaRPr lang="en-US" sz="1500" dirty="0"/>
          </a:p>
        </p:txBody>
      </p:sp>
      <p:sp>
        <p:nvSpPr>
          <p:cNvPr id="20" name="Text 18"/>
          <p:cNvSpPr/>
          <p:nvPr/>
        </p:nvSpPr>
        <p:spPr>
          <a:xfrm>
            <a:off x="1417320" y="4754880"/>
            <a:ext cx="4389120" cy="118872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The ten feedback buckets mean the same thing today as they did six months ago.  Trend lines stay comparable.</a:t>
            </a:r>
            <a:endParaRPr lang="en-US" sz="1200" dirty="0"/>
          </a:p>
        </p:txBody>
      </p:sp>
      <p:sp>
        <p:nvSpPr>
          <p:cNvPr id="21" name="Shape 19"/>
          <p:cNvSpPr/>
          <p:nvPr/>
        </p:nvSpPr>
        <p:spPr>
          <a:xfrm>
            <a:off x="6126480" y="4114800"/>
            <a:ext cx="5486400" cy="1920240"/>
          </a:xfrm>
          <a:prstGeom prst="rect">
            <a:avLst/>
          </a:prstGeom>
          <a:solidFill>
            <a:srgbClr val="ECFDF5"/>
          </a:solidFill>
          <a:ln w="8890">
            <a:solidFill>
              <a:srgbClr val="0F766E"/>
            </a:solidFill>
            <a:prstDash val="solid"/>
          </a:ln>
        </p:spPr>
        <p:txBody>
          <a:bodyPr/>
          <a:lstStyle/>
          <a:p>
            <a:endParaRPr lang="en-US"/>
          </a:p>
        </p:txBody>
      </p:sp>
      <p:sp>
        <p:nvSpPr>
          <p:cNvPr id="22" name="Shape 20"/>
          <p:cNvSpPr/>
          <p:nvPr/>
        </p:nvSpPr>
        <p:spPr>
          <a:xfrm>
            <a:off x="6355080" y="4389120"/>
            <a:ext cx="594360" cy="594360"/>
          </a:xfrm>
          <a:prstGeom prst="ellipse">
            <a:avLst/>
          </a:prstGeom>
          <a:solidFill>
            <a:srgbClr val="0F766E"/>
          </a:solidFill>
          <a:ln w="12700">
            <a:solidFill>
              <a:srgbClr val="333333"/>
            </a:solidFill>
            <a:prstDash val="solid"/>
          </a:ln>
        </p:spPr>
        <p:txBody>
          <a:bodyPr/>
          <a:lstStyle/>
          <a:p>
            <a:endParaRPr lang="en-US"/>
          </a:p>
        </p:txBody>
      </p:sp>
      <p:sp>
        <p:nvSpPr>
          <p:cNvPr id="23" name="Text 21"/>
          <p:cNvSpPr/>
          <p:nvPr/>
        </p:nvSpPr>
        <p:spPr>
          <a:xfrm>
            <a:off x="6355080" y="4389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7086600" y="4343400"/>
            <a:ext cx="438912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Every answer has a paper trail</a:t>
            </a:r>
            <a:endParaRPr lang="en-US" sz="1500" dirty="0"/>
          </a:p>
        </p:txBody>
      </p:sp>
      <p:sp>
        <p:nvSpPr>
          <p:cNvPr id="25" name="Text 23"/>
          <p:cNvSpPr/>
          <p:nvPr/>
        </p:nvSpPr>
        <p:spPr>
          <a:xfrm>
            <a:off x="7086600" y="4754880"/>
            <a:ext cx="4389120" cy="118872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Click 'How I got this answer' on any response to see exactly which rows were counted, in which way.  No black box.</a:t>
            </a:r>
            <a:endParaRPr lang="en-US" sz="1200" dirty="0"/>
          </a:p>
        </p:txBody>
      </p:sp>
      <p:sp>
        <p:nvSpPr>
          <p:cNvPr id="26" name="Text 24"/>
          <p:cNvSpPr/>
          <p:nvPr/>
        </p:nvSpPr>
        <p:spPr>
          <a:xfrm>
            <a:off x="457200" y="6400800"/>
            <a:ext cx="11247120" cy="274320"/>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The honest version:  </a:t>
            </a:r>
            <a:r>
              <a:rPr lang="en-US" sz="1200" i="1" dirty="0">
                <a:solidFill>
                  <a:srgbClr val="334155"/>
                </a:solidFill>
                <a:latin typeface="Calibri" pitchFamily="34" charset="0"/>
                <a:ea typeface="Calibri" pitchFamily="34" charset="-122"/>
                <a:cs typeface="Calibri" pitchFamily="34" charset="-120"/>
              </a:rPr>
              <a:t>this system would rather refuse than mislead.  When you see a number, you can quote it.</a:t>
            </a:r>
            <a:endParaRPr lang="en-US" sz="1200" dirty="0"/>
          </a:p>
        </p:txBody>
      </p:sp>
      <p:sp>
        <p:nvSpPr>
          <p:cNvPr id="27" name="Text 25"/>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15</a:t>
            </a:r>
            <a:endParaRPr lang="en-US" sz="900" dirty="0"/>
          </a:p>
        </p:txBody>
      </p:sp>
      <p:sp>
        <p:nvSpPr>
          <p:cNvPr id="28" name="Text 26"/>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EVERY RESPONSE CARRIES ITS OWN PAPER TRAIL</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“How Did You Get That Answer?”</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If a number ever surprises you, click into the panels at the bottom of any answer.  You see exactly what was asked of the database, what came back, and how the answer was composed.</a:t>
            </a:r>
            <a:endParaRPr lang="en-US" sz="1300" dirty="0"/>
          </a:p>
        </p:txBody>
      </p:sp>
      <p:sp>
        <p:nvSpPr>
          <p:cNvPr id="6" name="Shape 4"/>
          <p:cNvSpPr/>
          <p:nvPr/>
        </p:nvSpPr>
        <p:spPr>
          <a:xfrm>
            <a:off x="457200" y="2011680"/>
            <a:ext cx="6858000" cy="1097280"/>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457200" y="2011680"/>
            <a:ext cx="6858000" cy="320040"/>
          </a:xfrm>
          <a:prstGeom prst="rect">
            <a:avLst/>
          </a:prstGeom>
          <a:solidFill>
            <a:srgbClr val="F1F5F9"/>
          </a:solidFill>
          <a:ln w="9525">
            <a:solidFill>
              <a:srgbClr val="E2E8F0"/>
            </a:solidFill>
            <a:prstDash val="solid"/>
          </a:ln>
        </p:spPr>
        <p:txBody>
          <a:bodyPr/>
          <a:lstStyle/>
          <a:p>
            <a:endParaRPr lang="en-US"/>
          </a:p>
        </p:txBody>
      </p:sp>
      <p:sp>
        <p:nvSpPr>
          <p:cNvPr id="8" name="Text 6"/>
          <p:cNvSpPr/>
          <p:nvPr/>
        </p:nvSpPr>
        <p:spPr>
          <a:xfrm>
            <a:off x="640080" y="2057400"/>
            <a:ext cx="6492240" cy="228600"/>
          </a:xfrm>
          <a:prstGeom prst="rect">
            <a:avLst/>
          </a:prstGeom>
          <a:noFill/>
          <a:ln/>
        </p:spPr>
        <p:txBody>
          <a:bodyPr wrap="square" lIns="0" tIns="0" rIns="0" bIns="0" rtlCol="0" anchor="ctr"/>
          <a:lstStyle/>
          <a:p>
            <a:pPr marL="0" indent="0">
              <a:buNone/>
            </a:pPr>
            <a:r>
              <a:rPr lang="en-US" sz="1150" b="1" dirty="0">
                <a:solidFill>
                  <a:srgbClr val="0F766E"/>
                </a:solidFill>
                <a:latin typeface="Calibri" pitchFamily="34" charset="0"/>
                <a:ea typeface="Calibri" pitchFamily="34" charset="-122"/>
                <a:cs typeface="Calibri" pitchFamily="34" charset="-120"/>
              </a:rPr>
              <a:t>▼  Answer</a:t>
            </a:r>
            <a:endParaRPr lang="en-US" sz="1150" dirty="0"/>
          </a:p>
        </p:txBody>
      </p:sp>
      <p:sp>
        <p:nvSpPr>
          <p:cNvPr id="9" name="Text 7"/>
          <p:cNvSpPr/>
          <p:nvPr/>
        </p:nvSpPr>
        <p:spPr>
          <a:xfrm>
            <a:off x="685800" y="2423160"/>
            <a:ext cx="6400800" cy="640080"/>
          </a:xfrm>
          <a:prstGeom prst="rect">
            <a:avLst/>
          </a:prstGeom>
          <a:noFill/>
          <a:ln/>
        </p:spPr>
        <p:txBody>
          <a:bodyPr wrap="square" lIns="0" tIns="0" rIns="0" bIns="0" rtlCol="0" anchor="t"/>
          <a:lstStyle/>
          <a:p>
            <a:pPr marL="0" indent="0">
              <a:buNone/>
            </a:pPr>
            <a:r>
              <a:rPr lang="en-US" sz="1150" dirty="0">
                <a:solidFill>
                  <a:srgbClr val="0F172A"/>
                </a:solidFill>
                <a:latin typeface="Calibri" pitchFamily="34" charset="0"/>
                <a:ea typeface="Calibri" pitchFamily="34" charset="-122"/>
                <a:cs typeface="Calibri" pitchFamily="34" charset="-120"/>
              </a:rPr>
              <a:t>Across X2 last week, stock unavailability led with 41 complaints; size unavailability followed at 28. Rose-gold rings (sizes 6–8) drove 23 of the 41 stock cases.</a:t>
            </a:r>
            <a:endParaRPr lang="en-US" sz="1150" dirty="0"/>
          </a:p>
        </p:txBody>
      </p:sp>
      <p:sp>
        <p:nvSpPr>
          <p:cNvPr id="10" name="Shape 8"/>
          <p:cNvSpPr/>
          <p:nvPr/>
        </p:nvSpPr>
        <p:spPr>
          <a:xfrm>
            <a:off x="457200" y="3218688"/>
            <a:ext cx="6858000" cy="1600200"/>
          </a:xfrm>
          <a:prstGeom prst="rect">
            <a:avLst/>
          </a:prstGeom>
          <a:solidFill>
            <a:srgbClr val="FFFFFF"/>
          </a:solidFill>
          <a:ln w="9525">
            <a:solidFill>
              <a:srgbClr val="E2E8F0"/>
            </a:solidFill>
            <a:prstDash val="solid"/>
          </a:ln>
        </p:spPr>
        <p:txBody>
          <a:bodyPr/>
          <a:lstStyle/>
          <a:p>
            <a:endParaRPr lang="en-US"/>
          </a:p>
        </p:txBody>
      </p:sp>
      <p:sp>
        <p:nvSpPr>
          <p:cNvPr id="11" name="Shape 9"/>
          <p:cNvSpPr/>
          <p:nvPr/>
        </p:nvSpPr>
        <p:spPr>
          <a:xfrm>
            <a:off x="457200" y="3218688"/>
            <a:ext cx="6858000" cy="320040"/>
          </a:xfrm>
          <a:prstGeom prst="rect">
            <a:avLst/>
          </a:prstGeom>
          <a:solidFill>
            <a:srgbClr val="F1F5F9"/>
          </a:solidFill>
          <a:ln w="9525">
            <a:solidFill>
              <a:srgbClr val="E2E8F0"/>
            </a:solidFill>
            <a:prstDash val="solid"/>
          </a:ln>
        </p:spPr>
        <p:txBody>
          <a:bodyPr/>
          <a:lstStyle/>
          <a:p>
            <a:endParaRPr lang="en-US"/>
          </a:p>
        </p:txBody>
      </p:sp>
      <p:sp>
        <p:nvSpPr>
          <p:cNvPr id="12" name="Text 10"/>
          <p:cNvSpPr/>
          <p:nvPr/>
        </p:nvSpPr>
        <p:spPr>
          <a:xfrm>
            <a:off x="640080" y="3264408"/>
            <a:ext cx="6492240" cy="228600"/>
          </a:xfrm>
          <a:prstGeom prst="rect">
            <a:avLst/>
          </a:prstGeom>
          <a:noFill/>
          <a:ln/>
        </p:spPr>
        <p:txBody>
          <a:bodyPr wrap="square" lIns="0" tIns="0" rIns="0" bIns="0" rtlCol="0" anchor="ctr"/>
          <a:lstStyle/>
          <a:p>
            <a:pPr marL="0" indent="0">
              <a:buNone/>
            </a:pPr>
            <a:r>
              <a:rPr lang="en-US" sz="1150" b="1" dirty="0">
                <a:solidFill>
                  <a:srgbClr val="0F766E"/>
                </a:solidFill>
                <a:latin typeface="Calibri" pitchFamily="34" charset="0"/>
                <a:ea typeface="Calibri" pitchFamily="34" charset="-122"/>
                <a:cs typeface="Calibri" pitchFamily="34" charset="-120"/>
              </a:rPr>
              <a:t>▼  Show SQL</a:t>
            </a:r>
            <a:endParaRPr lang="en-US" sz="1150" dirty="0"/>
          </a:p>
        </p:txBody>
      </p:sp>
      <p:sp>
        <p:nvSpPr>
          <p:cNvPr id="13" name="Text 11"/>
          <p:cNvSpPr/>
          <p:nvPr/>
        </p:nvSpPr>
        <p:spPr>
          <a:xfrm>
            <a:off x="685800" y="3630168"/>
            <a:ext cx="6400800" cy="1143000"/>
          </a:xfrm>
          <a:prstGeom prst="rect">
            <a:avLst/>
          </a:prstGeom>
          <a:noFill/>
          <a:ln/>
        </p:spPr>
        <p:txBody>
          <a:bodyPr wrap="square" lIns="0" tIns="0" rIns="0" bIns="0" rtlCol="0" anchor="t"/>
          <a:lstStyle/>
          <a:p>
            <a:pPr marL="0" indent="0">
              <a:buNone/>
            </a:pPr>
            <a:r>
              <a:rPr lang="en-US" sz="1050" dirty="0">
                <a:solidFill>
                  <a:srgbClr val="334155"/>
                </a:solidFill>
                <a:latin typeface="Consolas" pitchFamily="34" charset="0"/>
                <a:ea typeface="Consolas" pitchFamily="34" charset="-122"/>
                <a:cs typeface="Consolas" pitchFamily="34" charset="-120"/>
              </a:rPr>
              <a:t>SELECT non_purchase_type, COUNT(*) AS n</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FROM non_purchasers_feedback</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WHERE store_code = 'X2'</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  AND visit_date &gt;= '2026-05-09'</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GROUP BY non_purchase_type</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ORDER BY n DESC;</a:t>
            </a:r>
            <a:endParaRPr lang="en-US" sz="1050" dirty="0"/>
          </a:p>
        </p:txBody>
      </p:sp>
      <p:sp>
        <p:nvSpPr>
          <p:cNvPr id="14" name="Shape 12"/>
          <p:cNvSpPr/>
          <p:nvPr/>
        </p:nvSpPr>
        <p:spPr>
          <a:xfrm>
            <a:off x="457200" y="4928616"/>
            <a:ext cx="6858000" cy="320040"/>
          </a:xfrm>
          <a:prstGeom prst="rect">
            <a:avLst/>
          </a:prstGeom>
          <a:solidFill>
            <a:srgbClr val="FFFFFF"/>
          </a:solidFill>
          <a:ln w="9525">
            <a:solidFill>
              <a:srgbClr val="E2E8F0"/>
            </a:solidFill>
            <a:prstDash val="solid"/>
          </a:ln>
        </p:spPr>
        <p:txBody>
          <a:bodyPr/>
          <a:lstStyle/>
          <a:p>
            <a:endParaRPr lang="en-US"/>
          </a:p>
        </p:txBody>
      </p:sp>
      <p:sp>
        <p:nvSpPr>
          <p:cNvPr id="15" name="Shape 13"/>
          <p:cNvSpPr/>
          <p:nvPr/>
        </p:nvSpPr>
        <p:spPr>
          <a:xfrm>
            <a:off x="457200" y="4928616"/>
            <a:ext cx="6858000" cy="320040"/>
          </a:xfrm>
          <a:prstGeom prst="rect">
            <a:avLst/>
          </a:prstGeom>
          <a:solidFill>
            <a:srgbClr val="F1F5F9"/>
          </a:solidFill>
          <a:ln w="9525">
            <a:solidFill>
              <a:srgbClr val="E2E8F0"/>
            </a:solidFill>
            <a:prstDash val="solid"/>
          </a:ln>
        </p:spPr>
        <p:txBody>
          <a:bodyPr/>
          <a:lstStyle/>
          <a:p>
            <a:endParaRPr lang="en-US"/>
          </a:p>
        </p:txBody>
      </p:sp>
      <p:sp>
        <p:nvSpPr>
          <p:cNvPr id="16" name="Text 14"/>
          <p:cNvSpPr/>
          <p:nvPr/>
        </p:nvSpPr>
        <p:spPr>
          <a:xfrm>
            <a:off x="640080" y="4974336"/>
            <a:ext cx="6492240" cy="228600"/>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  Show chart code</a:t>
            </a:r>
            <a:endParaRPr lang="en-US" sz="1150" dirty="0"/>
          </a:p>
        </p:txBody>
      </p:sp>
      <p:sp>
        <p:nvSpPr>
          <p:cNvPr id="17" name="Shape 15"/>
          <p:cNvSpPr/>
          <p:nvPr/>
        </p:nvSpPr>
        <p:spPr>
          <a:xfrm>
            <a:off x="457200" y="5358384"/>
            <a:ext cx="6858000" cy="320040"/>
          </a:xfrm>
          <a:prstGeom prst="rect">
            <a:avLst/>
          </a:prstGeom>
          <a:solidFill>
            <a:srgbClr val="FFFFFF"/>
          </a:solidFill>
          <a:ln w="9525">
            <a:solidFill>
              <a:srgbClr val="E2E8F0"/>
            </a:solidFill>
            <a:prstDash val="solid"/>
          </a:ln>
        </p:spPr>
        <p:txBody>
          <a:bodyPr/>
          <a:lstStyle/>
          <a:p>
            <a:endParaRPr lang="en-US"/>
          </a:p>
        </p:txBody>
      </p:sp>
      <p:sp>
        <p:nvSpPr>
          <p:cNvPr id="18" name="Shape 16"/>
          <p:cNvSpPr/>
          <p:nvPr/>
        </p:nvSpPr>
        <p:spPr>
          <a:xfrm>
            <a:off x="457200" y="5358384"/>
            <a:ext cx="6858000" cy="320040"/>
          </a:xfrm>
          <a:prstGeom prst="rect">
            <a:avLst/>
          </a:prstGeom>
          <a:solidFill>
            <a:srgbClr val="F1F5F9"/>
          </a:solidFill>
          <a:ln w="9525">
            <a:solidFill>
              <a:srgbClr val="E2E8F0"/>
            </a:solidFill>
            <a:prstDash val="solid"/>
          </a:ln>
        </p:spPr>
        <p:txBody>
          <a:bodyPr/>
          <a:lstStyle/>
          <a:p>
            <a:endParaRPr lang="en-US"/>
          </a:p>
        </p:txBody>
      </p:sp>
      <p:sp>
        <p:nvSpPr>
          <p:cNvPr id="19" name="Text 17"/>
          <p:cNvSpPr/>
          <p:nvPr/>
        </p:nvSpPr>
        <p:spPr>
          <a:xfrm>
            <a:off x="640080" y="5404104"/>
            <a:ext cx="6492240" cy="228600"/>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  How I got this answer  (5 steps)</a:t>
            </a:r>
            <a:endParaRPr lang="en-US" sz="1150" dirty="0"/>
          </a:p>
        </p:txBody>
      </p:sp>
      <p:sp>
        <p:nvSpPr>
          <p:cNvPr id="20" name="Text 18"/>
          <p:cNvSpPr/>
          <p:nvPr/>
        </p:nvSpPr>
        <p:spPr>
          <a:xfrm>
            <a:off x="7680960" y="2011680"/>
            <a:ext cx="4160520" cy="274320"/>
          </a:xfrm>
          <a:prstGeom prst="rect">
            <a:avLst/>
          </a:prstGeom>
          <a:noFill/>
          <a:ln/>
        </p:spPr>
        <p:txBody>
          <a:bodyPr wrap="square" lIns="0" tIns="0" rIns="0" bIns="0" rtlCol="0" anchor="ctr"/>
          <a:lstStyle/>
          <a:p>
            <a:pPr marL="0" indent="0">
              <a:buNone/>
            </a:pPr>
            <a:r>
              <a:rPr lang="en-US" sz="1050" b="1" kern="0" spc="400" dirty="0">
                <a:solidFill>
                  <a:srgbClr val="0F766E"/>
                </a:solidFill>
                <a:latin typeface="Calibri" pitchFamily="34" charset="0"/>
                <a:ea typeface="Calibri" pitchFamily="34" charset="-122"/>
                <a:cs typeface="Calibri" pitchFamily="34" charset="-120"/>
              </a:rPr>
              <a:t>WHAT'S IN EACH PANEL</a:t>
            </a:r>
            <a:endParaRPr lang="en-US" sz="1050" dirty="0"/>
          </a:p>
        </p:txBody>
      </p:sp>
      <p:sp>
        <p:nvSpPr>
          <p:cNvPr id="21" name="Text 19"/>
          <p:cNvSpPr/>
          <p:nvPr/>
        </p:nvSpPr>
        <p:spPr>
          <a:xfrm>
            <a:off x="7680960" y="2331720"/>
            <a:ext cx="41605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Answer</a:t>
            </a:r>
            <a:endParaRPr lang="en-US" sz="1300" dirty="0"/>
          </a:p>
        </p:txBody>
      </p:sp>
      <p:sp>
        <p:nvSpPr>
          <p:cNvPr id="22" name="Text 20"/>
          <p:cNvSpPr/>
          <p:nvPr/>
        </p:nvSpPr>
        <p:spPr>
          <a:xfrm>
            <a:off x="7680960" y="2606040"/>
            <a:ext cx="4160520" cy="6400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human-readable prose. This is what you read in the meeting.</a:t>
            </a:r>
            <a:endParaRPr lang="en-US" sz="1100" dirty="0"/>
          </a:p>
        </p:txBody>
      </p:sp>
      <p:sp>
        <p:nvSpPr>
          <p:cNvPr id="23" name="Text 21"/>
          <p:cNvSpPr/>
          <p:nvPr/>
        </p:nvSpPr>
        <p:spPr>
          <a:xfrm>
            <a:off x="7680960" y="3291840"/>
            <a:ext cx="41605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Show SQL</a:t>
            </a:r>
            <a:endParaRPr lang="en-US" sz="1300" dirty="0"/>
          </a:p>
        </p:txBody>
      </p:sp>
      <p:sp>
        <p:nvSpPr>
          <p:cNvPr id="24" name="Text 22"/>
          <p:cNvSpPr/>
          <p:nvPr/>
        </p:nvSpPr>
        <p:spPr>
          <a:xfrm>
            <a:off x="7680960" y="3566160"/>
            <a:ext cx="4160520" cy="6400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exact database query that produced the numbers. For anyone who wants to verify or re-run.</a:t>
            </a:r>
            <a:endParaRPr lang="en-US" sz="1100" dirty="0"/>
          </a:p>
        </p:txBody>
      </p:sp>
      <p:sp>
        <p:nvSpPr>
          <p:cNvPr id="25" name="Text 23"/>
          <p:cNvSpPr/>
          <p:nvPr/>
        </p:nvSpPr>
        <p:spPr>
          <a:xfrm>
            <a:off x="7680960" y="4251960"/>
            <a:ext cx="41605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Show chart code</a:t>
            </a:r>
            <a:endParaRPr lang="en-US" sz="1300" dirty="0"/>
          </a:p>
        </p:txBody>
      </p:sp>
      <p:sp>
        <p:nvSpPr>
          <p:cNvPr id="26" name="Text 24"/>
          <p:cNvSpPr/>
          <p:nvPr/>
        </p:nvSpPr>
        <p:spPr>
          <a:xfrm>
            <a:off x="7680960" y="4526280"/>
            <a:ext cx="4160520" cy="6400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matplotlib script behind any chart that was rendered.</a:t>
            </a:r>
            <a:endParaRPr lang="en-US" sz="1100" dirty="0"/>
          </a:p>
        </p:txBody>
      </p:sp>
      <p:sp>
        <p:nvSpPr>
          <p:cNvPr id="27" name="Text 25"/>
          <p:cNvSpPr/>
          <p:nvPr/>
        </p:nvSpPr>
        <p:spPr>
          <a:xfrm>
            <a:off x="7680960" y="5212080"/>
            <a:ext cx="41605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How I got this answer</a:t>
            </a:r>
            <a:endParaRPr lang="en-US" sz="1300" dirty="0"/>
          </a:p>
        </p:txBody>
      </p:sp>
      <p:sp>
        <p:nvSpPr>
          <p:cNvPr id="28" name="Text 26"/>
          <p:cNvSpPr/>
          <p:nvPr/>
        </p:nvSpPr>
        <p:spPr>
          <a:xfrm>
            <a:off x="7680960" y="5486400"/>
            <a:ext cx="4160520" cy="6400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full step-by-step trace — every check, every retry, every decision.  The full paper trail.</a:t>
            </a:r>
            <a:endParaRPr lang="en-US" sz="1100" dirty="0"/>
          </a:p>
        </p:txBody>
      </p:sp>
      <p:sp>
        <p:nvSpPr>
          <p:cNvPr id="29" name="Text 27"/>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15</a:t>
            </a:r>
            <a:endParaRPr lang="en-US" sz="900" dirty="0"/>
          </a:p>
        </p:txBody>
      </p:sp>
      <p:sp>
        <p:nvSpPr>
          <p:cNvPr id="30" name="Text 28"/>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HONEST EXPECTATIONS</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What It Won't Do</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Setting clear limits up front saves a lot of frustration later.  Five things this system intentionally does not do.</a:t>
            </a:r>
            <a:endParaRPr lang="en-US" sz="1300" dirty="0"/>
          </a:p>
        </p:txBody>
      </p:sp>
      <p:sp>
        <p:nvSpPr>
          <p:cNvPr id="6" name="Shape 4"/>
          <p:cNvSpPr/>
          <p:nvPr/>
        </p:nvSpPr>
        <p:spPr>
          <a:xfrm>
            <a:off x="502920" y="2057400"/>
            <a:ext cx="365760" cy="365760"/>
          </a:xfrm>
          <a:prstGeom prst="ellipse">
            <a:avLst/>
          </a:prstGeom>
          <a:solidFill>
            <a:srgbClr val="FEE2E2"/>
          </a:solidFill>
          <a:ln w="6350">
            <a:solidFill>
              <a:srgbClr val="B91C1C"/>
            </a:solidFill>
            <a:prstDash val="solid"/>
          </a:ln>
        </p:spPr>
        <p:txBody>
          <a:bodyPr/>
          <a:lstStyle/>
          <a:p>
            <a:endParaRPr lang="en-US"/>
          </a:p>
        </p:txBody>
      </p:sp>
      <p:sp>
        <p:nvSpPr>
          <p:cNvPr id="7" name="Text 5"/>
          <p:cNvSpPr/>
          <p:nvPr/>
        </p:nvSpPr>
        <p:spPr>
          <a:xfrm>
            <a:off x="502920" y="2057400"/>
            <a:ext cx="365760" cy="365760"/>
          </a:xfrm>
          <a:prstGeom prst="rect">
            <a:avLst/>
          </a:prstGeom>
          <a:noFill/>
          <a:ln/>
        </p:spPr>
        <p:txBody>
          <a:bodyPr wrap="square" lIns="0" tIns="0" rIns="0" bIns="0" rtlCol="0" anchor="ctr"/>
          <a:lstStyle/>
          <a:p>
            <a:pPr marL="0" indent="0" algn="ctr">
              <a:buNone/>
            </a:pPr>
            <a:r>
              <a:rPr lang="en-US" sz="1400" b="1" dirty="0">
                <a:solidFill>
                  <a:srgbClr val="B91C1C"/>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05840" y="2011680"/>
            <a:ext cx="109728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It won't replace your judgement</a:t>
            </a:r>
            <a:endParaRPr lang="en-US" sz="1400" dirty="0"/>
          </a:p>
        </p:txBody>
      </p:sp>
      <p:sp>
        <p:nvSpPr>
          <p:cNvPr id="9" name="Text 7"/>
          <p:cNvSpPr/>
          <p:nvPr/>
        </p:nvSpPr>
        <p:spPr>
          <a:xfrm>
            <a:off x="1005840" y="2340864"/>
            <a:ext cx="10698480" cy="5029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It surfaces what the data says.  Turning the data into a stocking decision is still your call.</a:t>
            </a:r>
            <a:endParaRPr lang="en-US" sz="1150" dirty="0"/>
          </a:p>
        </p:txBody>
      </p:sp>
      <p:sp>
        <p:nvSpPr>
          <p:cNvPr id="10" name="Shape 8"/>
          <p:cNvSpPr/>
          <p:nvPr/>
        </p:nvSpPr>
        <p:spPr>
          <a:xfrm>
            <a:off x="502920" y="2898648"/>
            <a:ext cx="365760" cy="365760"/>
          </a:xfrm>
          <a:prstGeom prst="ellipse">
            <a:avLst/>
          </a:prstGeom>
          <a:solidFill>
            <a:srgbClr val="FEE2E2"/>
          </a:solidFill>
          <a:ln w="6350">
            <a:solidFill>
              <a:srgbClr val="B91C1C"/>
            </a:solidFill>
            <a:prstDash val="solid"/>
          </a:ln>
        </p:spPr>
        <p:txBody>
          <a:bodyPr/>
          <a:lstStyle/>
          <a:p>
            <a:endParaRPr lang="en-US"/>
          </a:p>
        </p:txBody>
      </p:sp>
      <p:sp>
        <p:nvSpPr>
          <p:cNvPr id="11" name="Text 9"/>
          <p:cNvSpPr/>
          <p:nvPr/>
        </p:nvSpPr>
        <p:spPr>
          <a:xfrm>
            <a:off x="502920" y="2898648"/>
            <a:ext cx="365760" cy="365760"/>
          </a:xfrm>
          <a:prstGeom prst="rect">
            <a:avLst/>
          </a:prstGeom>
          <a:noFill/>
          <a:ln/>
        </p:spPr>
        <p:txBody>
          <a:bodyPr wrap="square" lIns="0" tIns="0" rIns="0" bIns="0" rtlCol="0" anchor="ctr"/>
          <a:lstStyle/>
          <a:p>
            <a:pPr marL="0" indent="0" algn="ctr">
              <a:buNone/>
            </a:pPr>
            <a:r>
              <a:rPr lang="en-US" sz="1400" b="1" dirty="0">
                <a:solidFill>
                  <a:srgbClr val="B91C1C"/>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005840" y="2852928"/>
            <a:ext cx="109728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It won't look up individual customers</a:t>
            </a:r>
            <a:endParaRPr lang="en-US" sz="1400" dirty="0"/>
          </a:p>
        </p:txBody>
      </p:sp>
      <p:sp>
        <p:nvSpPr>
          <p:cNvPr id="13" name="Text 11"/>
          <p:cNvSpPr/>
          <p:nvPr/>
        </p:nvSpPr>
        <p:spPr>
          <a:xfrm>
            <a:off x="1005840" y="3182112"/>
            <a:ext cx="10698480" cy="5029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You cannot ask “name the customers who walked away at X3.”  Customer names and emails are kept out of the chat by design.</a:t>
            </a:r>
            <a:endParaRPr lang="en-US" sz="1150" dirty="0"/>
          </a:p>
        </p:txBody>
      </p:sp>
      <p:sp>
        <p:nvSpPr>
          <p:cNvPr id="14" name="Shape 12"/>
          <p:cNvSpPr/>
          <p:nvPr/>
        </p:nvSpPr>
        <p:spPr>
          <a:xfrm>
            <a:off x="502920" y="3739896"/>
            <a:ext cx="365760" cy="365760"/>
          </a:xfrm>
          <a:prstGeom prst="ellipse">
            <a:avLst/>
          </a:prstGeom>
          <a:solidFill>
            <a:srgbClr val="FEE2E2"/>
          </a:solidFill>
          <a:ln w="6350">
            <a:solidFill>
              <a:srgbClr val="B91C1C"/>
            </a:solidFill>
            <a:prstDash val="solid"/>
          </a:ln>
        </p:spPr>
        <p:txBody>
          <a:bodyPr/>
          <a:lstStyle/>
          <a:p>
            <a:endParaRPr lang="en-US"/>
          </a:p>
        </p:txBody>
      </p:sp>
      <p:sp>
        <p:nvSpPr>
          <p:cNvPr id="15" name="Text 13"/>
          <p:cNvSpPr/>
          <p:nvPr/>
        </p:nvSpPr>
        <p:spPr>
          <a:xfrm>
            <a:off x="502920" y="3739896"/>
            <a:ext cx="365760" cy="365760"/>
          </a:xfrm>
          <a:prstGeom prst="rect">
            <a:avLst/>
          </a:prstGeom>
          <a:noFill/>
          <a:ln/>
        </p:spPr>
        <p:txBody>
          <a:bodyPr wrap="square" lIns="0" tIns="0" rIns="0" bIns="0" rtlCol="0" anchor="ctr"/>
          <a:lstStyle/>
          <a:p>
            <a:pPr marL="0" indent="0" algn="ctr">
              <a:buNone/>
            </a:pPr>
            <a:r>
              <a:rPr lang="en-US" sz="1400" b="1" dirty="0">
                <a:solidFill>
                  <a:srgbClr val="B91C1C"/>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005840" y="3694176"/>
            <a:ext cx="109728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It won't answer questions about data we don't collect</a:t>
            </a:r>
            <a:endParaRPr lang="en-US" sz="1400" dirty="0"/>
          </a:p>
        </p:txBody>
      </p:sp>
      <p:sp>
        <p:nvSpPr>
          <p:cNvPr id="17" name="Text 15"/>
          <p:cNvSpPr/>
          <p:nvPr/>
        </p:nvSpPr>
        <p:spPr>
          <a:xfrm>
            <a:off x="1005840" y="4023360"/>
            <a:ext cx="10698480" cy="5029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Competitor prices, weather, mall foot traffic, social media trends — none of those are inside this system.</a:t>
            </a:r>
            <a:endParaRPr lang="en-US" sz="1150" dirty="0"/>
          </a:p>
        </p:txBody>
      </p:sp>
      <p:sp>
        <p:nvSpPr>
          <p:cNvPr id="18" name="Shape 16"/>
          <p:cNvSpPr/>
          <p:nvPr/>
        </p:nvSpPr>
        <p:spPr>
          <a:xfrm>
            <a:off x="502920" y="4581144"/>
            <a:ext cx="365760" cy="365760"/>
          </a:xfrm>
          <a:prstGeom prst="ellipse">
            <a:avLst/>
          </a:prstGeom>
          <a:solidFill>
            <a:srgbClr val="FEE2E2"/>
          </a:solidFill>
          <a:ln w="6350">
            <a:solidFill>
              <a:srgbClr val="B91C1C"/>
            </a:solidFill>
            <a:prstDash val="solid"/>
          </a:ln>
        </p:spPr>
        <p:txBody>
          <a:bodyPr/>
          <a:lstStyle/>
          <a:p>
            <a:endParaRPr lang="en-US"/>
          </a:p>
        </p:txBody>
      </p:sp>
      <p:sp>
        <p:nvSpPr>
          <p:cNvPr id="19" name="Text 17"/>
          <p:cNvSpPr/>
          <p:nvPr/>
        </p:nvSpPr>
        <p:spPr>
          <a:xfrm>
            <a:off x="502920" y="4581144"/>
            <a:ext cx="365760" cy="365760"/>
          </a:xfrm>
          <a:prstGeom prst="rect">
            <a:avLst/>
          </a:prstGeom>
          <a:noFill/>
          <a:ln/>
        </p:spPr>
        <p:txBody>
          <a:bodyPr wrap="square" lIns="0" tIns="0" rIns="0" bIns="0" rtlCol="0" anchor="ctr"/>
          <a:lstStyle/>
          <a:p>
            <a:pPr marL="0" indent="0" algn="ctr">
              <a:buNone/>
            </a:pPr>
            <a:r>
              <a:rPr lang="en-US" sz="1400" b="1" dirty="0">
                <a:solidFill>
                  <a:srgbClr val="B91C1C"/>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005840" y="4535424"/>
            <a:ext cx="109728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It won't promise a chart it can't honestly draw</a:t>
            </a:r>
            <a:endParaRPr lang="en-US" sz="1400" dirty="0"/>
          </a:p>
        </p:txBody>
      </p:sp>
      <p:sp>
        <p:nvSpPr>
          <p:cNvPr id="21" name="Text 19"/>
          <p:cNvSpPr/>
          <p:nvPr/>
        </p:nvSpPr>
        <p:spPr>
          <a:xfrm>
            <a:off x="1005840" y="4864608"/>
            <a:ext cx="10698480" cy="5029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If only one data point matches, no chart.  If it can't render the chart cleanly, it ships the text and tells you why.</a:t>
            </a:r>
            <a:endParaRPr lang="en-US" sz="1150" dirty="0"/>
          </a:p>
        </p:txBody>
      </p:sp>
      <p:sp>
        <p:nvSpPr>
          <p:cNvPr id="22" name="Shape 20"/>
          <p:cNvSpPr/>
          <p:nvPr/>
        </p:nvSpPr>
        <p:spPr>
          <a:xfrm>
            <a:off x="502920" y="5422392"/>
            <a:ext cx="365760" cy="365760"/>
          </a:xfrm>
          <a:prstGeom prst="ellipse">
            <a:avLst/>
          </a:prstGeom>
          <a:solidFill>
            <a:srgbClr val="FEE2E2"/>
          </a:solidFill>
          <a:ln w="6350">
            <a:solidFill>
              <a:srgbClr val="B91C1C"/>
            </a:solidFill>
            <a:prstDash val="solid"/>
          </a:ln>
        </p:spPr>
        <p:txBody>
          <a:bodyPr/>
          <a:lstStyle/>
          <a:p>
            <a:endParaRPr lang="en-US"/>
          </a:p>
        </p:txBody>
      </p:sp>
      <p:sp>
        <p:nvSpPr>
          <p:cNvPr id="23" name="Text 21"/>
          <p:cNvSpPr/>
          <p:nvPr/>
        </p:nvSpPr>
        <p:spPr>
          <a:xfrm>
            <a:off x="502920" y="5422392"/>
            <a:ext cx="365760" cy="365760"/>
          </a:xfrm>
          <a:prstGeom prst="rect">
            <a:avLst/>
          </a:prstGeom>
          <a:noFill/>
          <a:ln/>
        </p:spPr>
        <p:txBody>
          <a:bodyPr wrap="square" lIns="0" tIns="0" rIns="0" bIns="0" rtlCol="0" anchor="ctr"/>
          <a:lstStyle/>
          <a:p>
            <a:pPr marL="0" indent="0" algn="ctr">
              <a:buNone/>
            </a:pPr>
            <a:r>
              <a:rPr lang="en-US" sz="1400" b="1" dirty="0">
                <a:solidFill>
                  <a:srgbClr val="B91C1C"/>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005840" y="5376672"/>
            <a:ext cx="109728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It may ask you to clarify</a:t>
            </a:r>
            <a:endParaRPr lang="en-US" sz="1400" dirty="0"/>
          </a:p>
        </p:txBody>
      </p:sp>
      <p:sp>
        <p:nvSpPr>
          <p:cNvPr id="25" name="Text 23"/>
          <p:cNvSpPr/>
          <p:nvPr/>
        </p:nvSpPr>
        <p:spPr>
          <a:xfrm>
            <a:off x="1005840" y="5705856"/>
            <a:ext cx="10698480" cy="5029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“Top reasons” is ambiguous — top by count? by store? this week? last month? — the system will ask, not guess.</a:t>
            </a:r>
            <a:endParaRPr lang="en-US" sz="1150" dirty="0"/>
          </a:p>
        </p:txBody>
      </p:sp>
      <p:sp>
        <p:nvSpPr>
          <p:cNvPr id="26" name="Shape 24"/>
          <p:cNvSpPr/>
          <p:nvPr/>
        </p:nvSpPr>
        <p:spPr>
          <a:xfrm>
            <a:off x="457200" y="6263640"/>
            <a:ext cx="11247120" cy="274320"/>
          </a:xfrm>
          <a:prstGeom prst="rect">
            <a:avLst/>
          </a:prstGeom>
          <a:solidFill>
            <a:srgbClr val="CCFBF1"/>
          </a:solidFill>
          <a:ln w="6350">
            <a:solidFill>
              <a:srgbClr val="0F766E"/>
            </a:solidFill>
            <a:prstDash val="solid"/>
          </a:ln>
        </p:spPr>
        <p:txBody>
          <a:bodyPr/>
          <a:lstStyle/>
          <a:p>
            <a:endParaRPr lang="en-US"/>
          </a:p>
        </p:txBody>
      </p:sp>
      <p:sp>
        <p:nvSpPr>
          <p:cNvPr id="27" name="Text 25"/>
          <p:cNvSpPr/>
          <p:nvPr/>
        </p:nvSpPr>
        <p:spPr>
          <a:xfrm>
            <a:off x="640080" y="6281928"/>
            <a:ext cx="10972800" cy="237744"/>
          </a:xfrm>
          <a:prstGeom prst="rect">
            <a:avLst/>
          </a:prstGeom>
          <a:noFill/>
          <a:ln/>
        </p:spPr>
        <p:txBody>
          <a:bodyPr wrap="square" lIns="0" tIns="0" rIns="0" bIns="0" rtlCol="0" anchor="ctr"/>
          <a:lstStyle/>
          <a:p>
            <a:pPr marL="0" indent="0">
              <a:buNone/>
            </a:pPr>
            <a:r>
              <a:rPr lang="en-US" sz="1050" b="1" dirty="0">
                <a:solidFill>
                  <a:srgbClr val="0F766E"/>
                </a:solidFill>
                <a:latin typeface="Calibri" pitchFamily="34" charset="0"/>
                <a:ea typeface="Calibri" pitchFamily="34" charset="-122"/>
                <a:cs typeface="Calibri" pitchFamily="34" charset="-120"/>
              </a:rPr>
              <a:t>Why we are being explicit:  </a:t>
            </a:r>
            <a:r>
              <a:rPr lang="en-US" sz="1050" i="1" dirty="0">
                <a:solidFill>
                  <a:srgbClr val="334155"/>
                </a:solidFill>
                <a:latin typeface="Calibri" pitchFamily="34" charset="0"/>
                <a:ea typeface="Calibri" pitchFamily="34" charset="-122"/>
                <a:cs typeface="Calibri" pitchFamily="34" charset="-120"/>
              </a:rPr>
              <a:t>tools that quietly try to do everything end up trusted for nothing.  This one is narrow on purpose, and trustworthy because of it.</a:t>
            </a:r>
            <a:endParaRPr lang="en-US" sz="1050" dirty="0"/>
          </a:p>
        </p:txBody>
      </p:sp>
      <p:sp>
        <p:nvSpPr>
          <p:cNvPr id="28" name="Text 26"/>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15</a:t>
            </a:r>
            <a:endParaRPr lang="en-US" sz="900" dirty="0"/>
          </a:p>
        </p:txBody>
      </p:sp>
      <p:sp>
        <p:nvSpPr>
          <p:cNvPr id="29" name="Text 27"/>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FIVE HABITS THAT MAKE ANSWERS FASTER AND SHARPER</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How to Ask a Great Question</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system is forgiving — it will ask you to clarify when something is vague.  But you'll save a turn or two if you bake these habits in from the start.</a:t>
            </a:r>
            <a:endParaRPr lang="en-US" sz="1300" dirty="0"/>
          </a:p>
        </p:txBody>
      </p:sp>
      <p:sp>
        <p:nvSpPr>
          <p:cNvPr id="6" name="Shape 4"/>
          <p:cNvSpPr/>
          <p:nvPr/>
        </p:nvSpPr>
        <p:spPr>
          <a:xfrm>
            <a:off x="457200" y="2057400"/>
            <a:ext cx="457200" cy="457200"/>
          </a:xfrm>
          <a:prstGeom prst="ellipse">
            <a:avLst/>
          </a:prstGeom>
          <a:solidFill>
            <a:srgbClr val="0F766E"/>
          </a:solidFill>
          <a:ln w="12700">
            <a:solidFill>
              <a:srgbClr val="333333"/>
            </a:solidFill>
            <a:prstDash val="solid"/>
          </a:ln>
        </p:spPr>
        <p:txBody>
          <a:bodyPr/>
          <a:lstStyle/>
          <a:p>
            <a:endParaRPr lang="en-US"/>
          </a:p>
        </p:txBody>
      </p:sp>
      <p:sp>
        <p:nvSpPr>
          <p:cNvPr id="7" name="Text 5"/>
          <p:cNvSpPr/>
          <p:nvPr/>
        </p:nvSpPr>
        <p:spPr>
          <a:xfrm>
            <a:off x="457200"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51560" y="2011680"/>
            <a:ext cx="36576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Name the store</a:t>
            </a:r>
            <a:endParaRPr lang="en-US" sz="1400" dirty="0"/>
          </a:p>
        </p:txBody>
      </p:sp>
      <p:sp>
        <p:nvSpPr>
          <p:cNvPr id="9" name="Text 7"/>
          <p:cNvSpPr/>
          <p:nvPr/>
        </p:nvSpPr>
        <p:spPr>
          <a:xfrm>
            <a:off x="1051560" y="2359152"/>
            <a:ext cx="3657600" cy="50292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Without a store, the system either asks back or runs across all six.  Specify if you mean one.</a:t>
            </a:r>
            <a:endParaRPr lang="en-US" sz="1050" dirty="0"/>
          </a:p>
        </p:txBody>
      </p:sp>
      <p:sp>
        <p:nvSpPr>
          <p:cNvPr id="10" name="Text 8"/>
          <p:cNvSpPr/>
          <p:nvPr/>
        </p:nvSpPr>
        <p:spPr>
          <a:xfrm>
            <a:off x="4846320" y="2029968"/>
            <a:ext cx="274320" cy="320040"/>
          </a:xfrm>
          <a:prstGeom prst="rect">
            <a:avLst/>
          </a:prstGeom>
          <a:noFill/>
          <a:ln/>
        </p:spPr>
        <p:txBody>
          <a:bodyPr wrap="square" lIns="0" tIns="0" rIns="0" bIns="0"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5120640" y="2011680"/>
            <a:ext cx="3474720" cy="77724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Top reasons last week</a:t>
            </a:r>
            <a:endParaRPr lang="en-US" sz="1050" dirty="0"/>
          </a:p>
        </p:txBody>
      </p:sp>
      <p:sp>
        <p:nvSpPr>
          <p:cNvPr id="12" name="Text 10"/>
          <p:cNvSpPr/>
          <p:nvPr/>
        </p:nvSpPr>
        <p:spPr>
          <a:xfrm>
            <a:off x="8595360" y="2029968"/>
            <a:ext cx="274320" cy="320040"/>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8869680" y="2011680"/>
            <a:ext cx="2926080" cy="777240"/>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Top reasons at X3 last week</a:t>
            </a:r>
            <a:endParaRPr lang="en-US" sz="1050" dirty="0"/>
          </a:p>
        </p:txBody>
      </p:sp>
      <p:sp>
        <p:nvSpPr>
          <p:cNvPr id="14" name="Shape 12"/>
          <p:cNvSpPr/>
          <p:nvPr/>
        </p:nvSpPr>
        <p:spPr>
          <a:xfrm>
            <a:off x="457200" y="2935224"/>
            <a:ext cx="457200" cy="457200"/>
          </a:xfrm>
          <a:prstGeom prst="ellipse">
            <a:avLst/>
          </a:prstGeom>
          <a:solidFill>
            <a:srgbClr val="0F766E"/>
          </a:solidFill>
          <a:ln w="12700">
            <a:solidFill>
              <a:srgbClr val="333333"/>
            </a:solidFill>
            <a:prstDash val="solid"/>
          </a:ln>
        </p:spPr>
        <p:txBody>
          <a:bodyPr/>
          <a:lstStyle/>
          <a:p>
            <a:endParaRPr lang="en-US"/>
          </a:p>
        </p:txBody>
      </p:sp>
      <p:sp>
        <p:nvSpPr>
          <p:cNvPr id="15" name="Text 13"/>
          <p:cNvSpPr/>
          <p:nvPr/>
        </p:nvSpPr>
        <p:spPr>
          <a:xfrm>
            <a:off x="457200" y="29352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1051560" y="2889504"/>
            <a:ext cx="36576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Name the time window</a:t>
            </a:r>
            <a:endParaRPr lang="en-US" sz="1400" dirty="0"/>
          </a:p>
        </p:txBody>
      </p:sp>
      <p:sp>
        <p:nvSpPr>
          <p:cNvPr id="17" name="Text 15"/>
          <p:cNvSpPr/>
          <p:nvPr/>
        </p:nvSpPr>
        <p:spPr>
          <a:xfrm>
            <a:off x="1051560" y="3236976"/>
            <a:ext cx="3657600" cy="50292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Time windows turn a vague status check into a comparable, chartable answer.</a:t>
            </a:r>
            <a:endParaRPr lang="en-US" sz="1050" dirty="0"/>
          </a:p>
        </p:txBody>
      </p:sp>
      <p:sp>
        <p:nvSpPr>
          <p:cNvPr id="18" name="Text 16"/>
          <p:cNvSpPr/>
          <p:nvPr/>
        </p:nvSpPr>
        <p:spPr>
          <a:xfrm>
            <a:off x="4846320" y="2907792"/>
            <a:ext cx="274320" cy="320040"/>
          </a:xfrm>
          <a:prstGeom prst="rect">
            <a:avLst/>
          </a:prstGeom>
          <a:noFill/>
          <a:ln/>
        </p:spPr>
        <p:txBody>
          <a:bodyPr wrap="square" lIns="0" tIns="0" rIns="0" bIns="0"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5120640" y="2889504"/>
            <a:ext cx="3474720" cy="77724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How is X2 doing on size complaints?</a:t>
            </a:r>
            <a:endParaRPr lang="en-US" sz="1050" dirty="0"/>
          </a:p>
        </p:txBody>
      </p:sp>
      <p:sp>
        <p:nvSpPr>
          <p:cNvPr id="20" name="Text 18"/>
          <p:cNvSpPr/>
          <p:nvPr/>
        </p:nvSpPr>
        <p:spPr>
          <a:xfrm>
            <a:off x="8595360" y="2907792"/>
            <a:ext cx="274320" cy="320040"/>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8869680" y="2889504"/>
            <a:ext cx="2926080" cy="777240"/>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How have size complaints at X2 trended over the last 30 days?</a:t>
            </a:r>
            <a:endParaRPr lang="en-US" sz="1050" dirty="0"/>
          </a:p>
        </p:txBody>
      </p:sp>
      <p:sp>
        <p:nvSpPr>
          <p:cNvPr id="22" name="Shape 20"/>
          <p:cNvSpPr/>
          <p:nvPr/>
        </p:nvSpPr>
        <p:spPr>
          <a:xfrm>
            <a:off x="457200" y="3813048"/>
            <a:ext cx="457200" cy="457200"/>
          </a:xfrm>
          <a:prstGeom prst="ellipse">
            <a:avLst/>
          </a:prstGeom>
          <a:solidFill>
            <a:srgbClr val="0F766E"/>
          </a:solidFill>
          <a:ln w="12700">
            <a:solidFill>
              <a:srgbClr val="333333"/>
            </a:solidFill>
            <a:prstDash val="solid"/>
          </a:ln>
        </p:spPr>
        <p:txBody>
          <a:bodyPr/>
          <a:lstStyle/>
          <a:p>
            <a:endParaRPr lang="en-US"/>
          </a:p>
        </p:txBody>
      </p:sp>
      <p:sp>
        <p:nvSpPr>
          <p:cNvPr id="23" name="Text 21"/>
          <p:cNvSpPr/>
          <p:nvPr/>
        </p:nvSpPr>
        <p:spPr>
          <a:xfrm>
            <a:off x="457200" y="38130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1051560" y="3767328"/>
            <a:ext cx="36576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Say what comparison you want</a:t>
            </a:r>
            <a:endParaRPr lang="en-US" sz="1400" dirty="0"/>
          </a:p>
        </p:txBody>
      </p:sp>
      <p:sp>
        <p:nvSpPr>
          <p:cNvPr id="25" name="Text 23"/>
          <p:cNvSpPr/>
          <p:nvPr/>
        </p:nvSpPr>
        <p:spPr>
          <a:xfrm>
            <a:off x="1051560" y="4114800"/>
            <a:ext cx="3657600" cy="50292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A comparison needs a baseline.  Pick one — peer store, all-stores, prior period.</a:t>
            </a:r>
            <a:endParaRPr lang="en-US" sz="1050" dirty="0"/>
          </a:p>
        </p:txBody>
      </p:sp>
      <p:sp>
        <p:nvSpPr>
          <p:cNvPr id="26" name="Text 24"/>
          <p:cNvSpPr/>
          <p:nvPr/>
        </p:nvSpPr>
        <p:spPr>
          <a:xfrm>
            <a:off x="4846320" y="3785616"/>
            <a:ext cx="274320" cy="320040"/>
          </a:xfrm>
          <a:prstGeom prst="rect">
            <a:avLst/>
          </a:prstGeom>
          <a:noFill/>
          <a:ln/>
        </p:spPr>
        <p:txBody>
          <a:bodyPr wrap="square" lIns="0" tIns="0" rIns="0" bIns="0"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5120640" y="3767328"/>
            <a:ext cx="3474720" cy="77724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Is X1 doing well?</a:t>
            </a:r>
            <a:endParaRPr lang="en-US" sz="1050" dirty="0"/>
          </a:p>
        </p:txBody>
      </p:sp>
      <p:sp>
        <p:nvSpPr>
          <p:cNvPr id="28" name="Text 26"/>
          <p:cNvSpPr/>
          <p:nvPr/>
        </p:nvSpPr>
        <p:spPr>
          <a:xfrm>
            <a:off x="8595360" y="3785616"/>
            <a:ext cx="274320" cy="320040"/>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8869680" y="3767328"/>
            <a:ext cx="2926080" cy="777240"/>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Compare top reasons at X1 to the six-store average last month.</a:t>
            </a:r>
            <a:endParaRPr lang="en-US" sz="1050" dirty="0"/>
          </a:p>
        </p:txBody>
      </p:sp>
      <p:sp>
        <p:nvSpPr>
          <p:cNvPr id="30" name="Shape 28"/>
          <p:cNvSpPr/>
          <p:nvPr/>
        </p:nvSpPr>
        <p:spPr>
          <a:xfrm>
            <a:off x="457200" y="4690872"/>
            <a:ext cx="457200" cy="457200"/>
          </a:xfrm>
          <a:prstGeom prst="ellipse">
            <a:avLst/>
          </a:prstGeom>
          <a:solidFill>
            <a:srgbClr val="0F766E"/>
          </a:solidFill>
          <a:ln w="12700">
            <a:solidFill>
              <a:srgbClr val="333333"/>
            </a:solidFill>
            <a:prstDash val="solid"/>
          </a:ln>
        </p:spPr>
        <p:txBody>
          <a:bodyPr/>
          <a:lstStyle/>
          <a:p>
            <a:endParaRPr lang="en-US"/>
          </a:p>
        </p:txBody>
      </p:sp>
      <p:sp>
        <p:nvSpPr>
          <p:cNvPr id="31" name="Text 29"/>
          <p:cNvSpPr/>
          <p:nvPr/>
        </p:nvSpPr>
        <p:spPr>
          <a:xfrm>
            <a:off x="457200" y="46908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2" name="Text 30"/>
          <p:cNvSpPr/>
          <p:nvPr/>
        </p:nvSpPr>
        <p:spPr>
          <a:xfrm>
            <a:off x="1051560" y="4645152"/>
            <a:ext cx="36576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Ask one question at a time</a:t>
            </a:r>
            <a:endParaRPr lang="en-US" sz="1400" dirty="0"/>
          </a:p>
        </p:txBody>
      </p:sp>
      <p:sp>
        <p:nvSpPr>
          <p:cNvPr id="33" name="Text 31"/>
          <p:cNvSpPr/>
          <p:nvPr/>
        </p:nvSpPr>
        <p:spPr>
          <a:xfrm>
            <a:off x="1051560" y="4992624"/>
            <a:ext cx="3657600" cy="50292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The system remembers the last few turns — use that to drill in.</a:t>
            </a:r>
            <a:endParaRPr lang="en-US" sz="1050" dirty="0"/>
          </a:p>
        </p:txBody>
      </p:sp>
      <p:sp>
        <p:nvSpPr>
          <p:cNvPr id="34" name="Text 32"/>
          <p:cNvSpPr/>
          <p:nvPr/>
        </p:nvSpPr>
        <p:spPr>
          <a:xfrm>
            <a:off x="4846320" y="4663440"/>
            <a:ext cx="274320" cy="320040"/>
          </a:xfrm>
          <a:prstGeom prst="rect">
            <a:avLst/>
          </a:prstGeom>
          <a:noFill/>
          <a:ln/>
        </p:spPr>
        <p:txBody>
          <a:bodyPr wrap="square" lIns="0" tIns="0" rIns="0" bIns="0"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5120640" y="4645152"/>
            <a:ext cx="3474720" cy="77724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Why is X4 down, what should we stock, and how does that compare to X5?</a:t>
            </a:r>
            <a:endParaRPr lang="en-US" sz="1050" dirty="0"/>
          </a:p>
        </p:txBody>
      </p:sp>
      <p:sp>
        <p:nvSpPr>
          <p:cNvPr id="36" name="Text 34"/>
          <p:cNvSpPr/>
          <p:nvPr/>
        </p:nvSpPr>
        <p:spPr>
          <a:xfrm>
            <a:off x="8595360" y="4663440"/>
            <a:ext cx="274320" cy="320040"/>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8869680" y="4645152"/>
            <a:ext cx="2926080" cy="777240"/>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Why is X4 down this month?  ⇢  Follow up with the stocking question, then the X5 comparison.</a:t>
            </a:r>
            <a:endParaRPr lang="en-US" sz="1050" dirty="0"/>
          </a:p>
        </p:txBody>
      </p:sp>
      <p:sp>
        <p:nvSpPr>
          <p:cNvPr id="38" name="Shape 36"/>
          <p:cNvSpPr/>
          <p:nvPr/>
        </p:nvSpPr>
        <p:spPr>
          <a:xfrm>
            <a:off x="457200" y="5568696"/>
            <a:ext cx="457200" cy="457200"/>
          </a:xfrm>
          <a:prstGeom prst="ellipse">
            <a:avLst/>
          </a:prstGeom>
          <a:solidFill>
            <a:srgbClr val="0F766E"/>
          </a:solidFill>
          <a:ln w="12700">
            <a:solidFill>
              <a:srgbClr val="333333"/>
            </a:solidFill>
            <a:prstDash val="solid"/>
          </a:ln>
        </p:spPr>
        <p:txBody>
          <a:bodyPr/>
          <a:lstStyle/>
          <a:p>
            <a:endParaRPr lang="en-US"/>
          </a:p>
        </p:txBody>
      </p:sp>
      <p:sp>
        <p:nvSpPr>
          <p:cNvPr id="39" name="Text 37"/>
          <p:cNvSpPr/>
          <p:nvPr/>
        </p:nvSpPr>
        <p:spPr>
          <a:xfrm>
            <a:off x="457200" y="55686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0" name="Text 38"/>
          <p:cNvSpPr/>
          <p:nvPr/>
        </p:nvSpPr>
        <p:spPr>
          <a:xfrm>
            <a:off x="1051560" y="5522976"/>
            <a:ext cx="365760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When in doubt, ask how it got there</a:t>
            </a:r>
            <a:endParaRPr lang="en-US" sz="1400" dirty="0"/>
          </a:p>
        </p:txBody>
      </p:sp>
      <p:sp>
        <p:nvSpPr>
          <p:cNvPr id="41" name="Text 39"/>
          <p:cNvSpPr/>
          <p:nvPr/>
        </p:nvSpPr>
        <p:spPr>
          <a:xfrm>
            <a:off x="1051560" y="5870448"/>
            <a:ext cx="3657600" cy="50292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Surprising answers are usually correct or usually wrong for an interesting reason.  Both are worth checking.</a:t>
            </a:r>
            <a:endParaRPr lang="en-US" sz="1050" dirty="0"/>
          </a:p>
        </p:txBody>
      </p:sp>
      <p:sp>
        <p:nvSpPr>
          <p:cNvPr id="42" name="Text 40"/>
          <p:cNvSpPr/>
          <p:nvPr/>
        </p:nvSpPr>
        <p:spPr>
          <a:xfrm>
            <a:off x="4846320" y="5541264"/>
            <a:ext cx="274320" cy="320040"/>
          </a:xfrm>
          <a:prstGeom prst="rect">
            <a:avLst/>
          </a:prstGeom>
          <a:noFill/>
          <a:ln/>
        </p:spPr>
        <p:txBody>
          <a:bodyPr wrap="square" lIns="0" tIns="0" rIns="0" bIns="0"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43" name="Text 41"/>
          <p:cNvSpPr/>
          <p:nvPr/>
        </p:nvSpPr>
        <p:spPr>
          <a:xfrm>
            <a:off x="5120640" y="5522976"/>
            <a:ext cx="3474720" cy="77724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(suspicion left silent)</a:t>
            </a:r>
            <a:endParaRPr lang="en-US" sz="1050" dirty="0"/>
          </a:p>
        </p:txBody>
      </p:sp>
      <p:sp>
        <p:nvSpPr>
          <p:cNvPr id="44" name="Text 42"/>
          <p:cNvSpPr/>
          <p:nvPr/>
        </p:nvSpPr>
        <p:spPr>
          <a:xfrm>
            <a:off x="8595360" y="5541264"/>
            <a:ext cx="274320" cy="320040"/>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a:t>
            </a:r>
            <a:endParaRPr lang="en-US" sz="1200" dirty="0"/>
          </a:p>
        </p:txBody>
      </p:sp>
      <p:sp>
        <p:nvSpPr>
          <p:cNvPr id="45" name="Text 43"/>
          <p:cNvSpPr/>
          <p:nvPr/>
        </p:nvSpPr>
        <p:spPr>
          <a:xfrm>
            <a:off x="8869680" y="5522976"/>
            <a:ext cx="2926080" cy="777240"/>
          </a:xfrm>
          <a:prstGeom prst="rect">
            <a:avLst/>
          </a:prstGeom>
          <a:noFill/>
          <a:ln/>
        </p:spPr>
        <p:txBody>
          <a:bodyPr wrap="square" lIns="0" tIns="0" rIns="0" bIns="0" rtlCol="0" anchor="t"/>
          <a:lstStyle/>
          <a:p>
            <a:pPr marL="0" indent="0">
              <a:buNone/>
            </a:pPr>
            <a:r>
              <a:rPr lang="en-US" sz="1050" dirty="0">
                <a:solidFill>
                  <a:srgbClr val="0F172A"/>
                </a:solidFill>
                <a:latin typeface="Calibri" pitchFamily="34" charset="0"/>
                <a:ea typeface="Calibri" pitchFamily="34" charset="-122"/>
                <a:cs typeface="Calibri" pitchFamily="34" charset="-120"/>
              </a:rPr>
              <a:t>Click "How I got this answer" or ask: "What rows did you count for that 41?"</a:t>
            </a:r>
            <a:endParaRPr lang="en-US" sz="1050" dirty="0"/>
          </a:p>
        </p:txBody>
      </p:sp>
      <p:sp>
        <p:nvSpPr>
          <p:cNvPr id="46" name="Text 44"/>
          <p:cNvSpPr/>
          <p:nvPr/>
        </p:nvSpPr>
        <p:spPr>
          <a:xfrm>
            <a:off x="4846320" y="1828800"/>
            <a:ext cx="3657600" cy="182880"/>
          </a:xfrm>
          <a:prstGeom prst="rect">
            <a:avLst/>
          </a:prstGeom>
          <a:noFill/>
          <a:ln/>
        </p:spPr>
        <p:txBody>
          <a:bodyPr wrap="square" lIns="0" tIns="0" rIns="0" bIns="0" rtlCol="0" anchor="ctr"/>
          <a:lstStyle/>
          <a:p>
            <a:pPr marL="0" indent="0">
              <a:buNone/>
            </a:pPr>
            <a:r>
              <a:rPr lang="en-US" sz="900" b="1" kern="0" spc="400" dirty="0">
                <a:solidFill>
                  <a:srgbClr val="94A3B8"/>
                </a:solidFill>
                <a:latin typeface="Calibri" pitchFamily="34" charset="0"/>
                <a:ea typeface="Calibri" pitchFamily="34" charset="-122"/>
                <a:cs typeface="Calibri" pitchFamily="34" charset="-120"/>
              </a:rPr>
              <a:t>LESS HELPFUL</a:t>
            </a:r>
            <a:endParaRPr lang="en-US" sz="900" dirty="0"/>
          </a:p>
        </p:txBody>
      </p:sp>
      <p:sp>
        <p:nvSpPr>
          <p:cNvPr id="47" name="Text 45"/>
          <p:cNvSpPr/>
          <p:nvPr/>
        </p:nvSpPr>
        <p:spPr>
          <a:xfrm>
            <a:off x="8595360" y="1828800"/>
            <a:ext cx="3657600" cy="182880"/>
          </a:xfrm>
          <a:prstGeom prst="rect">
            <a:avLst/>
          </a:prstGeom>
          <a:noFill/>
          <a:ln/>
        </p:spPr>
        <p:txBody>
          <a:bodyPr wrap="square" lIns="0" tIns="0" rIns="0" bIns="0" rtlCol="0" anchor="ctr"/>
          <a:lstStyle/>
          <a:p>
            <a:pPr marL="0" indent="0">
              <a:buNone/>
            </a:pPr>
            <a:r>
              <a:rPr lang="en-US" sz="900" b="1" kern="0" spc="400" dirty="0">
                <a:solidFill>
                  <a:srgbClr val="0F766E"/>
                </a:solidFill>
                <a:latin typeface="Calibri" pitchFamily="34" charset="0"/>
                <a:ea typeface="Calibri" pitchFamily="34" charset="-122"/>
                <a:cs typeface="Calibri" pitchFamily="34" charset="-120"/>
              </a:rPr>
              <a:t>MORE HELPFUL</a:t>
            </a:r>
            <a:endParaRPr lang="en-US" sz="900" dirty="0"/>
          </a:p>
        </p:txBody>
      </p:sp>
      <p:sp>
        <p:nvSpPr>
          <p:cNvPr id="48" name="Text 46"/>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15</a:t>
            </a:r>
            <a:endParaRPr lang="en-US" sz="900" dirty="0"/>
          </a:p>
        </p:txBody>
      </p:sp>
      <p:sp>
        <p:nvSpPr>
          <p:cNvPr id="49" name="Text 47"/>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WHERE THIS FITS IN THE CADENCE YOU ALREADY HAVE</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A Typical Week, Reimagined</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41148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This is what we hope your week looks like once the tool is part of your routine.</a:t>
            </a:r>
            <a:endParaRPr lang="en-US" sz="1300" dirty="0"/>
          </a:p>
        </p:txBody>
      </p:sp>
      <p:sp>
        <p:nvSpPr>
          <p:cNvPr id="6" name="Shape 4"/>
          <p:cNvSpPr/>
          <p:nvPr/>
        </p:nvSpPr>
        <p:spPr>
          <a:xfrm>
            <a:off x="457200" y="1965960"/>
            <a:ext cx="2121408" cy="420624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1965960"/>
            <a:ext cx="2121408" cy="594360"/>
          </a:xfrm>
          <a:prstGeom prst="rect">
            <a:avLst/>
          </a:prstGeom>
          <a:solidFill>
            <a:srgbClr val="1E293B"/>
          </a:solidFill>
          <a:ln w="9525">
            <a:solidFill>
              <a:srgbClr val="1E293B"/>
            </a:solidFill>
            <a:prstDash val="solid"/>
          </a:ln>
        </p:spPr>
        <p:txBody>
          <a:bodyPr/>
          <a:lstStyle/>
          <a:p>
            <a:endParaRPr lang="en-US"/>
          </a:p>
        </p:txBody>
      </p:sp>
      <p:sp>
        <p:nvSpPr>
          <p:cNvPr id="8" name="Text 6"/>
          <p:cNvSpPr/>
          <p:nvPr/>
        </p:nvSpPr>
        <p:spPr>
          <a:xfrm>
            <a:off x="594360" y="2029968"/>
            <a:ext cx="1847088" cy="27432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MON</a:t>
            </a:r>
            <a:endParaRPr lang="en-US" sz="1400" dirty="0"/>
          </a:p>
        </p:txBody>
      </p:sp>
      <p:sp>
        <p:nvSpPr>
          <p:cNvPr id="9" name="Text 7"/>
          <p:cNvSpPr/>
          <p:nvPr/>
        </p:nvSpPr>
        <p:spPr>
          <a:xfrm>
            <a:off x="594360" y="2295144"/>
            <a:ext cx="1847088" cy="2286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9 AM</a:t>
            </a:r>
            <a:endParaRPr lang="en-US" sz="1000" dirty="0"/>
          </a:p>
        </p:txBody>
      </p:sp>
      <p:sp>
        <p:nvSpPr>
          <p:cNvPr id="10" name="Text 8"/>
          <p:cNvSpPr/>
          <p:nvPr/>
        </p:nvSpPr>
        <p:spPr>
          <a:xfrm>
            <a:off x="640080" y="2697480"/>
            <a:ext cx="1847088" cy="5029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Weekly read-out</a:t>
            </a:r>
            <a:endParaRPr lang="en-US" sz="1300" dirty="0"/>
          </a:p>
        </p:txBody>
      </p:sp>
      <p:sp>
        <p:nvSpPr>
          <p:cNvPr id="11" name="Text 9"/>
          <p:cNvSpPr/>
          <p:nvPr/>
        </p:nvSpPr>
        <p:spPr>
          <a:xfrm>
            <a:off x="640080" y="3383280"/>
            <a:ext cx="1847088" cy="201168"/>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YOU ASK</a:t>
            </a:r>
            <a:endParaRPr lang="en-US" sz="850" dirty="0"/>
          </a:p>
        </p:txBody>
      </p:sp>
      <p:sp>
        <p:nvSpPr>
          <p:cNvPr id="12" name="Text 10"/>
          <p:cNvSpPr/>
          <p:nvPr/>
        </p:nvSpPr>
        <p:spPr>
          <a:xfrm>
            <a:off x="640080" y="3593592"/>
            <a:ext cx="1847088" cy="1371600"/>
          </a:xfrm>
          <a:prstGeom prst="rect">
            <a:avLst/>
          </a:prstGeom>
          <a:noFill/>
          <a:ln/>
        </p:spPr>
        <p:txBody>
          <a:bodyPr wrap="square" lIns="0" tIns="0" rIns="0" bIns="0" rtlCol="0" anchor="t"/>
          <a:lstStyle/>
          <a:p>
            <a:pPr marL="0" indent="0">
              <a:buNone/>
            </a:pPr>
            <a:r>
              <a:rPr lang="en-US" sz="1100" i="1" dirty="0">
                <a:solidFill>
                  <a:srgbClr val="0F172A"/>
                </a:solidFill>
                <a:latin typeface="Calibri" pitchFamily="34" charset="0"/>
                <a:ea typeface="Calibri" pitchFamily="34" charset="-122"/>
                <a:cs typeface="Calibri" pitchFamily="34" charset="-120"/>
              </a:rPr>
              <a:t>"Top three reasons across all six stores last week."</a:t>
            </a:r>
            <a:endParaRPr lang="en-US" sz="1100" dirty="0"/>
          </a:p>
        </p:txBody>
      </p:sp>
      <p:sp>
        <p:nvSpPr>
          <p:cNvPr id="13" name="Text 11"/>
          <p:cNvSpPr/>
          <p:nvPr/>
        </p:nvSpPr>
        <p:spPr>
          <a:xfrm>
            <a:off x="640080" y="4983480"/>
            <a:ext cx="1847088" cy="201168"/>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OUTCOME</a:t>
            </a:r>
            <a:endParaRPr lang="en-US" sz="850" dirty="0"/>
          </a:p>
        </p:txBody>
      </p:sp>
      <p:sp>
        <p:nvSpPr>
          <p:cNvPr id="14" name="Text 12"/>
          <p:cNvSpPr/>
          <p:nvPr/>
        </p:nvSpPr>
        <p:spPr>
          <a:xfrm>
            <a:off x="640080" y="5193792"/>
            <a:ext cx="1847088"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Pulled into the Monday merch meeting.</a:t>
            </a:r>
            <a:endParaRPr lang="en-US" sz="1050" dirty="0"/>
          </a:p>
        </p:txBody>
      </p:sp>
      <p:sp>
        <p:nvSpPr>
          <p:cNvPr id="15" name="Shape 13"/>
          <p:cNvSpPr/>
          <p:nvPr/>
        </p:nvSpPr>
        <p:spPr>
          <a:xfrm>
            <a:off x="2697480" y="1965960"/>
            <a:ext cx="2121408" cy="4206240"/>
          </a:xfrm>
          <a:prstGeom prst="rect">
            <a:avLst/>
          </a:prstGeom>
          <a:solidFill>
            <a:srgbClr val="F8FAFC"/>
          </a:solidFill>
          <a:ln w="9525">
            <a:solidFill>
              <a:srgbClr val="E2E8F0"/>
            </a:solidFill>
            <a:prstDash val="solid"/>
          </a:ln>
        </p:spPr>
        <p:txBody>
          <a:bodyPr/>
          <a:lstStyle/>
          <a:p>
            <a:endParaRPr lang="en-US"/>
          </a:p>
        </p:txBody>
      </p:sp>
      <p:sp>
        <p:nvSpPr>
          <p:cNvPr id="16" name="Shape 14"/>
          <p:cNvSpPr/>
          <p:nvPr/>
        </p:nvSpPr>
        <p:spPr>
          <a:xfrm>
            <a:off x="2697480" y="1965960"/>
            <a:ext cx="2121408" cy="594360"/>
          </a:xfrm>
          <a:prstGeom prst="rect">
            <a:avLst/>
          </a:prstGeom>
          <a:solidFill>
            <a:srgbClr val="1E293B"/>
          </a:solidFill>
          <a:ln w="9525">
            <a:solidFill>
              <a:srgbClr val="1E293B"/>
            </a:solidFill>
            <a:prstDash val="solid"/>
          </a:ln>
        </p:spPr>
        <p:txBody>
          <a:bodyPr/>
          <a:lstStyle/>
          <a:p>
            <a:endParaRPr lang="en-US"/>
          </a:p>
        </p:txBody>
      </p:sp>
      <p:sp>
        <p:nvSpPr>
          <p:cNvPr id="17" name="Text 15"/>
          <p:cNvSpPr/>
          <p:nvPr/>
        </p:nvSpPr>
        <p:spPr>
          <a:xfrm>
            <a:off x="2834640" y="2029968"/>
            <a:ext cx="1847088" cy="27432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TUE</a:t>
            </a:r>
            <a:endParaRPr lang="en-US" sz="1400" dirty="0"/>
          </a:p>
        </p:txBody>
      </p:sp>
      <p:sp>
        <p:nvSpPr>
          <p:cNvPr id="18" name="Text 16"/>
          <p:cNvSpPr/>
          <p:nvPr/>
        </p:nvSpPr>
        <p:spPr>
          <a:xfrm>
            <a:off x="2834640" y="2295144"/>
            <a:ext cx="1847088" cy="2286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11 AM</a:t>
            </a:r>
            <a:endParaRPr lang="en-US" sz="1000" dirty="0"/>
          </a:p>
        </p:txBody>
      </p:sp>
      <p:sp>
        <p:nvSpPr>
          <p:cNvPr id="19" name="Text 17"/>
          <p:cNvSpPr/>
          <p:nvPr/>
        </p:nvSpPr>
        <p:spPr>
          <a:xfrm>
            <a:off x="2880360" y="2697480"/>
            <a:ext cx="1847088" cy="5029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Deep dive on the worst</a:t>
            </a:r>
            <a:endParaRPr lang="en-US" sz="1300" dirty="0"/>
          </a:p>
        </p:txBody>
      </p:sp>
      <p:sp>
        <p:nvSpPr>
          <p:cNvPr id="20" name="Text 18"/>
          <p:cNvSpPr/>
          <p:nvPr/>
        </p:nvSpPr>
        <p:spPr>
          <a:xfrm>
            <a:off x="2880360" y="3383280"/>
            <a:ext cx="1847088" cy="201168"/>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YOU ASK</a:t>
            </a:r>
            <a:endParaRPr lang="en-US" sz="850" dirty="0"/>
          </a:p>
        </p:txBody>
      </p:sp>
      <p:sp>
        <p:nvSpPr>
          <p:cNvPr id="21" name="Text 19"/>
          <p:cNvSpPr/>
          <p:nvPr/>
        </p:nvSpPr>
        <p:spPr>
          <a:xfrm>
            <a:off x="2880360" y="3593592"/>
            <a:ext cx="1847088" cy="1371600"/>
          </a:xfrm>
          <a:prstGeom prst="rect">
            <a:avLst/>
          </a:prstGeom>
          <a:noFill/>
          <a:ln/>
        </p:spPr>
        <p:txBody>
          <a:bodyPr wrap="square" lIns="0" tIns="0" rIns="0" bIns="0" rtlCol="0" anchor="t"/>
          <a:lstStyle/>
          <a:p>
            <a:pPr marL="0" indent="0">
              <a:buNone/>
            </a:pPr>
            <a:r>
              <a:rPr lang="en-US" sz="1100" i="1" dirty="0">
                <a:solidFill>
                  <a:srgbClr val="0F172A"/>
                </a:solidFill>
                <a:latin typeface="Calibri" pitchFamily="34" charset="0"/>
                <a:ea typeface="Calibri" pitchFamily="34" charset="-122"/>
                <a:cs typeface="Calibri" pitchFamily="34" charset="-120"/>
              </a:rPr>
              <a:t>"At X4 (lowest performer), what's driving the design-issue spike?"</a:t>
            </a:r>
            <a:endParaRPr lang="en-US" sz="1100" dirty="0"/>
          </a:p>
        </p:txBody>
      </p:sp>
      <p:sp>
        <p:nvSpPr>
          <p:cNvPr id="22" name="Text 20"/>
          <p:cNvSpPr/>
          <p:nvPr/>
        </p:nvSpPr>
        <p:spPr>
          <a:xfrm>
            <a:off x="2880360" y="4983480"/>
            <a:ext cx="1847088" cy="201168"/>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OUTCOME</a:t>
            </a:r>
            <a:endParaRPr lang="en-US" sz="850" dirty="0"/>
          </a:p>
        </p:txBody>
      </p:sp>
      <p:sp>
        <p:nvSpPr>
          <p:cNvPr id="23" name="Text 21"/>
          <p:cNvSpPr/>
          <p:nvPr/>
        </p:nvSpPr>
        <p:spPr>
          <a:xfrm>
            <a:off x="2880360" y="5193792"/>
            <a:ext cx="1847088"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Two-minute briefing for the X4 store call.</a:t>
            </a:r>
            <a:endParaRPr lang="en-US" sz="1050" dirty="0"/>
          </a:p>
        </p:txBody>
      </p:sp>
      <p:sp>
        <p:nvSpPr>
          <p:cNvPr id="24" name="Shape 22"/>
          <p:cNvSpPr/>
          <p:nvPr/>
        </p:nvSpPr>
        <p:spPr>
          <a:xfrm>
            <a:off x="4937760" y="1965960"/>
            <a:ext cx="2121408" cy="4206240"/>
          </a:xfrm>
          <a:prstGeom prst="rect">
            <a:avLst/>
          </a:prstGeom>
          <a:solidFill>
            <a:srgbClr val="F8FAFC"/>
          </a:solidFill>
          <a:ln w="9525">
            <a:solidFill>
              <a:srgbClr val="E2E8F0"/>
            </a:solidFill>
            <a:prstDash val="solid"/>
          </a:ln>
        </p:spPr>
        <p:txBody>
          <a:bodyPr/>
          <a:lstStyle/>
          <a:p>
            <a:endParaRPr lang="en-US"/>
          </a:p>
        </p:txBody>
      </p:sp>
      <p:sp>
        <p:nvSpPr>
          <p:cNvPr id="25" name="Shape 23"/>
          <p:cNvSpPr/>
          <p:nvPr/>
        </p:nvSpPr>
        <p:spPr>
          <a:xfrm>
            <a:off x="4937760" y="1965960"/>
            <a:ext cx="2121408" cy="594360"/>
          </a:xfrm>
          <a:prstGeom prst="rect">
            <a:avLst/>
          </a:prstGeom>
          <a:solidFill>
            <a:srgbClr val="1E293B"/>
          </a:solidFill>
          <a:ln w="9525">
            <a:solidFill>
              <a:srgbClr val="1E293B"/>
            </a:solidFill>
            <a:prstDash val="solid"/>
          </a:ln>
        </p:spPr>
        <p:txBody>
          <a:bodyPr/>
          <a:lstStyle/>
          <a:p>
            <a:endParaRPr lang="en-US"/>
          </a:p>
        </p:txBody>
      </p:sp>
      <p:sp>
        <p:nvSpPr>
          <p:cNvPr id="26" name="Text 24"/>
          <p:cNvSpPr/>
          <p:nvPr/>
        </p:nvSpPr>
        <p:spPr>
          <a:xfrm>
            <a:off x="5074920" y="2029968"/>
            <a:ext cx="1847088" cy="27432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WED</a:t>
            </a:r>
            <a:endParaRPr lang="en-US" sz="1400" dirty="0"/>
          </a:p>
        </p:txBody>
      </p:sp>
      <p:sp>
        <p:nvSpPr>
          <p:cNvPr id="27" name="Text 25"/>
          <p:cNvSpPr/>
          <p:nvPr/>
        </p:nvSpPr>
        <p:spPr>
          <a:xfrm>
            <a:off x="5074920" y="2295144"/>
            <a:ext cx="1847088" cy="2286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t>
            </a:r>
            <a:endParaRPr lang="en-US" sz="1000" dirty="0"/>
          </a:p>
        </p:txBody>
      </p:sp>
      <p:sp>
        <p:nvSpPr>
          <p:cNvPr id="28" name="Text 26"/>
          <p:cNvSpPr/>
          <p:nvPr/>
        </p:nvSpPr>
        <p:spPr>
          <a:xfrm>
            <a:off x="5120640" y="2697480"/>
            <a:ext cx="1847088" cy="5029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Did the action work?</a:t>
            </a:r>
            <a:endParaRPr lang="en-US" sz="1300" dirty="0"/>
          </a:p>
        </p:txBody>
      </p:sp>
      <p:sp>
        <p:nvSpPr>
          <p:cNvPr id="29" name="Text 27"/>
          <p:cNvSpPr/>
          <p:nvPr/>
        </p:nvSpPr>
        <p:spPr>
          <a:xfrm>
            <a:off x="5120640" y="3383280"/>
            <a:ext cx="1847088" cy="201168"/>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YOU ASK</a:t>
            </a:r>
            <a:endParaRPr lang="en-US" sz="850" dirty="0"/>
          </a:p>
        </p:txBody>
      </p:sp>
      <p:sp>
        <p:nvSpPr>
          <p:cNvPr id="30" name="Text 28"/>
          <p:cNvSpPr/>
          <p:nvPr/>
        </p:nvSpPr>
        <p:spPr>
          <a:xfrm>
            <a:off x="5120640" y="3593592"/>
            <a:ext cx="1847088" cy="1371600"/>
          </a:xfrm>
          <a:prstGeom prst="rect">
            <a:avLst/>
          </a:prstGeom>
          <a:noFill/>
          <a:ln/>
        </p:spPr>
        <p:txBody>
          <a:bodyPr wrap="square" lIns="0" tIns="0" rIns="0" bIns="0" rtlCol="0" anchor="t"/>
          <a:lstStyle/>
          <a:p>
            <a:pPr marL="0" indent="0">
              <a:buNone/>
            </a:pPr>
            <a:r>
              <a:rPr lang="en-US" sz="1100" i="1" dirty="0">
                <a:solidFill>
                  <a:srgbClr val="0F172A"/>
                </a:solidFill>
                <a:latin typeface="Calibri" pitchFamily="34" charset="0"/>
                <a:ea typeface="Calibri" pitchFamily="34" charset="-122"/>
                <a:cs typeface="Calibri" pitchFamily="34" charset="-120"/>
              </a:rPr>
              <a:t>"Has size unavailability at X2 changed since last Friday's restock?"</a:t>
            </a:r>
            <a:endParaRPr lang="en-US" sz="1100" dirty="0"/>
          </a:p>
        </p:txBody>
      </p:sp>
      <p:sp>
        <p:nvSpPr>
          <p:cNvPr id="31" name="Text 29"/>
          <p:cNvSpPr/>
          <p:nvPr/>
        </p:nvSpPr>
        <p:spPr>
          <a:xfrm>
            <a:off x="5120640" y="4983480"/>
            <a:ext cx="1847088" cy="201168"/>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OUTCOME</a:t>
            </a:r>
            <a:endParaRPr lang="en-US" sz="850" dirty="0"/>
          </a:p>
        </p:txBody>
      </p:sp>
      <p:sp>
        <p:nvSpPr>
          <p:cNvPr id="32" name="Text 30"/>
          <p:cNvSpPr/>
          <p:nvPr/>
        </p:nvSpPr>
        <p:spPr>
          <a:xfrm>
            <a:off x="5120640" y="5193792"/>
            <a:ext cx="1847088"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Yes-or-no with the trend line as evidence.</a:t>
            </a:r>
            <a:endParaRPr lang="en-US" sz="1050" dirty="0"/>
          </a:p>
        </p:txBody>
      </p:sp>
      <p:sp>
        <p:nvSpPr>
          <p:cNvPr id="33" name="Shape 31"/>
          <p:cNvSpPr/>
          <p:nvPr/>
        </p:nvSpPr>
        <p:spPr>
          <a:xfrm>
            <a:off x="7178040" y="1965960"/>
            <a:ext cx="2121408" cy="4206240"/>
          </a:xfrm>
          <a:prstGeom prst="rect">
            <a:avLst/>
          </a:prstGeom>
          <a:solidFill>
            <a:srgbClr val="F8FAFC"/>
          </a:solidFill>
          <a:ln w="9525">
            <a:solidFill>
              <a:srgbClr val="E2E8F0"/>
            </a:solidFill>
            <a:prstDash val="solid"/>
          </a:ln>
        </p:spPr>
        <p:txBody>
          <a:bodyPr/>
          <a:lstStyle/>
          <a:p>
            <a:endParaRPr lang="en-US"/>
          </a:p>
        </p:txBody>
      </p:sp>
      <p:sp>
        <p:nvSpPr>
          <p:cNvPr id="34" name="Shape 32"/>
          <p:cNvSpPr/>
          <p:nvPr/>
        </p:nvSpPr>
        <p:spPr>
          <a:xfrm>
            <a:off x="7178040" y="1965960"/>
            <a:ext cx="2121408" cy="594360"/>
          </a:xfrm>
          <a:prstGeom prst="rect">
            <a:avLst/>
          </a:prstGeom>
          <a:solidFill>
            <a:srgbClr val="1E293B"/>
          </a:solidFill>
          <a:ln w="9525">
            <a:solidFill>
              <a:srgbClr val="1E293B"/>
            </a:solidFill>
            <a:prstDash val="solid"/>
          </a:ln>
        </p:spPr>
        <p:txBody>
          <a:bodyPr/>
          <a:lstStyle/>
          <a:p>
            <a:endParaRPr lang="en-US"/>
          </a:p>
        </p:txBody>
      </p:sp>
      <p:sp>
        <p:nvSpPr>
          <p:cNvPr id="35" name="Text 33"/>
          <p:cNvSpPr/>
          <p:nvPr/>
        </p:nvSpPr>
        <p:spPr>
          <a:xfrm>
            <a:off x="7315200" y="2029968"/>
            <a:ext cx="1847088" cy="27432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THU</a:t>
            </a:r>
            <a:endParaRPr lang="en-US" sz="1400" dirty="0"/>
          </a:p>
        </p:txBody>
      </p:sp>
      <p:sp>
        <p:nvSpPr>
          <p:cNvPr id="36" name="Text 34"/>
          <p:cNvSpPr/>
          <p:nvPr/>
        </p:nvSpPr>
        <p:spPr>
          <a:xfrm>
            <a:off x="7315200" y="2295144"/>
            <a:ext cx="1847088" cy="2286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2 PM</a:t>
            </a:r>
            <a:endParaRPr lang="en-US" sz="1000" dirty="0"/>
          </a:p>
        </p:txBody>
      </p:sp>
      <p:sp>
        <p:nvSpPr>
          <p:cNvPr id="37" name="Text 35"/>
          <p:cNvSpPr/>
          <p:nvPr/>
        </p:nvSpPr>
        <p:spPr>
          <a:xfrm>
            <a:off x="7360920" y="2697480"/>
            <a:ext cx="1847088" cy="5029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Cross-store comparison</a:t>
            </a:r>
            <a:endParaRPr lang="en-US" sz="1300" dirty="0"/>
          </a:p>
        </p:txBody>
      </p:sp>
      <p:sp>
        <p:nvSpPr>
          <p:cNvPr id="38" name="Text 36"/>
          <p:cNvSpPr/>
          <p:nvPr/>
        </p:nvSpPr>
        <p:spPr>
          <a:xfrm>
            <a:off x="7360920" y="3383280"/>
            <a:ext cx="1847088" cy="201168"/>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YOU ASK</a:t>
            </a:r>
            <a:endParaRPr lang="en-US" sz="850" dirty="0"/>
          </a:p>
        </p:txBody>
      </p:sp>
      <p:sp>
        <p:nvSpPr>
          <p:cNvPr id="39" name="Text 37"/>
          <p:cNvSpPr/>
          <p:nvPr/>
        </p:nvSpPr>
        <p:spPr>
          <a:xfrm>
            <a:off x="7360920" y="3593592"/>
            <a:ext cx="1847088" cy="1371600"/>
          </a:xfrm>
          <a:prstGeom prst="rect">
            <a:avLst/>
          </a:prstGeom>
          <a:noFill/>
          <a:ln/>
        </p:spPr>
        <p:txBody>
          <a:bodyPr wrap="square" lIns="0" tIns="0" rIns="0" bIns="0" rtlCol="0" anchor="t"/>
          <a:lstStyle/>
          <a:p>
            <a:pPr marL="0" indent="0">
              <a:buNone/>
            </a:pPr>
            <a:r>
              <a:rPr lang="en-US" sz="1100" i="1" dirty="0">
                <a:solidFill>
                  <a:srgbClr val="0F172A"/>
                </a:solidFill>
                <a:latin typeface="Calibri" pitchFamily="34" charset="0"/>
                <a:ea typeface="Calibri" pitchFamily="34" charset="-122"/>
                <a:cs typeface="Calibri" pitchFamily="34" charset="-120"/>
              </a:rPr>
              <a:t>"Compare price complaints at X1 and X6 this week."</a:t>
            </a:r>
            <a:endParaRPr lang="en-US" sz="1100" dirty="0"/>
          </a:p>
        </p:txBody>
      </p:sp>
      <p:sp>
        <p:nvSpPr>
          <p:cNvPr id="40" name="Text 38"/>
          <p:cNvSpPr/>
          <p:nvPr/>
        </p:nvSpPr>
        <p:spPr>
          <a:xfrm>
            <a:off x="7360920" y="4983480"/>
            <a:ext cx="1847088" cy="201168"/>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OUTCOME</a:t>
            </a:r>
            <a:endParaRPr lang="en-US" sz="850" dirty="0"/>
          </a:p>
        </p:txBody>
      </p:sp>
      <p:sp>
        <p:nvSpPr>
          <p:cNvPr id="41" name="Text 39"/>
          <p:cNvSpPr/>
          <p:nvPr/>
        </p:nvSpPr>
        <p:spPr>
          <a:xfrm>
            <a:off x="7360920" y="5193792"/>
            <a:ext cx="1847088"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One-glance signal on pricing perception by location.</a:t>
            </a:r>
            <a:endParaRPr lang="en-US" sz="1050" dirty="0"/>
          </a:p>
        </p:txBody>
      </p:sp>
      <p:sp>
        <p:nvSpPr>
          <p:cNvPr id="42" name="Shape 40"/>
          <p:cNvSpPr/>
          <p:nvPr/>
        </p:nvSpPr>
        <p:spPr>
          <a:xfrm>
            <a:off x="9418320" y="1965960"/>
            <a:ext cx="2121408" cy="4206240"/>
          </a:xfrm>
          <a:prstGeom prst="rect">
            <a:avLst/>
          </a:prstGeom>
          <a:solidFill>
            <a:srgbClr val="F8FAFC"/>
          </a:solidFill>
          <a:ln w="9525">
            <a:solidFill>
              <a:srgbClr val="E2E8F0"/>
            </a:solidFill>
            <a:prstDash val="solid"/>
          </a:ln>
        </p:spPr>
        <p:txBody>
          <a:bodyPr/>
          <a:lstStyle/>
          <a:p>
            <a:endParaRPr lang="en-US"/>
          </a:p>
        </p:txBody>
      </p:sp>
      <p:sp>
        <p:nvSpPr>
          <p:cNvPr id="43" name="Shape 41"/>
          <p:cNvSpPr/>
          <p:nvPr/>
        </p:nvSpPr>
        <p:spPr>
          <a:xfrm>
            <a:off x="9418320" y="1965960"/>
            <a:ext cx="2121408" cy="594360"/>
          </a:xfrm>
          <a:prstGeom prst="rect">
            <a:avLst/>
          </a:prstGeom>
          <a:solidFill>
            <a:srgbClr val="1E293B"/>
          </a:solidFill>
          <a:ln w="9525">
            <a:solidFill>
              <a:srgbClr val="1E293B"/>
            </a:solidFill>
            <a:prstDash val="solid"/>
          </a:ln>
        </p:spPr>
        <p:txBody>
          <a:bodyPr/>
          <a:lstStyle/>
          <a:p>
            <a:endParaRPr lang="en-US"/>
          </a:p>
        </p:txBody>
      </p:sp>
      <p:sp>
        <p:nvSpPr>
          <p:cNvPr id="44" name="Text 42"/>
          <p:cNvSpPr/>
          <p:nvPr/>
        </p:nvSpPr>
        <p:spPr>
          <a:xfrm>
            <a:off x="9555480" y="2029968"/>
            <a:ext cx="1847088" cy="27432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FRI</a:t>
            </a:r>
            <a:endParaRPr lang="en-US" sz="1400" dirty="0"/>
          </a:p>
        </p:txBody>
      </p:sp>
      <p:sp>
        <p:nvSpPr>
          <p:cNvPr id="45" name="Text 43"/>
          <p:cNvSpPr/>
          <p:nvPr/>
        </p:nvSpPr>
        <p:spPr>
          <a:xfrm>
            <a:off x="9555480" y="2295144"/>
            <a:ext cx="1847088" cy="22860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4 PM</a:t>
            </a:r>
            <a:endParaRPr lang="en-US" sz="1000" dirty="0"/>
          </a:p>
        </p:txBody>
      </p:sp>
      <p:sp>
        <p:nvSpPr>
          <p:cNvPr id="46" name="Text 44"/>
          <p:cNvSpPr/>
          <p:nvPr/>
        </p:nvSpPr>
        <p:spPr>
          <a:xfrm>
            <a:off x="9601200" y="2697480"/>
            <a:ext cx="1847088" cy="5029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Weekly recap to leadership</a:t>
            </a:r>
            <a:endParaRPr lang="en-US" sz="1300" dirty="0"/>
          </a:p>
        </p:txBody>
      </p:sp>
      <p:sp>
        <p:nvSpPr>
          <p:cNvPr id="47" name="Text 45"/>
          <p:cNvSpPr/>
          <p:nvPr/>
        </p:nvSpPr>
        <p:spPr>
          <a:xfrm>
            <a:off x="9601200" y="3383280"/>
            <a:ext cx="1847088" cy="201168"/>
          </a:xfrm>
          <a:prstGeom prst="rect">
            <a:avLst/>
          </a:prstGeom>
          <a:noFill/>
          <a:ln/>
        </p:spPr>
        <p:txBody>
          <a:bodyPr wrap="square" lIns="0" tIns="0" rIns="0" bIns="0" rtlCol="0" anchor="ctr"/>
          <a:lstStyle/>
          <a:p>
            <a:pPr marL="0" indent="0">
              <a:buNone/>
            </a:pPr>
            <a:r>
              <a:rPr lang="en-US" sz="850" b="1" kern="0" spc="300" dirty="0">
                <a:solidFill>
                  <a:srgbClr val="0F766E"/>
                </a:solidFill>
                <a:latin typeface="Calibri" pitchFamily="34" charset="0"/>
                <a:ea typeface="Calibri" pitchFamily="34" charset="-122"/>
                <a:cs typeface="Calibri" pitchFamily="34" charset="-120"/>
              </a:rPr>
              <a:t>YOU ASK</a:t>
            </a:r>
            <a:endParaRPr lang="en-US" sz="850" dirty="0"/>
          </a:p>
        </p:txBody>
      </p:sp>
      <p:sp>
        <p:nvSpPr>
          <p:cNvPr id="48" name="Text 46"/>
          <p:cNvSpPr/>
          <p:nvPr/>
        </p:nvSpPr>
        <p:spPr>
          <a:xfrm>
            <a:off x="9601200" y="3593592"/>
            <a:ext cx="1847088" cy="1371600"/>
          </a:xfrm>
          <a:prstGeom prst="rect">
            <a:avLst/>
          </a:prstGeom>
          <a:noFill/>
          <a:ln/>
        </p:spPr>
        <p:txBody>
          <a:bodyPr wrap="square" lIns="0" tIns="0" rIns="0" bIns="0" rtlCol="0" anchor="t"/>
          <a:lstStyle/>
          <a:p>
            <a:pPr marL="0" indent="0">
              <a:buNone/>
            </a:pPr>
            <a:r>
              <a:rPr lang="en-US" sz="1100" i="1" dirty="0">
                <a:solidFill>
                  <a:srgbClr val="0F172A"/>
                </a:solidFill>
                <a:latin typeface="Calibri" pitchFamily="34" charset="0"/>
                <a:ea typeface="Calibri" pitchFamily="34" charset="-122"/>
                <a:cs typeface="Calibri" pitchFamily="34" charset="-120"/>
              </a:rPr>
              <a:t>"Recommendations: top 5 stocking actions for next week."</a:t>
            </a:r>
            <a:endParaRPr lang="en-US" sz="1100" dirty="0"/>
          </a:p>
        </p:txBody>
      </p:sp>
      <p:sp>
        <p:nvSpPr>
          <p:cNvPr id="49" name="Text 47"/>
          <p:cNvSpPr/>
          <p:nvPr/>
        </p:nvSpPr>
        <p:spPr>
          <a:xfrm>
            <a:off x="9601200" y="4983480"/>
            <a:ext cx="1847088" cy="201168"/>
          </a:xfrm>
          <a:prstGeom prst="rect">
            <a:avLst/>
          </a:prstGeom>
          <a:noFill/>
          <a:ln/>
        </p:spPr>
        <p:txBody>
          <a:bodyPr wrap="square" lIns="0" tIns="0" rIns="0" bIns="0" rtlCol="0" anchor="ctr"/>
          <a:lstStyle/>
          <a:p>
            <a:pPr marL="0" indent="0">
              <a:buNone/>
            </a:pPr>
            <a:r>
              <a:rPr lang="en-US" sz="850" b="1" kern="0" spc="300" dirty="0">
                <a:solidFill>
                  <a:srgbClr val="B45309"/>
                </a:solidFill>
                <a:latin typeface="Calibri" pitchFamily="34" charset="0"/>
                <a:ea typeface="Calibri" pitchFamily="34" charset="-122"/>
                <a:cs typeface="Calibri" pitchFamily="34" charset="-120"/>
              </a:rPr>
              <a:t>OUTCOME</a:t>
            </a:r>
            <a:endParaRPr lang="en-US" sz="850" dirty="0"/>
          </a:p>
        </p:txBody>
      </p:sp>
      <p:sp>
        <p:nvSpPr>
          <p:cNvPr id="50" name="Text 48"/>
          <p:cNvSpPr/>
          <p:nvPr/>
        </p:nvSpPr>
        <p:spPr>
          <a:xfrm>
            <a:off x="9601200" y="5193792"/>
            <a:ext cx="1847088"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One-click report into the leadership email.</a:t>
            </a:r>
            <a:endParaRPr lang="en-US" sz="1050" dirty="0"/>
          </a:p>
        </p:txBody>
      </p:sp>
      <p:sp>
        <p:nvSpPr>
          <p:cNvPr id="51" name="Text 49"/>
          <p:cNvSpPr/>
          <p:nvPr/>
        </p:nvSpPr>
        <p:spPr>
          <a:xfrm>
            <a:off x="457200" y="6355080"/>
            <a:ext cx="1124712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Five touchpoints, each under five minutes.  Nothing in this list took less than 30 minutes before.</a:t>
            </a:r>
            <a:endParaRPr lang="en-US" sz="1200" dirty="0"/>
          </a:p>
        </p:txBody>
      </p:sp>
      <p:sp>
        <p:nvSpPr>
          <p:cNvPr id="52" name="Text 50"/>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15</a:t>
            </a:r>
            <a:endParaRPr lang="en-US" sz="900" dirty="0"/>
          </a:p>
        </p:txBody>
      </p:sp>
      <p:sp>
        <p:nvSpPr>
          <p:cNvPr id="53" name="Text 51"/>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0" tIns="0" rIns="0" bIns="0" rtlCol="0" anchor="ctr"/>
          <a:lstStyle/>
          <a:p>
            <a:pPr marL="0" indent="0">
              <a:buNone/>
            </a:pPr>
            <a:r>
              <a:rPr lang="en-US" sz="1050" b="1" kern="0" spc="500" dirty="0">
                <a:solidFill>
                  <a:srgbClr val="0F766E"/>
                </a:solidFill>
                <a:latin typeface="Calibri" pitchFamily="34" charset="0"/>
                <a:ea typeface="Calibri" pitchFamily="34" charset="-122"/>
                <a:cs typeface="Calibri" pitchFamily="34" charset="-120"/>
              </a:rPr>
              <a:t>FOUR STEPS</a:t>
            </a:r>
            <a:endParaRPr lang="en-US" sz="1050" dirty="0"/>
          </a:p>
        </p:txBody>
      </p:sp>
      <p:sp>
        <p:nvSpPr>
          <p:cNvPr id="3" name="Text 1"/>
          <p:cNvSpPr/>
          <p:nvPr/>
        </p:nvSpPr>
        <p:spPr>
          <a:xfrm>
            <a:off x="457200" y="658368"/>
            <a:ext cx="11247120" cy="59436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Getting Started Monday Morning</a:t>
            </a:r>
            <a:endParaRPr lang="en-US" sz="2800" dirty="0"/>
          </a:p>
        </p:txBody>
      </p:sp>
      <p:sp>
        <p:nvSpPr>
          <p:cNvPr id="4" name="Shape 2"/>
          <p:cNvSpPr/>
          <p:nvPr/>
        </p:nvSpPr>
        <p:spPr>
          <a:xfrm>
            <a:off x="457200" y="1298448"/>
            <a:ext cx="11247120" cy="0"/>
          </a:xfrm>
          <a:prstGeom prst="line">
            <a:avLst/>
          </a:prstGeom>
          <a:noFill/>
          <a:ln w="9525">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 training course.  No new login.  No checklist.  Open the URL, ask the first question, build from there.</a:t>
            </a:r>
            <a:endParaRPr lang="en-US" sz="1300" dirty="0"/>
          </a:p>
        </p:txBody>
      </p:sp>
      <p:sp>
        <p:nvSpPr>
          <p:cNvPr id="6" name="Shape 4"/>
          <p:cNvSpPr/>
          <p:nvPr/>
        </p:nvSpPr>
        <p:spPr>
          <a:xfrm>
            <a:off x="457200" y="2103120"/>
            <a:ext cx="685800" cy="685800"/>
          </a:xfrm>
          <a:prstGeom prst="ellipse">
            <a:avLst/>
          </a:prstGeom>
          <a:solidFill>
            <a:srgbClr val="0F766E"/>
          </a:solidFill>
          <a:ln w="12700">
            <a:solidFill>
              <a:srgbClr val="333333"/>
            </a:solidFill>
            <a:prstDash val="solid"/>
          </a:ln>
        </p:spPr>
        <p:txBody>
          <a:bodyPr/>
          <a:lstStyle/>
          <a:p>
            <a:endParaRPr lang="en-US"/>
          </a:p>
        </p:txBody>
      </p:sp>
      <p:sp>
        <p:nvSpPr>
          <p:cNvPr id="7" name="Text 5"/>
          <p:cNvSpPr/>
          <p:nvPr/>
        </p:nvSpPr>
        <p:spPr>
          <a:xfrm>
            <a:off x="457200" y="210312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8" name="Text 6"/>
          <p:cNvSpPr/>
          <p:nvPr/>
        </p:nvSpPr>
        <p:spPr>
          <a:xfrm>
            <a:off x="1325880" y="2011680"/>
            <a:ext cx="5943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Open the tool</a:t>
            </a:r>
            <a:endParaRPr lang="en-US" sz="1600" dirty="0"/>
          </a:p>
        </p:txBody>
      </p:sp>
      <p:sp>
        <p:nvSpPr>
          <p:cNvPr id="9" name="Text 7"/>
          <p:cNvSpPr/>
          <p:nvPr/>
        </p:nvSpPr>
        <p:spPr>
          <a:xfrm>
            <a:off x="1325880" y="2377440"/>
            <a:ext cx="5943600" cy="6400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Bookmark the internal URL.  Sign in with your existing SSO — no separate account.</a:t>
            </a:r>
            <a:endParaRPr lang="en-US" sz="1200" dirty="0"/>
          </a:p>
        </p:txBody>
      </p:sp>
      <p:sp>
        <p:nvSpPr>
          <p:cNvPr id="10" name="Shape 8"/>
          <p:cNvSpPr/>
          <p:nvPr/>
        </p:nvSpPr>
        <p:spPr>
          <a:xfrm>
            <a:off x="7680960" y="2194560"/>
            <a:ext cx="4114800" cy="548640"/>
          </a:xfrm>
          <a:prstGeom prst="rect">
            <a:avLst/>
          </a:prstGeom>
          <a:solidFill>
            <a:srgbClr val="CCFBF1"/>
          </a:solidFill>
          <a:ln w="6350">
            <a:solidFill>
              <a:srgbClr val="0F766E"/>
            </a:solidFill>
            <a:prstDash val="solid"/>
          </a:ln>
        </p:spPr>
        <p:txBody>
          <a:bodyPr/>
          <a:lstStyle/>
          <a:p>
            <a:endParaRPr lang="en-US"/>
          </a:p>
        </p:txBody>
      </p:sp>
      <p:sp>
        <p:nvSpPr>
          <p:cNvPr id="11" name="Text 9"/>
          <p:cNvSpPr/>
          <p:nvPr/>
        </p:nvSpPr>
        <p:spPr>
          <a:xfrm>
            <a:off x="7818120" y="2240280"/>
            <a:ext cx="3886200" cy="457200"/>
          </a:xfrm>
          <a:prstGeom prst="rect">
            <a:avLst/>
          </a:prstGeom>
          <a:noFill/>
          <a:ln/>
        </p:spPr>
        <p:txBody>
          <a:bodyPr wrap="square" lIns="0" tIns="0" rIns="0" bIns="0" rtlCol="0" anchor="ctr"/>
          <a:lstStyle/>
          <a:p>
            <a:pPr marL="0" indent="0">
              <a:buNone/>
            </a:pPr>
            <a:r>
              <a:rPr lang="en-US" sz="1100" dirty="0">
                <a:solidFill>
                  <a:srgbClr val="0F766E"/>
                </a:solidFill>
                <a:latin typeface="Consolas" pitchFamily="34" charset="0"/>
                <a:ea typeface="Consolas" pitchFamily="34" charset="-122"/>
                <a:cs typeface="Consolas" pitchFamily="34" charset="-120"/>
              </a:rPr>
              <a:t>Bookmark: merch-ai.[internal]</a:t>
            </a:r>
            <a:endParaRPr lang="en-US" sz="1100" dirty="0"/>
          </a:p>
        </p:txBody>
      </p:sp>
      <p:sp>
        <p:nvSpPr>
          <p:cNvPr id="12" name="Shape 10"/>
          <p:cNvSpPr/>
          <p:nvPr/>
        </p:nvSpPr>
        <p:spPr>
          <a:xfrm>
            <a:off x="457200" y="3108960"/>
            <a:ext cx="685800" cy="685800"/>
          </a:xfrm>
          <a:prstGeom prst="ellipse">
            <a:avLst/>
          </a:prstGeom>
          <a:solidFill>
            <a:srgbClr val="0F766E"/>
          </a:solidFill>
          <a:ln w="12700">
            <a:solidFill>
              <a:srgbClr val="333333"/>
            </a:solidFill>
            <a:prstDash val="solid"/>
          </a:ln>
        </p:spPr>
        <p:txBody>
          <a:bodyPr/>
          <a:lstStyle/>
          <a:p>
            <a:endParaRPr lang="en-US"/>
          </a:p>
        </p:txBody>
      </p:sp>
      <p:sp>
        <p:nvSpPr>
          <p:cNvPr id="13" name="Text 11"/>
          <p:cNvSpPr/>
          <p:nvPr/>
        </p:nvSpPr>
        <p:spPr>
          <a:xfrm>
            <a:off x="457200" y="310896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4" name="Text 12"/>
          <p:cNvSpPr/>
          <p:nvPr/>
        </p:nvSpPr>
        <p:spPr>
          <a:xfrm>
            <a:off x="1325880" y="3017520"/>
            <a:ext cx="5943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Try the starter question</a:t>
            </a:r>
            <a:endParaRPr lang="en-US" sz="1600" dirty="0"/>
          </a:p>
        </p:txBody>
      </p:sp>
      <p:sp>
        <p:nvSpPr>
          <p:cNvPr id="15" name="Text 13"/>
          <p:cNvSpPr/>
          <p:nvPr/>
        </p:nvSpPr>
        <p:spPr>
          <a:xfrm>
            <a:off x="1325880" y="3383280"/>
            <a:ext cx="5943600" cy="6400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Paste this exactly: "What's the top reason at my store yesterday?"  See what comes back.</a:t>
            </a:r>
            <a:endParaRPr lang="en-US" sz="1200" dirty="0"/>
          </a:p>
        </p:txBody>
      </p:sp>
      <p:sp>
        <p:nvSpPr>
          <p:cNvPr id="16" name="Shape 14"/>
          <p:cNvSpPr/>
          <p:nvPr/>
        </p:nvSpPr>
        <p:spPr>
          <a:xfrm>
            <a:off x="7680960" y="3200400"/>
            <a:ext cx="4114800" cy="548640"/>
          </a:xfrm>
          <a:prstGeom prst="rect">
            <a:avLst/>
          </a:prstGeom>
          <a:solidFill>
            <a:srgbClr val="CCFBF1"/>
          </a:solidFill>
          <a:ln w="6350">
            <a:solidFill>
              <a:srgbClr val="0F766E"/>
            </a:solidFill>
            <a:prstDash val="solid"/>
          </a:ln>
        </p:spPr>
        <p:txBody>
          <a:bodyPr/>
          <a:lstStyle/>
          <a:p>
            <a:endParaRPr lang="en-US"/>
          </a:p>
        </p:txBody>
      </p:sp>
      <p:sp>
        <p:nvSpPr>
          <p:cNvPr id="17" name="Text 15"/>
          <p:cNvSpPr/>
          <p:nvPr/>
        </p:nvSpPr>
        <p:spPr>
          <a:xfrm>
            <a:off x="7818120" y="3246120"/>
            <a:ext cx="3886200" cy="457200"/>
          </a:xfrm>
          <a:prstGeom prst="rect">
            <a:avLst/>
          </a:prstGeom>
          <a:noFill/>
          <a:ln/>
        </p:spPr>
        <p:txBody>
          <a:bodyPr wrap="square" lIns="0" tIns="0" rIns="0" bIns="0" rtlCol="0" anchor="ctr"/>
          <a:lstStyle/>
          <a:p>
            <a:pPr marL="0" indent="0">
              <a:buNone/>
            </a:pPr>
            <a:r>
              <a:rPr lang="en-US" sz="1100" dirty="0">
                <a:solidFill>
                  <a:srgbClr val="0F766E"/>
                </a:solidFill>
                <a:latin typeface="Consolas" pitchFamily="34" charset="0"/>
                <a:ea typeface="Consolas" pitchFamily="34" charset="-122"/>
                <a:cs typeface="Consolas" pitchFamily="34" charset="-120"/>
              </a:rPr>
              <a:t>"What's the top reason at my store yesterday?"</a:t>
            </a:r>
            <a:endParaRPr lang="en-US" sz="1100" dirty="0"/>
          </a:p>
        </p:txBody>
      </p:sp>
      <p:sp>
        <p:nvSpPr>
          <p:cNvPr id="18" name="Shape 16"/>
          <p:cNvSpPr/>
          <p:nvPr/>
        </p:nvSpPr>
        <p:spPr>
          <a:xfrm>
            <a:off x="457200" y="4114800"/>
            <a:ext cx="685800" cy="685800"/>
          </a:xfrm>
          <a:prstGeom prst="ellipse">
            <a:avLst/>
          </a:prstGeom>
          <a:solidFill>
            <a:srgbClr val="0F766E"/>
          </a:solidFill>
          <a:ln w="12700">
            <a:solidFill>
              <a:srgbClr val="333333"/>
            </a:solidFill>
            <a:prstDash val="solid"/>
          </a:ln>
        </p:spPr>
        <p:txBody>
          <a:bodyPr/>
          <a:lstStyle/>
          <a:p>
            <a:endParaRPr lang="en-US"/>
          </a:p>
        </p:txBody>
      </p:sp>
      <p:sp>
        <p:nvSpPr>
          <p:cNvPr id="19" name="Text 17"/>
          <p:cNvSpPr/>
          <p:nvPr/>
        </p:nvSpPr>
        <p:spPr>
          <a:xfrm>
            <a:off x="457200" y="411480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20" name="Text 18"/>
          <p:cNvSpPr/>
          <p:nvPr/>
        </p:nvSpPr>
        <p:spPr>
          <a:xfrm>
            <a:off x="1325880" y="4023360"/>
            <a:ext cx="5943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Follow up</a:t>
            </a:r>
            <a:endParaRPr lang="en-US" sz="1600" dirty="0"/>
          </a:p>
        </p:txBody>
      </p:sp>
      <p:sp>
        <p:nvSpPr>
          <p:cNvPr id="21" name="Text 19"/>
          <p:cNvSpPr/>
          <p:nvPr/>
        </p:nvSpPr>
        <p:spPr>
          <a:xfrm>
            <a:off x="1325880" y="4389120"/>
            <a:ext cx="5943600" cy="6400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Ask "show me the breakdown by attribute value" or "compare to last week."  Get used to following the trail.</a:t>
            </a:r>
            <a:endParaRPr lang="en-US" sz="1200" dirty="0"/>
          </a:p>
        </p:txBody>
      </p:sp>
      <p:sp>
        <p:nvSpPr>
          <p:cNvPr id="22" name="Shape 20"/>
          <p:cNvSpPr/>
          <p:nvPr/>
        </p:nvSpPr>
        <p:spPr>
          <a:xfrm>
            <a:off x="7680960" y="4206240"/>
            <a:ext cx="4114800" cy="548640"/>
          </a:xfrm>
          <a:prstGeom prst="rect">
            <a:avLst/>
          </a:prstGeom>
          <a:solidFill>
            <a:srgbClr val="CCFBF1"/>
          </a:solidFill>
          <a:ln w="6350">
            <a:solidFill>
              <a:srgbClr val="0F766E"/>
            </a:solidFill>
            <a:prstDash val="solid"/>
          </a:ln>
        </p:spPr>
        <p:txBody>
          <a:bodyPr/>
          <a:lstStyle/>
          <a:p>
            <a:endParaRPr lang="en-US"/>
          </a:p>
        </p:txBody>
      </p:sp>
      <p:sp>
        <p:nvSpPr>
          <p:cNvPr id="23" name="Text 21"/>
          <p:cNvSpPr/>
          <p:nvPr/>
        </p:nvSpPr>
        <p:spPr>
          <a:xfrm>
            <a:off x="7818120" y="4251960"/>
            <a:ext cx="3886200" cy="457200"/>
          </a:xfrm>
          <a:prstGeom prst="rect">
            <a:avLst/>
          </a:prstGeom>
          <a:noFill/>
          <a:ln/>
        </p:spPr>
        <p:txBody>
          <a:bodyPr wrap="square" lIns="0" tIns="0" rIns="0" bIns="0" rtlCol="0" anchor="ctr"/>
          <a:lstStyle/>
          <a:p>
            <a:pPr marL="0" indent="0">
              <a:buNone/>
            </a:pPr>
            <a:r>
              <a:rPr lang="en-US" sz="1100" dirty="0">
                <a:solidFill>
                  <a:srgbClr val="0F766E"/>
                </a:solidFill>
                <a:latin typeface="Consolas" pitchFamily="34" charset="0"/>
                <a:ea typeface="Consolas" pitchFamily="34" charset="-122"/>
                <a:cs typeface="Consolas" pitchFamily="34" charset="-120"/>
              </a:rPr>
              <a:t>"Compare to last week."</a:t>
            </a:r>
            <a:endParaRPr lang="en-US" sz="1100" dirty="0"/>
          </a:p>
        </p:txBody>
      </p:sp>
      <p:sp>
        <p:nvSpPr>
          <p:cNvPr id="24" name="Shape 22"/>
          <p:cNvSpPr/>
          <p:nvPr/>
        </p:nvSpPr>
        <p:spPr>
          <a:xfrm>
            <a:off x="457200" y="5120640"/>
            <a:ext cx="685800" cy="685800"/>
          </a:xfrm>
          <a:prstGeom prst="ellipse">
            <a:avLst/>
          </a:prstGeom>
          <a:solidFill>
            <a:srgbClr val="0F766E"/>
          </a:solidFill>
          <a:ln w="12700">
            <a:solidFill>
              <a:srgbClr val="333333"/>
            </a:solidFill>
            <a:prstDash val="solid"/>
          </a:ln>
        </p:spPr>
        <p:txBody>
          <a:bodyPr/>
          <a:lstStyle/>
          <a:p>
            <a:endParaRPr lang="en-US"/>
          </a:p>
        </p:txBody>
      </p:sp>
      <p:sp>
        <p:nvSpPr>
          <p:cNvPr id="25" name="Text 23"/>
          <p:cNvSpPr/>
          <p:nvPr/>
        </p:nvSpPr>
        <p:spPr>
          <a:xfrm>
            <a:off x="457200" y="512064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6" name="Text 24"/>
          <p:cNvSpPr/>
          <p:nvPr/>
        </p:nvSpPr>
        <p:spPr>
          <a:xfrm>
            <a:off x="1325880" y="5029200"/>
            <a:ext cx="5943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Tell us what you find</a:t>
            </a:r>
            <a:endParaRPr lang="en-US" sz="1600" dirty="0"/>
          </a:p>
        </p:txBody>
      </p:sp>
      <p:sp>
        <p:nvSpPr>
          <p:cNvPr id="27" name="Text 25"/>
          <p:cNvSpPr/>
          <p:nvPr/>
        </p:nvSpPr>
        <p:spPr>
          <a:xfrm>
            <a:off x="1325880" y="5394960"/>
            <a:ext cx="5943600" cy="6400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When something delights you, tell us.  When something frustrates you, tell us louder.  We update weekly.</a:t>
            </a:r>
            <a:endParaRPr lang="en-US" sz="1200" dirty="0"/>
          </a:p>
        </p:txBody>
      </p:sp>
      <p:sp>
        <p:nvSpPr>
          <p:cNvPr id="28" name="Shape 26"/>
          <p:cNvSpPr/>
          <p:nvPr/>
        </p:nvSpPr>
        <p:spPr>
          <a:xfrm>
            <a:off x="7680960" y="5212080"/>
            <a:ext cx="4114800" cy="548640"/>
          </a:xfrm>
          <a:prstGeom prst="rect">
            <a:avLst/>
          </a:prstGeom>
          <a:solidFill>
            <a:srgbClr val="CCFBF1"/>
          </a:solidFill>
          <a:ln w="6350">
            <a:solidFill>
              <a:srgbClr val="0F766E"/>
            </a:solidFill>
            <a:prstDash val="solid"/>
          </a:ln>
        </p:spPr>
        <p:txBody>
          <a:bodyPr/>
          <a:lstStyle/>
          <a:p>
            <a:endParaRPr lang="en-US"/>
          </a:p>
        </p:txBody>
      </p:sp>
      <p:sp>
        <p:nvSpPr>
          <p:cNvPr id="29" name="Text 27"/>
          <p:cNvSpPr/>
          <p:nvPr/>
        </p:nvSpPr>
        <p:spPr>
          <a:xfrm>
            <a:off x="7818120" y="5257800"/>
            <a:ext cx="3886200" cy="457200"/>
          </a:xfrm>
          <a:prstGeom prst="rect">
            <a:avLst/>
          </a:prstGeom>
          <a:noFill/>
          <a:ln/>
        </p:spPr>
        <p:txBody>
          <a:bodyPr wrap="square" lIns="0" tIns="0" rIns="0" bIns="0" rtlCol="0" anchor="ctr"/>
          <a:lstStyle/>
          <a:p>
            <a:pPr marL="0" indent="0">
              <a:buNone/>
            </a:pPr>
            <a:r>
              <a:rPr lang="en-US" sz="1100" dirty="0">
                <a:solidFill>
                  <a:srgbClr val="0F766E"/>
                </a:solidFill>
                <a:latin typeface="Consolas" pitchFamily="34" charset="0"/>
                <a:ea typeface="Consolas" pitchFamily="34" charset="-122"/>
                <a:cs typeface="Consolas" pitchFamily="34" charset="-120"/>
              </a:rPr>
              <a:t>Slack: #merch-ai-feedback</a:t>
            </a:r>
            <a:endParaRPr lang="en-US" sz="1100" dirty="0"/>
          </a:p>
        </p:txBody>
      </p:sp>
      <p:sp>
        <p:nvSpPr>
          <p:cNvPr id="30" name="Shape 28"/>
          <p:cNvSpPr/>
          <p:nvPr/>
        </p:nvSpPr>
        <p:spPr>
          <a:xfrm>
            <a:off x="457200" y="6126480"/>
            <a:ext cx="11247120" cy="502920"/>
          </a:xfrm>
          <a:prstGeom prst="rect">
            <a:avLst/>
          </a:prstGeom>
          <a:solidFill>
            <a:srgbClr val="FEF3C7"/>
          </a:solidFill>
          <a:ln w="6350">
            <a:solidFill>
              <a:srgbClr val="B45309"/>
            </a:solidFill>
            <a:prstDash val="solid"/>
          </a:ln>
        </p:spPr>
        <p:txBody>
          <a:bodyPr/>
          <a:lstStyle/>
          <a:p>
            <a:endParaRPr lang="en-US"/>
          </a:p>
        </p:txBody>
      </p:sp>
      <p:sp>
        <p:nvSpPr>
          <p:cNvPr id="31" name="Text 29"/>
          <p:cNvSpPr/>
          <p:nvPr/>
        </p:nvSpPr>
        <p:spPr>
          <a:xfrm>
            <a:off x="640080" y="6199632"/>
            <a:ext cx="10972800" cy="365760"/>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First-week support:  </a:t>
            </a:r>
            <a:r>
              <a:rPr lang="en-US" sz="1200" dirty="0">
                <a:solidFill>
                  <a:srgbClr val="334155"/>
                </a:solidFill>
                <a:latin typeface="Calibri" pitchFamily="34" charset="0"/>
                <a:ea typeface="Calibri" pitchFamily="34" charset="-122"/>
                <a:cs typeface="Calibri" pitchFamily="34" charset="-120"/>
              </a:rPr>
              <a:t>we'll do a 15-minute 1:1 walkthrough with every one of you in the first five business days.  Block it on your calendar.</a:t>
            </a:r>
            <a:endParaRPr lang="en-US" sz="1200" dirty="0"/>
          </a:p>
        </p:txBody>
      </p:sp>
      <p:sp>
        <p:nvSpPr>
          <p:cNvPr id="32" name="Text 30"/>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15</a:t>
            </a:r>
            <a:endParaRPr lang="en-US" sz="900" dirty="0"/>
          </a:p>
        </p:txBody>
      </p:sp>
      <p:sp>
        <p:nvSpPr>
          <p:cNvPr id="33" name="Text 31"/>
          <p:cNvSpPr/>
          <p:nvPr/>
        </p:nvSpPr>
        <p:spPr>
          <a:xfrm>
            <a:off x="457200" y="6656832"/>
            <a:ext cx="73152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Made for X1 — X6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766E"/>
          </a:solidFill>
          <a:ln w="12700">
            <a:solidFill>
              <a:srgbClr val="333333"/>
            </a:solidFill>
            <a:prstDash val="solid"/>
          </a:ln>
        </p:spPr>
        <p:txBody>
          <a:bodyPr/>
          <a:lstStyle/>
          <a:p>
            <a:endParaRPr lang="en-US"/>
          </a:p>
        </p:txBody>
      </p:sp>
      <p:sp>
        <p:nvSpPr>
          <p:cNvPr id="3" name="Text 1"/>
          <p:cNvSpPr/>
          <p:nvPr/>
        </p:nvSpPr>
        <p:spPr>
          <a:xfrm>
            <a:off x="822960" y="1097280"/>
            <a:ext cx="10972800" cy="320040"/>
          </a:xfrm>
          <a:prstGeom prst="rect">
            <a:avLst/>
          </a:prstGeom>
          <a:noFill/>
          <a:ln/>
        </p:spPr>
        <p:txBody>
          <a:bodyPr wrap="square" lIns="0" tIns="0" rIns="0" bIns="0" rtlCol="0" anchor="ctr"/>
          <a:lstStyle/>
          <a:p>
            <a:pPr marL="0" indent="0">
              <a:buNone/>
            </a:pPr>
            <a:r>
              <a:rPr lang="en-US" sz="1100" b="1" kern="0" spc="600" dirty="0">
                <a:solidFill>
                  <a:srgbClr val="0F766E"/>
                </a:solidFill>
                <a:latin typeface="Calibri" pitchFamily="34" charset="0"/>
                <a:ea typeface="Calibri" pitchFamily="34" charset="-122"/>
                <a:cs typeface="Calibri" pitchFamily="34" charset="-120"/>
              </a:rPr>
              <a:t>THE ASK</a:t>
            </a:r>
            <a:endParaRPr lang="en-US" sz="1100" dirty="0"/>
          </a:p>
        </p:txBody>
      </p:sp>
      <p:sp>
        <p:nvSpPr>
          <p:cNvPr id="4" name="Text 2"/>
          <p:cNvSpPr/>
          <p:nvPr/>
        </p:nvSpPr>
        <p:spPr>
          <a:xfrm>
            <a:off x="822960" y="1554480"/>
            <a:ext cx="10972800" cy="822960"/>
          </a:xfrm>
          <a:prstGeom prst="rect">
            <a:avLst/>
          </a:prstGeom>
          <a:noFill/>
          <a:ln/>
        </p:spPr>
        <p:txBody>
          <a:bodyPr wrap="square" lIns="0" tIns="0" rIns="0" bIns="0" rtlCol="0" anchor="ctr"/>
          <a:lstStyle/>
          <a:p>
            <a:pPr marL="0" indent="0">
              <a:buNone/>
            </a:pPr>
            <a:r>
              <a:rPr lang="en-US" sz="4400" b="1" dirty="0">
                <a:solidFill>
                  <a:srgbClr val="0F172A"/>
                </a:solidFill>
                <a:latin typeface="Calibri" pitchFamily="34" charset="0"/>
                <a:ea typeface="Calibri" pitchFamily="34" charset="-122"/>
                <a:cs typeface="Calibri" pitchFamily="34" charset="-120"/>
              </a:rPr>
              <a:t>Try it Monday morning.</a:t>
            </a:r>
            <a:endParaRPr lang="en-US" sz="4400" dirty="0"/>
          </a:p>
        </p:txBody>
      </p:sp>
      <p:sp>
        <p:nvSpPr>
          <p:cNvPr id="5" name="Text 3"/>
          <p:cNvSpPr/>
          <p:nvPr/>
        </p:nvSpPr>
        <p:spPr>
          <a:xfrm>
            <a:off x="822960" y="2606040"/>
            <a:ext cx="10515600" cy="914400"/>
          </a:xfrm>
          <a:prstGeom prst="rect">
            <a:avLst/>
          </a:prstGeom>
          <a:noFill/>
          <a:ln/>
        </p:spPr>
        <p:txBody>
          <a:bodyPr wrap="square" lIns="0" tIns="0" rIns="0" bIns="0" rtlCol="0" anchor="t"/>
          <a:lstStyle/>
          <a:p>
            <a:pPr marL="0" indent="0">
              <a:buNone/>
            </a:pPr>
            <a:r>
              <a:rPr lang="en-US" sz="1700" dirty="0">
                <a:solidFill>
                  <a:srgbClr val="334155"/>
                </a:solidFill>
                <a:latin typeface="Calibri" pitchFamily="34" charset="0"/>
                <a:ea typeface="Calibri" pitchFamily="34" charset="-122"/>
                <a:cs typeface="Calibri" pitchFamily="34" charset="-120"/>
              </a:rPr>
              <a:t>Use it for the questions you'd ask anyway.  Notice where it saves you time.  Notice where it doesn't.  Tell us both.</a:t>
            </a:r>
            <a:endParaRPr lang="en-US" sz="1700" dirty="0"/>
          </a:p>
        </p:txBody>
      </p:sp>
      <p:sp>
        <p:nvSpPr>
          <p:cNvPr id="6" name="Shape 4"/>
          <p:cNvSpPr/>
          <p:nvPr/>
        </p:nvSpPr>
        <p:spPr>
          <a:xfrm>
            <a:off x="822960" y="4114800"/>
            <a:ext cx="3611880" cy="146304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822960" y="4114800"/>
            <a:ext cx="64008" cy="1463040"/>
          </a:xfrm>
          <a:prstGeom prst="rect">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1051560" y="4297680"/>
            <a:ext cx="3246120" cy="365760"/>
          </a:xfrm>
          <a:prstGeom prst="rect">
            <a:avLst/>
          </a:prstGeom>
          <a:noFill/>
          <a:ln/>
        </p:spPr>
        <p:txBody>
          <a:bodyPr wrap="square" lIns="0" tIns="0" rIns="0" bIns="0" rtlCol="0" anchor="ctr"/>
          <a:lstStyle/>
          <a:p>
            <a:pPr marL="0" indent="0">
              <a:buNone/>
            </a:pPr>
            <a:r>
              <a:rPr lang="en-US" sz="1500" b="1" dirty="0">
                <a:solidFill>
                  <a:srgbClr val="0F766E"/>
                </a:solidFill>
                <a:latin typeface="Calibri" pitchFamily="34" charset="0"/>
                <a:ea typeface="Calibri" pitchFamily="34" charset="-122"/>
                <a:cs typeface="Calibri" pitchFamily="34" charset="-120"/>
              </a:rPr>
              <a:t>It's yours to use</a:t>
            </a:r>
            <a:endParaRPr lang="en-US" sz="1500" dirty="0"/>
          </a:p>
        </p:txBody>
      </p:sp>
      <p:sp>
        <p:nvSpPr>
          <p:cNvPr id="9" name="Text 7"/>
          <p:cNvSpPr/>
          <p:nvPr/>
        </p:nvSpPr>
        <p:spPr>
          <a:xfrm>
            <a:off x="1051560" y="4709160"/>
            <a:ext cx="3246120" cy="7772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No request queue.  No analyst handoff.  Open the URL.</a:t>
            </a:r>
            <a:endParaRPr lang="en-US" sz="1200" dirty="0"/>
          </a:p>
        </p:txBody>
      </p:sp>
      <p:sp>
        <p:nvSpPr>
          <p:cNvPr id="10" name="Shape 8"/>
          <p:cNvSpPr/>
          <p:nvPr/>
        </p:nvSpPr>
        <p:spPr>
          <a:xfrm>
            <a:off x="4663440" y="4114800"/>
            <a:ext cx="3611880" cy="1463040"/>
          </a:xfrm>
          <a:prstGeom prst="rect">
            <a:avLst/>
          </a:prstGeom>
          <a:solidFill>
            <a:srgbClr val="F8FAFC"/>
          </a:solidFill>
          <a:ln w="9525">
            <a:solidFill>
              <a:srgbClr val="E2E8F0"/>
            </a:solidFill>
            <a:prstDash val="solid"/>
          </a:ln>
        </p:spPr>
        <p:txBody>
          <a:bodyPr/>
          <a:lstStyle/>
          <a:p>
            <a:endParaRPr lang="en-US"/>
          </a:p>
        </p:txBody>
      </p:sp>
      <p:sp>
        <p:nvSpPr>
          <p:cNvPr id="11" name="Shape 9"/>
          <p:cNvSpPr/>
          <p:nvPr/>
        </p:nvSpPr>
        <p:spPr>
          <a:xfrm>
            <a:off x="4663440" y="4114800"/>
            <a:ext cx="64008" cy="1463040"/>
          </a:xfrm>
          <a:prstGeom prst="rect">
            <a:avLst/>
          </a:prstGeom>
          <a:solidFill>
            <a:srgbClr val="B45309"/>
          </a:solidFill>
          <a:ln w="12700">
            <a:solidFill>
              <a:srgbClr val="333333"/>
            </a:solidFill>
            <a:prstDash val="solid"/>
          </a:ln>
        </p:spPr>
        <p:txBody>
          <a:bodyPr/>
          <a:lstStyle/>
          <a:p>
            <a:endParaRPr lang="en-US"/>
          </a:p>
        </p:txBody>
      </p:sp>
      <p:sp>
        <p:nvSpPr>
          <p:cNvPr id="12" name="Text 10"/>
          <p:cNvSpPr/>
          <p:nvPr/>
        </p:nvSpPr>
        <p:spPr>
          <a:xfrm>
            <a:off x="4892040" y="4297680"/>
            <a:ext cx="3246120" cy="365760"/>
          </a:xfrm>
          <a:prstGeom prst="rect">
            <a:avLst/>
          </a:prstGeom>
          <a:noFill/>
          <a:ln/>
        </p:spPr>
        <p:txBody>
          <a:bodyPr wrap="square" lIns="0" tIns="0" rIns="0" bIns="0" rtlCol="0" anchor="ctr"/>
          <a:lstStyle/>
          <a:p>
            <a:pPr marL="0" indent="0">
              <a:buNone/>
            </a:pPr>
            <a:r>
              <a:rPr lang="en-US" sz="1500" b="1" dirty="0">
                <a:solidFill>
                  <a:srgbClr val="B45309"/>
                </a:solidFill>
                <a:latin typeface="Calibri" pitchFamily="34" charset="0"/>
                <a:ea typeface="Calibri" pitchFamily="34" charset="-122"/>
                <a:cs typeface="Calibri" pitchFamily="34" charset="-120"/>
              </a:rPr>
              <a:t>It's yours to shape</a:t>
            </a:r>
            <a:endParaRPr lang="en-US" sz="1500" dirty="0"/>
          </a:p>
        </p:txBody>
      </p:sp>
      <p:sp>
        <p:nvSpPr>
          <p:cNvPr id="13" name="Text 11"/>
          <p:cNvSpPr/>
          <p:nvPr/>
        </p:nvSpPr>
        <p:spPr>
          <a:xfrm>
            <a:off x="4892040" y="4709160"/>
            <a:ext cx="3246120" cy="7772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 piece of feedback in the first month directly steers the next.</a:t>
            </a:r>
            <a:endParaRPr lang="en-US" sz="1200" dirty="0"/>
          </a:p>
        </p:txBody>
      </p:sp>
      <p:sp>
        <p:nvSpPr>
          <p:cNvPr id="14" name="Shape 12"/>
          <p:cNvSpPr/>
          <p:nvPr/>
        </p:nvSpPr>
        <p:spPr>
          <a:xfrm>
            <a:off x="8503920" y="4114800"/>
            <a:ext cx="3611880" cy="1463040"/>
          </a:xfrm>
          <a:prstGeom prst="rect">
            <a:avLst/>
          </a:prstGeom>
          <a:solidFill>
            <a:srgbClr val="F8FAFC"/>
          </a:solidFill>
          <a:ln w="9525">
            <a:solidFill>
              <a:srgbClr val="E2E8F0"/>
            </a:solidFill>
            <a:prstDash val="solid"/>
          </a:ln>
        </p:spPr>
        <p:txBody>
          <a:bodyPr/>
          <a:lstStyle/>
          <a:p>
            <a:endParaRPr lang="en-US"/>
          </a:p>
        </p:txBody>
      </p:sp>
      <p:sp>
        <p:nvSpPr>
          <p:cNvPr id="15" name="Shape 13"/>
          <p:cNvSpPr/>
          <p:nvPr/>
        </p:nvSpPr>
        <p:spPr>
          <a:xfrm>
            <a:off x="8503920" y="4114800"/>
            <a:ext cx="64008" cy="1463040"/>
          </a:xfrm>
          <a:prstGeom prst="rect">
            <a:avLst/>
          </a:prstGeom>
          <a:solidFill>
            <a:srgbClr val="1E293B"/>
          </a:solidFill>
          <a:ln w="12700">
            <a:solidFill>
              <a:srgbClr val="333333"/>
            </a:solidFill>
            <a:prstDash val="solid"/>
          </a:ln>
        </p:spPr>
        <p:txBody>
          <a:bodyPr/>
          <a:lstStyle/>
          <a:p>
            <a:endParaRPr lang="en-US"/>
          </a:p>
        </p:txBody>
      </p:sp>
      <p:sp>
        <p:nvSpPr>
          <p:cNvPr id="16" name="Text 14"/>
          <p:cNvSpPr/>
          <p:nvPr/>
        </p:nvSpPr>
        <p:spPr>
          <a:xfrm>
            <a:off x="8732520" y="4297680"/>
            <a:ext cx="324612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It's yours to trust</a:t>
            </a:r>
            <a:endParaRPr lang="en-US" sz="1500" dirty="0"/>
          </a:p>
        </p:txBody>
      </p:sp>
      <p:sp>
        <p:nvSpPr>
          <p:cNvPr id="17" name="Text 15"/>
          <p:cNvSpPr/>
          <p:nvPr/>
        </p:nvSpPr>
        <p:spPr>
          <a:xfrm>
            <a:off x="8732520" y="4709160"/>
            <a:ext cx="3246120" cy="7772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 number is grounded.  Every answer has an audit trail.</a:t>
            </a:r>
            <a:endParaRPr lang="en-US" sz="1200" dirty="0"/>
          </a:p>
        </p:txBody>
      </p:sp>
      <p:sp>
        <p:nvSpPr>
          <p:cNvPr id="18" name="Text 16"/>
          <p:cNvSpPr/>
          <p:nvPr/>
        </p:nvSpPr>
        <p:spPr>
          <a:xfrm>
            <a:off x="822960" y="6035040"/>
            <a:ext cx="1097280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Questions, demos, ideas:  Sundar Ram Subramanian  ·  #merch-ai-feedback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2814</Words>
  <Application>Microsoft Macintosh PowerPoint</Application>
  <PresentationFormat>Widescreen</PresentationFormat>
  <Paragraphs>379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Subramanian, Sundar Ram - (sundarram1997)</cp:lastModifiedBy>
  <cp:revision>1</cp:revision>
  <dcterms:created xsi:type="dcterms:W3CDTF">2026-05-17T03:26:21Z</dcterms:created>
  <dcterms:modified xsi:type="dcterms:W3CDTF">2026-05-17T05:18:35Z</dcterms:modified>
</cp:coreProperties>
</file>